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60" r:id="rId3"/>
  </p:sldMasterIdLst>
  <p:notesMasterIdLst>
    <p:notesMasterId r:id="rId5"/>
  </p:notesMasterIdLst>
  <p:sldIdLst>
    <p:sldId id="257" r:id="rId4"/>
    <p:sldId id="296" r:id="rId6"/>
    <p:sldId id="272" r:id="rId7"/>
    <p:sldId id="302" r:id="rId8"/>
    <p:sldId id="284" r:id="rId9"/>
    <p:sldId id="299" r:id="rId10"/>
    <p:sldId id="287" r:id="rId11"/>
    <p:sldId id="309" r:id="rId12"/>
    <p:sldId id="307" r:id="rId13"/>
    <p:sldId id="305" r:id="rId14"/>
    <p:sldId id="311" r:id="rId15"/>
    <p:sldId id="310" r:id="rId16"/>
    <p:sldId id="300" r:id="rId17"/>
    <p:sldId id="304" r:id="rId18"/>
    <p:sldId id="308" r:id="rId19"/>
    <p:sldId id="303" r:id="rId20"/>
    <p:sldId id="294" r:id="rId21"/>
  </p:sldIdLst>
  <p:sldSz cx="12192000" cy="6858000"/>
  <p:notesSz cx="12192000" cy="6858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2F19ED9A-94F4-4BA7-B6DF-F4DB02A1F1B8}">
          <p14:sldIdLst>
            <p14:sldId id="257"/>
            <p14:sldId id="296"/>
            <p14:sldId id="272"/>
            <p14:sldId id="302"/>
            <p14:sldId id="284"/>
            <p14:sldId id="299"/>
            <p14:sldId id="287"/>
            <p14:sldId id="309"/>
            <p14:sldId id="307"/>
            <p14:sldId id="305"/>
            <p14:sldId id="311"/>
            <p14:sldId id="310"/>
            <p14:sldId id="300"/>
            <p14:sldId id="304"/>
            <p14:sldId id="308"/>
            <p14:sldId id="303"/>
            <p14:sldId id="29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847" userDrawn="1">
          <p15:clr>
            <a:srgbClr val="A4A3A4"/>
          </p15:clr>
        </p15:guide>
        <p15:guide id="2" pos="217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Пользователь" initials="П" lastIdx="2" clrIdx="0"/>
  <p:cmAuthor id="2" name="Dilfuza Karshieva" initials="DK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14BC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38" autoAdjust="0"/>
    <p:restoredTop sz="90828" autoAdjust="0"/>
  </p:normalViewPr>
  <p:slideViewPr>
    <p:cSldViewPr showGuides="1">
      <p:cViewPr varScale="1">
        <p:scale>
          <a:sx n="85" d="100"/>
          <a:sy n="85" d="100"/>
        </p:scale>
        <p:origin x="600" y="62"/>
      </p:cViewPr>
      <p:guideLst>
        <p:guide orient="horz" pos="2847"/>
        <p:guide pos="2172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5" Type="http://schemas.openxmlformats.org/officeDocument/2006/relationships/commentAuthors" Target="commentAuthors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5B4FFD-61F7-4202-B365-ECF366089423}" type="datetimeFigureOut">
              <a:rPr lang="ru-RU" smtClean="0"/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8F06F7-D206-48F6-B1C4-440AAB7C6AE8}" type="slidenum">
              <a:rPr lang="ru-RU" smtClean="0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8F06F7-D206-48F6-B1C4-440AAB7C6AE8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8F06F7-D206-48F6-B1C4-440AAB7C6AE8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Здесь можем увидеть в каком количестве содержатся компоненты зубной пасты. И в большем количестве содержится абразивы вода и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влагоудерживающее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вещество.</a:t>
            </a:r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8F06F7-D206-48F6-B1C4-440AAB7C6AE8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8F06F7-D206-48F6-B1C4-440AAB7C6AE8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8F06F7-D206-48F6-B1C4-440AAB7C6AE8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8F06F7-D206-48F6-B1C4-440AAB7C6AE8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8F06F7-D206-48F6-B1C4-440AAB7C6AE8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8F06F7-D206-48F6-B1C4-440AAB7C6AE8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8F06F7-D206-48F6-B1C4-440AAB7C6AE8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8F06F7-D206-48F6-B1C4-440AAB7C6AE8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8F06F7-D206-48F6-B1C4-440AAB7C6AE8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8F06F7-D206-48F6-B1C4-440AAB7C6AE8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8F06F7-D206-48F6-B1C4-440AAB7C6AE8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8F06F7-D206-48F6-B1C4-440AAB7C6AE8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8F06F7-D206-48F6-B1C4-440AAB7C6AE8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A4FF8-A565-4FF8-A65C-A81F7B749826}" type="datetime1">
              <a:rPr lang="en-US" smtClean="0"/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145"/>
              </a:lnSpc>
            </a:pPr>
            <a:fld id="{81D60167-4931-47E6-BA6A-407CBD079E47}" type="slidenum">
              <a:rPr lang="ru-RU" smtClean="0"/>
            </a:fld>
            <a:endParaRPr lang="ru-RU" dirty="0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A4FF8-A565-4FF8-A65C-A81F7B749826}" type="datetime1">
              <a:rPr lang="en-US" smtClean="0"/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145"/>
              </a:lnSpc>
            </a:pPr>
            <a:fld id="{81D60167-4931-47E6-BA6A-407CBD079E47}" type="slidenum">
              <a:rPr lang="ru-RU" smtClean="0"/>
            </a:fld>
            <a:endParaRPr lang="ru-RU" dirty="0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A4FF8-A565-4FF8-A65C-A81F7B749826}" type="datetime1">
              <a:rPr lang="en-US" smtClean="0"/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145"/>
              </a:lnSpc>
            </a:pPr>
            <a:fld id="{81D60167-4931-47E6-BA6A-407CBD079E47}" type="slidenum">
              <a:rPr lang="ru-RU" smtClean="0"/>
            </a:fld>
            <a:endParaRPr lang="ru-RU" dirty="0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A4FF8-A565-4FF8-A65C-A81F7B749826}" type="datetime1">
              <a:rPr lang="en-US" smtClean="0"/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145"/>
              </a:lnSpc>
            </a:pPr>
            <a:fld id="{81D60167-4931-47E6-BA6A-407CBD079E47}" type="slidenum">
              <a:rPr lang="ru-RU" smtClean="0"/>
            </a:fld>
            <a:endParaRPr lang="ru-RU" dirty="0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A4FF8-A565-4FF8-A65C-A81F7B749826}" type="datetime1">
              <a:rPr lang="en-US" smtClean="0"/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145"/>
              </a:lnSpc>
            </a:pPr>
            <a:fld id="{81D60167-4931-47E6-BA6A-407CBD079E47}" type="slidenum">
              <a:rPr lang="ru-RU" smtClean="0"/>
            </a:fld>
            <a:endParaRPr lang="ru-RU" dirty="0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A4FF8-A565-4FF8-A65C-A81F7B749826}" type="datetime1">
              <a:rPr lang="en-US" smtClean="0"/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145"/>
              </a:lnSpc>
            </a:pPr>
            <a:fld id="{81D60167-4931-47E6-BA6A-407CBD079E47}" type="slidenum">
              <a:rPr lang="ru-RU" smtClean="0"/>
            </a:fld>
            <a:endParaRPr lang="ru-RU" dirty="0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7C5B5-A978-413E-869A-D2AF762449D2}" type="datetime1">
              <a:rPr lang="ru-RU" smtClean="0"/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755E7-C9BC-4974-B79B-6106A35FC055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A4FF8-A565-4FF8-A65C-A81F7B749826}" type="datetime1">
              <a:rPr lang="en-US" smtClean="0"/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145"/>
              </a:lnSpc>
            </a:pPr>
            <a:fld id="{81D60167-4931-47E6-BA6A-407CBD079E47}" type="slidenum">
              <a:rPr lang="ru-RU" smtClean="0"/>
            </a:fld>
            <a:endParaRPr lang="ru-RU" dirty="0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A4FF8-A565-4FF8-A65C-A81F7B749826}" type="datetime1">
              <a:rPr lang="en-US" smtClean="0"/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145"/>
              </a:lnSpc>
            </a:pPr>
            <a:fld id="{81D60167-4931-47E6-BA6A-407CBD079E47}" type="slidenum">
              <a:rPr lang="ru-RU" smtClean="0"/>
            </a:fld>
            <a:endParaRPr lang="ru-RU" dirty="0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A4FF8-A565-4FF8-A65C-A81F7B749826}" type="datetime1">
              <a:rPr lang="en-US" smtClean="0"/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145"/>
              </a:lnSpc>
            </a:pPr>
            <a:fld id="{81D60167-4931-47E6-BA6A-407CBD079E47}" type="slidenum">
              <a:rPr lang="ru-RU" smtClean="0"/>
            </a:fld>
            <a:endParaRPr lang="ru-RU" dirty="0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A4FF8-A565-4FF8-A65C-A81F7B749826}" type="datetime1">
              <a:rPr lang="en-US" smtClean="0"/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145"/>
              </a:lnSpc>
            </a:pPr>
            <a:fld id="{81D60167-4931-47E6-BA6A-407CBD079E47}" type="slidenum">
              <a:rPr lang="ru-RU" smtClean="0"/>
            </a:fld>
            <a:endParaRPr lang="ru-RU" dirty="0"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A4FF8-A565-4FF8-A65C-A81F7B749826}" type="datetime1">
              <a:rPr lang="en-US" smtClean="0"/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145"/>
              </a:lnSpc>
            </a:pPr>
            <a:fld id="{81D60167-4931-47E6-BA6A-407CBD079E47}" type="slidenum">
              <a:rPr lang="ru-RU" smtClean="0"/>
            </a:fld>
            <a:endParaRPr lang="ru-RU" dirty="0"/>
          </a:p>
        </p:txBody>
      </p:sp>
    </p:spTree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A4FF8-A565-4FF8-A65C-A81F7B749826}" type="datetime1">
              <a:rPr lang="en-US" smtClean="0"/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145"/>
              </a:lnSpc>
            </a:pPr>
            <a:fld id="{81D60167-4931-47E6-BA6A-407CBD079E47}" type="slidenum">
              <a:rPr lang="ru-RU" smtClean="0"/>
            </a:fld>
            <a:endParaRPr lang="ru-RU" dirty="0"/>
          </a:p>
        </p:txBody>
      </p:sp>
    </p:spTree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A4FF8-A565-4FF8-A65C-A81F7B749826}" type="datetime1">
              <a:rPr lang="en-US" smtClean="0"/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145"/>
              </a:lnSpc>
            </a:pPr>
            <a:fld id="{81D60167-4931-47E6-BA6A-407CBD079E47}" type="slidenum">
              <a:rPr lang="ru-RU" smtClean="0"/>
            </a:fld>
            <a:endParaRPr lang="ru-RU" dirty="0"/>
          </a:p>
        </p:txBody>
      </p:sp>
    </p:spTree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A4FF8-A565-4FF8-A65C-A81F7B749826}" type="datetime1">
              <a:rPr lang="en-US" smtClean="0"/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145"/>
              </a:lnSpc>
            </a:pPr>
            <a:fld id="{81D60167-4931-47E6-BA6A-407CBD079E47}" type="slidenum">
              <a:rPr lang="ru-RU" smtClean="0"/>
            </a:fld>
            <a:endParaRPr lang="ru-RU" dirty="0"/>
          </a:p>
        </p:txBody>
      </p:sp>
    </p:spTree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A4FF8-A565-4FF8-A65C-A81F7B749826}" type="datetime1">
              <a:rPr lang="en-US" smtClean="0"/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145"/>
              </a:lnSpc>
            </a:pPr>
            <a:fld id="{81D60167-4931-47E6-BA6A-407CBD079E47}" type="slidenum">
              <a:rPr lang="ru-RU" smtClean="0"/>
            </a:fld>
            <a:endParaRPr lang="ru-RU" dirty="0"/>
          </a:p>
        </p:txBody>
      </p:sp>
    </p:spTree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A4FF8-A565-4FF8-A65C-A81F7B749826}" type="datetime1">
              <a:rPr lang="en-US" smtClean="0"/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145"/>
              </a:lnSpc>
            </a:pPr>
            <a:fld id="{81D60167-4931-47E6-BA6A-407CBD079E47}" type="slidenum">
              <a:rPr lang="ru-RU" smtClean="0"/>
            </a:fld>
            <a:endParaRPr lang="ru-RU" dirty="0"/>
          </a:p>
        </p:txBody>
      </p:sp>
    </p:spTree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7C5B5-A978-413E-869A-D2AF762449D2}" type="datetime1">
              <a:rPr lang="ru-RU" smtClean="0"/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755E7-C9BC-4974-B79B-6106A35FC055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A4FF8-A565-4FF8-A65C-A81F7B749826}" type="datetime1">
              <a:rPr lang="en-US" smtClean="0"/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145"/>
              </a:lnSpc>
            </a:pPr>
            <a:fld id="{81D60167-4931-47E6-BA6A-407CBD079E47}" type="slidenum">
              <a:rPr lang="ru-RU" smtClean="0"/>
            </a:fld>
            <a:endParaRPr lang="ru-RU" dirty="0"/>
          </a:p>
        </p:txBody>
      </p:sp>
    </p:spTree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A4FF8-A565-4FF8-A65C-A81F7B749826}" type="datetime1">
              <a:rPr lang="en-US" smtClean="0"/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145"/>
              </a:lnSpc>
            </a:pPr>
            <a:fld id="{81D60167-4931-47E6-BA6A-407CBD079E47}" type="slidenum">
              <a:rPr lang="ru-RU" smtClean="0"/>
            </a:fld>
            <a:endParaRPr lang="ru-RU" dirty="0"/>
          </a:p>
        </p:txBody>
      </p:sp>
    </p:spTree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A4FF8-A565-4FF8-A65C-A81F7B749826}" type="datetime1">
              <a:rPr lang="en-US" smtClean="0"/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145"/>
              </a:lnSpc>
            </a:pPr>
            <a:fld id="{81D60167-4931-47E6-BA6A-407CBD079E47}" type="slidenum">
              <a:rPr lang="ru-RU" smtClean="0"/>
            </a:fld>
            <a:endParaRPr lang="ru-RU" dirty="0"/>
          </a:p>
        </p:txBody>
      </p:sp>
    </p:spTree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A4FF8-A565-4FF8-A65C-A81F7B749826}" type="datetime1">
              <a:rPr lang="en-US" smtClean="0"/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145"/>
              </a:lnSpc>
            </a:pPr>
            <a:fld id="{81D60167-4931-47E6-BA6A-407CBD079E47}" type="slidenum">
              <a:rPr lang="ru-RU" smtClean="0"/>
            </a:fld>
            <a:endParaRPr lang="ru-RU" dirty="0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CA4FF8-A565-4FF8-A65C-A81F7B749826}" type="datetime1">
              <a:rPr lang="en-US" smtClean="0"/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38100">
              <a:lnSpc>
                <a:spcPts val="2145"/>
              </a:lnSpc>
            </a:pPr>
            <a:fld id="{81D60167-4931-47E6-BA6A-407CBD079E47}" type="slidenum">
              <a:rPr lang="ru-RU" smtClean="0"/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CA4FF8-A565-4FF8-A65C-A81F7B749826}" type="datetime1">
              <a:rPr lang="en-US" smtClean="0"/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38100">
              <a:lnSpc>
                <a:spcPts val="2145"/>
              </a:lnSpc>
            </a:pPr>
            <a:fld id="{81D60167-4931-47E6-BA6A-407CBD079E47}" type="slidenum">
              <a:rPr lang="ru-RU" smtClean="0"/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0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1.xml"/><Relationship Id="rId6" Type="http://schemas.openxmlformats.org/officeDocument/2006/relationships/slideLayout" Target="../slideLayouts/slideLayout13.xml"/><Relationship Id="rId5" Type="http://schemas.openxmlformats.org/officeDocument/2006/relationships/image" Target="../media/image11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5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10913388" y="236043"/>
            <a:ext cx="668655" cy="1195070"/>
            <a:chOff x="10913388" y="236043"/>
            <a:chExt cx="668655" cy="1195070"/>
          </a:xfrm>
        </p:grpSpPr>
        <p:sp>
          <p:nvSpPr>
            <p:cNvPr id="5" name="object 5"/>
            <p:cNvSpPr/>
            <p:nvPr/>
          </p:nvSpPr>
          <p:spPr>
            <a:xfrm>
              <a:off x="10913388" y="601685"/>
              <a:ext cx="668655" cy="829310"/>
            </a:xfrm>
            <a:custGeom>
              <a:avLst/>
              <a:gdLst/>
              <a:ahLst/>
              <a:cxnLst/>
              <a:rect l="l" t="t" r="r" b="b"/>
              <a:pathLst>
                <a:path w="668654" h="829310">
                  <a:moveTo>
                    <a:pt x="126245" y="651742"/>
                  </a:moveTo>
                  <a:lnTo>
                    <a:pt x="61660" y="651742"/>
                  </a:lnTo>
                  <a:lnTo>
                    <a:pt x="293695" y="785010"/>
                  </a:lnTo>
                  <a:lnTo>
                    <a:pt x="293695" y="788261"/>
                  </a:lnTo>
                  <a:lnTo>
                    <a:pt x="296840" y="803522"/>
                  </a:lnTo>
                  <a:lnTo>
                    <a:pt x="305461" y="816499"/>
                  </a:lnTo>
                  <a:lnTo>
                    <a:pt x="318342" y="825514"/>
                  </a:lnTo>
                  <a:lnTo>
                    <a:pt x="334264" y="828892"/>
                  </a:lnTo>
                  <a:lnTo>
                    <a:pt x="350186" y="825514"/>
                  </a:lnTo>
                  <a:lnTo>
                    <a:pt x="363065" y="816499"/>
                  </a:lnTo>
                  <a:lnTo>
                    <a:pt x="371685" y="803522"/>
                  </a:lnTo>
                  <a:lnTo>
                    <a:pt x="374828" y="788261"/>
                  </a:lnTo>
                  <a:lnTo>
                    <a:pt x="374828" y="785010"/>
                  </a:lnTo>
                  <a:lnTo>
                    <a:pt x="425403" y="755758"/>
                  </a:lnTo>
                  <a:lnTo>
                    <a:pt x="306680" y="755758"/>
                  </a:lnTo>
                  <a:lnTo>
                    <a:pt x="126245" y="651742"/>
                  </a:lnTo>
                  <a:close/>
                </a:path>
                <a:path w="668654" h="829310">
                  <a:moveTo>
                    <a:pt x="334061" y="747226"/>
                  </a:moveTo>
                  <a:lnTo>
                    <a:pt x="319838" y="749359"/>
                  </a:lnTo>
                  <a:lnTo>
                    <a:pt x="306680" y="755758"/>
                  </a:lnTo>
                  <a:lnTo>
                    <a:pt x="360223" y="755758"/>
                  </a:lnTo>
                  <a:lnTo>
                    <a:pt x="347979" y="749359"/>
                  </a:lnTo>
                  <a:lnTo>
                    <a:pt x="334061" y="747226"/>
                  </a:lnTo>
                  <a:close/>
                </a:path>
                <a:path w="668654" h="829310">
                  <a:moveTo>
                    <a:pt x="481925" y="0"/>
                  </a:moveTo>
                  <a:lnTo>
                    <a:pt x="466002" y="3149"/>
                  </a:lnTo>
                  <a:lnTo>
                    <a:pt x="453122" y="11786"/>
                  </a:lnTo>
                  <a:lnTo>
                    <a:pt x="444500" y="24690"/>
                  </a:lnTo>
                  <a:lnTo>
                    <a:pt x="441355" y="40645"/>
                  </a:lnTo>
                  <a:lnTo>
                    <a:pt x="443105" y="52421"/>
                  </a:lnTo>
                  <a:lnTo>
                    <a:pt x="448050" y="62990"/>
                  </a:lnTo>
                  <a:lnTo>
                    <a:pt x="455733" y="71738"/>
                  </a:lnTo>
                  <a:lnTo>
                    <a:pt x="465698" y="78054"/>
                  </a:lnTo>
                  <a:lnTo>
                    <a:pt x="465698" y="206407"/>
                  </a:lnTo>
                  <a:lnTo>
                    <a:pt x="587384" y="271461"/>
                  </a:lnTo>
                  <a:lnTo>
                    <a:pt x="587384" y="274697"/>
                  </a:lnTo>
                  <a:lnTo>
                    <a:pt x="585796" y="276288"/>
                  </a:lnTo>
                  <a:lnTo>
                    <a:pt x="585796" y="277933"/>
                  </a:lnTo>
                  <a:lnTo>
                    <a:pt x="587846" y="290887"/>
                  </a:lnTo>
                  <a:lnTo>
                    <a:pt x="593695" y="302316"/>
                  </a:lnTo>
                  <a:lnTo>
                    <a:pt x="602892" y="311306"/>
                  </a:lnTo>
                  <a:lnTo>
                    <a:pt x="614985" y="316944"/>
                  </a:lnTo>
                  <a:lnTo>
                    <a:pt x="614985" y="578603"/>
                  </a:lnTo>
                  <a:lnTo>
                    <a:pt x="602892" y="584928"/>
                  </a:lnTo>
                  <a:lnTo>
                    <a:pt x="593695" y="593842"/>
                  </a:lnTo>
                  <a:lnTo>
                    <a:pt x="587846" y="604889"/>
                  </a:lnTo>
                  <a:lnTo>
                    <a:pt x="585796" y="617614"/>
                  </a:lnTo>
                  <a:lnTo>
                    <a:pt x="585796" y="620861"/>
                  </a:lnTo>
                  <a:lnTo>
                    <a:pt x="587384" y="622484"/>
                  </a:lnTo>
                  <a:lnTo>
                    <a:pt x="587384" y="625737"/>
                  </a:lnTo>
                  <a:lnTo>
                    <a:pt x="360223" y="755758"/>
                  </a:lnTo>
                  <a:lnTo>
                    <a:pt x="425403" y="755758"/>
                  </a:lnTo>
                  <a:lnTo>
                    <a:pt x="605237" y="651742"/>
                  </a:lnTo>
                  <a:lnTo>
                    <a:pt x="648894" y="651742"/>
                  </a:lnTo>
                  <a:lnTo>
                    <a:pt x="656777" y="646460"/>
                  </a:lnTo>
                  <a:lnTo>
                    <a:pt x="665399" y="633561"/>
                  </a:lnTo>
                  <a:lnTo>
                    <a:pt x="668544" y="617614"/>
                  </a:lnTo>
                  <a:lnTo>
                    <a:pt x="667074" y="606997"/>
                  </a:lnTo>
                  <a:lnTo>
                    <a:pt x="662862" y="597295"/>
                  </a:lnTo>
                  <a:lnTo>
                    <a:pt x="656207" y="588813"/>
                  </a:lnTo>
                  <a:lnTo>
                    <a:pt x="647405" y="581856"/>
                  </a:lnTo>
                  <a:lnTo>
                    <a:pt x="647405" y="313691"/>
                  </a:lnTo>
                  <a:lnTo>
                    <a:pt x="656207" y="307648"/>
                  </a:lnTo>
                  <a:lnTo>
                    <a:pt x="662862" y="299471"/>
                  </a:lnTo>
                  <a:lnTo>
                    <a:pt x="667074" y="289465"/>
                  </a:lnTo>
                  <a:lnTo>
                    <a:pt x="668544" y="277933"/>
                  </a:lnTo>
                  <a:lnTo>
                    <a:pt x="665399" y="261979"/>
                  </a:lnTo>
                  <a:lnTo>
                    <a:pt x="656777" y="249074"/>
                  </a:lnTo>
                  <a:lnTo>
                    <a:pt x="648931" y="243815"/>
                  </a:lnTo>
                  <a:lnTo>
                    <a:pt x="605237" y="243815"/>
                  </a:lnTo>
                  <a:lnTo>
                    <a:pt x="498151" y="186934"/>
                  </a:lnTo>
                  <a:lnTo>
                    <a:pt x="498151" y="78054"/>
                  </a:lnTo>
                  <a:lnTo>
                    <a:pt x="508113" y="71738"/>
                  </a:lnTo>
                  <a:lnTo>
                    <a:pt x="515795" y="62990"/>
                  </a:lnTo>
                  <a:lnTo>
                    <a:pt x="520739" y="52421"/>
                  </a:lnTo>
                  <a:lnTo>
                    <a:pt x="522488" y="40645"/>
                  </a:lnTo>
                  <a:lnTo>
                    <a:pt x="519345" y="24690"/>
                  </a:lnTo>
                  <a:lnTo>
                    <a:pt x="510725" y="11786"/>
                  </a:lnTo>
                  <a:lnTo>
                    <a:pt x="497846" y="3149"/>
                  </a:lnTo>
                  <a:lnTo>
                    <a:pt x="481925" y="0"/>
                  </a:lnTo>
                  <a:close/>
                </a:path>
                <a:path w="668654" h="829310">
                  <a:moveTo>
                    <a:pt x="48679" y="237288"/>
                  </a:moveTo>
                  <a:lnTo>
                    <a:pt x="40566" y="237288"/>
                  </a:lnTo>
                  <a:lnTo>
                    <a:pt x="24644" y="240438"/>
                  </a:lnTo>
                  <a:lnTo>
                    <a:pt x="11764" y="249074"/>
                  </a:lnTo>
                  <a:lnTo>
                    <a:pt x="3143" y="261979"/>
                  </a:lnTo>
                  <a:lnTo>
                    <a:pt x="0" y="277933"/>
                  </a:lnTo>
                  <a:lnTo>
                    <a:pt x="1470" y="289491"/>
                  </a:lnTo>
                  <a:lnTo>
                    <a:pt x="5679" y="299674"/>
                  </a:lnTo>
                  <a:lnTo>
                    <a:pt x="12322" y="308333"/>
                  </a:lnTo>
                  <a:lnTo>
                    <a:pt x="21095" y="315315"/>
                  </a:lnTo>
                  <a:lnTo>
                    <a:pt x="21095" y="581856"/>
                  </a:lnTo>
                  <a:lnTo>
                    <a:pt x="12322" y="588128"/>
                  </a:lnTo>
                  <a:lnTo>
                    <a:pt x="5679" y="596686"/>
                  </a:lnTo>
                  <a:lnTo>
                    <a:pt x="1470" y="606769"/>
                  </a:lnTo>
                  <a:lnTo>
                    <a:pt x="0" y="617614"/>
                  </a:lnTo>
                  <a:lnTo>
                    <a:pt x="3143" y="633561"/>
                  </a:lnTo>
                  <a:lnTo>
                    <a:pt x="11764" y="646460"/>
                  </a:lnTo>
                  <a:lnTo>
                    <a:pt x="24644" y="655094"/>
                  </a:lnTo>
                  <a:lnTo>
                    <a:pt x="40566" y="658242"/>
                  </a:lnTo>
                  <a:lnTo>
                    <a:pt x="48679" y="658242"/>
                  </a:lnTo>
                  <a:lnTo>
                    <a:pt x="55171" y="656619"/>
                  </a:lnTo>
                  <a:lnTo>
                    <a:pt x="61660" y="651742"/>
                  </a:lnTo>
                  <a:lnTo>
                    <a:pt x="126245" y="651742"/>
                  </a:lnTo>
                  <a:lnTo>
                    <a:pt x="81134" y="625737"/>
                  </a:lnTo>
                  <a:lnTo>
                    <a:pt x="81134" y="617614"/>
                  </a:lnTo>
                  <a:lnTo>
                    <a:pt x="79106" y="604889"/>
                  </a:lnTo>
                  <a:lnTo>
                    <a:pt x="73426" y="593842"/>
                  </a:lnTo>
                  <a:lnTo>
                    <a:pt x="64703" y="584928"/>
                  </a:lnTo>
                  <a:lnTo>
                    <a:pt x="53544" y="578603"/>
                  </a:lnTo>
                  <a:lnTo>
                    <a:pt x="53544" y="316944"/>
                  </a:lnTo>
                  <a:lnTo>
                    <a:pt x="64703" y="310621"/>
                  </a:lnTo>
                  <a:lnTo>
                    <a:pt x="73426" y="301707"/>
                  </a:lnTo>
                  <a:lnTo>
                    <a:pt x="79106" y="290658"/>
                  </a:lnTo>
                  <a:lnTo>
                    <a:pt x="81134" y="277933"/>
                  </a:lnTo>
                  <a:lnTo>
                    <a:pt x="81134" y="276288"/>
                  </a:lnTo>
                  <a:lnTo>
                    <a:pt x="79508" y="274697"/>
                  </a:lnTo>
                  <a:lnTo>
                    <a:pt x="79508" y="271461"/>
                  </a:lnTo>
                  <a:lnTo>
                    <a:pt x="130664" y="243815"/>
                  </a:lnTo>
                  <a:lnTo>
                    <a:pt x="61660" y="243815"/>
                  </a:lnTo>
                  <a:lnTo>
                    <a:pt x="48679" y="237288"/>
                  </a:lnTo>
                  <a:close/>
                </a:path>
                <a:path w="668654" h="829310">
                  <a:moveTo>
                    <a:pt x="648894" y="651742"/>
                  </a:moveTo>
                  <a:lnTo>
                    <a:pt x="605237" y="651742"/>
                  </a:lnTo>
                  <a:lnTo>
                    <a:pt x="611754" y="656619"/>
                  </a:lnTo>
                  <a:lnTo>
                    <a:pt x="619859" y="658242"/>
                  </a:lnTo>
                  <a:lnTo>
                    <a:pt x="627964" y="658242"/>
                  </a:lnTo>
                  <a:lnTo>
                    <a:pt x="643893" y="655094"/>
                  </a:lnTo>
                  <a:lnTo>
                    <a:pt x="648894" y="651742"/>
                  </a:lnTo>
                  <a:close/>
                </a:path>
                <a:path w="668654" h="829310">
                  <a:moveTo>
                    <a:pt x="186604" y="0"/>
                  </a:moveTo>
                  <a:lnTo>
                    <a:pt x="170682" y="3149"/>
                  </a:lnTo>
                  <a:lnTo>
                    <a:pt x="157801" y="11786"/>
                  </a:lnTo>
                  <a:lnTo>
                    <a:pt x="149179" y="24690"/>
                  </a:lnTo>
                  <a:lnTo>
                    <a:pt x="146035" y="40645"/>
                  </a:lnTo>
                  <a:lnTo>
                    <a:pt x="147785" y="52421"/>
                  </a:lnTo>
                  <a:lnTo>
                    <a:pt x="152729" y="62990"/>
                  </a:lnTo>
                  <a:lnTo>
                    <a:pt x="160412" y="71738"/>
                  </a:lnTo>
                  <a:lnTo>
                    <a:pt x="170378" y="78054"/>
                  </a:lnTo>
                  <a:lnTo>
                    <a:pt x="170378" y="185289"/>
                  </a:lnTo>
                  <a:lnTo>
                    <a:pt x="61660" y="243815"/>
                  </a:lnTo>
                  <a:lnTo>
                    <a:pt x="130664" y="243815"/>
                  </a:lnTo>
                  <a:lnTo>
                    <a:pt x="202831" y="204816"/>
                  </a:lnTo>
                  <a:lnTo>
                    <a:pt x="202831" y="78054"/>
                  </a:lnTo>
                  <a:lnTo>
                    <a:pt x="212795" y="71738"/>
                  </a:lnTo>
                  <a:lnTo>
                    <a:pt x="220476" y="62990"/>
                  </a:lnTo>
                  <a:lnTo>
                    <a:pt x="225419" y="52421"/>
                  </a:lnTo>
                  <a:lnTo>
                    <a:pt x="227168" y="40645"/>
                  </a:lnTo>
                  <a:lnTo>
                    <a:pt x="224024" y="24690"/>
                  </a:lnTo>
                  <a:lnTo>
                    <a:pt x="215405" y="11786"/>
                  </a:lnTo>
                  <a:lnTo>
                    <a:pt x="202526" y="3149"/>
                  </a:lnTo>
                  <a:lnTo>
                    <a:pt x="186604" y="0"/>
                  </a:lnTo>
                  <a:close/>
                </a:path>
                <a:path w="668654" h="829310">
                  <a:moveTo>
                    <a:pt x="627964" y="237288"/>
                  </a:moveTo>
                  <a:lnTo>
                    <a:pt x="619859" y="237288"/>
                  </a:lnTo>
                  <a:lnTo>
                    <a:pt x="611754" y="240579"/>
                  </a:lnTo>
                  <a:lnTo>
                    <a:pt x="605237" y="243815"/>
                  </a:lnTo>
                  <a:lnTo>
                    <a:pt x="648931" y="243815"/>
                  </a:lnTo>
                  <a:lnTo>
                    <a:pt x="643893" y="240438"/>
                  </a:lnTo>
                  <a:lnTo>
                    <a:pt x="627964" y="237288"/>
                  </a:lnTo>
                  <a:close/>
                </a:path>
              </a:pathLst>
            </a:custGeom>
            <a:solidFill>
              <a:srgbClr val="1D70B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1164899" y="466804"/>
              <a:ext cx="115207" cy="11540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95725" y="236043"/>
              <a:ext cx="79511" cy="7964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293085" y="336806"/>
              <a:ext cx="95738" cy="9588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150293" y="954381"/>
              <a:ext cx="193092" cy="20315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1054555" y="855264"/>
              <a:ext cx="386080" cy="388620"/>
            </a:xfrm>
            <a:custGeom>
              <a:avLst/>
              <a:gdLst/>
              <a:ahLst/>
              <a:cxnLst/>
              <a:rect l="l" t="t" r="r" b="b"/>
              <a:pathLst>
                <a:path w="386079" h="388619">
                  <a:moveTo>
                    <a:pt x="193097" y="0"/>
                  </a:moveTo>
                  <a:lnTo>
                    <a:pt x="148680" y="5173"/>
                  </a:lnTo>
                  <a:lnTo>
                    <a:pt x="107980" y="19896"/>
                  </a:lnTo>
                  <a:lnTo>
                    <a:pt x="72135" y="42977"/>
                  </a:lnTo>
                  <a:lnTo>
                    <a:pt x="42279" y="73222"/>
                  </a:lnTo>
                  <a:lnTo>
                    <a:pt x="19547" y="109438"/>
                  </a:lnTo>
                  <a:lnTo>
                    <a:pt x="5076" y="150431"/>
                  </a:lnTo>
                  <a:lnTo>
                    <a:pt x="0" y="195008"/>
                  </a:lnTo>
                  <a:lnTo>
                    <a:pt x="5076" y="238984"/>
                  </a:lnTo>
                  <a:lnTo>
                    <a:pt x="19547" y="279548"/>
                  </a:lnTo>
                  <a:lnTo>
                    <a:pt x="42279" y="315478"/>
                  </a:lnTo>
                  <a:lnTo>
                    <a:pt x="72135" y="345552"/>
                  </a:lnTo>
                  <a:lnTo>
                    <a:pt x="107980" y="368547"/>
                  </a:lnTo>
                  <a:lnTo>
                    <a:pt x="148680" y="383241"/>
                  </a:lnTo>
                  <a:lnTo>
                    <a:pt x="193097" y="388410"/>
                  </a:lnTo>
                  <a:lnTo>
                    <a:pt x="224080" y="385059"/>
                  </a:lnTo>
                  <a:lnTo>
                    <a:pt x="253541" y="377440"/>
                  </a:lnTo>
                  <a:lnTo>
                    <a:pt x="281175" y="365555"/>
                  </a:lnTo>
                  <a:lnTo>
                    <a:pt x="296414" y="355905"/>
                  </a:lnTo>
                  <a:lnTo>
                    <a:pt x="193097" y="355905"/>
                  </a:lnTo>
                  <a:lnTo>
                    <a:pt x="150090" y="350081"/>
                  </a:lnTo>
                  <a:lnTo>
                    <a:pt x="111365" y="333694"/>
                  </a:lnTo>
                  <a:lnTo>
                    <a:pt x="78498" y="308368"/>
                  </a:lnTo>
                  <a:lnTo>
                    <a:pt x="53069" y="275728"/>
                  </a:lnTo>
                  <a:lnTo>
                    <a:pt x="36654" y="237400"/>
                  </a:lnTo>
                  <a:lnTo>
                    <a:pt x="30832" y="195008"/>
                  </a:lnTo>
                  <a:lnTo>
                    <a:pt x="36654" y="151930"/>
                  </a:lnTo>
                  <a:lnTo>
                    <a:pt x="53069" y="113140"/>
                  </a:lnTo>
                  <a:lnTo>
                    <a:pt x="78498" y="80218"/>
                  </a:lnTo>
                  <a:lnTo>
                    <a:pt x="111365" y="54746"/>
                  </a:lnTo>
                  <a:lnTo>
                    <a:pt x="150090" y="38304"/>
                  </a:lnTo>
                  <a:lnTo>
                    <a:pt x="193097" y="32472"/>
                  </a:lnTo>
                  <a:lnTo>
                    <a:pt x="326658" y="32472"/>
                  </a:lnTo>
                  <a:lnTo>
                    <a:pt x="324531" y="30881"/>
                  </a:lnTo>
                  <a:lnTo>
                    <a:pt x="295325" y="30881"/>
                  </a:lnTo>
                  <a:lnTo>
                    <a:pt x="271365" y="17818"/>
                  </a:lnTo>
                  <a:lnTo>
                    <a:pt x="246035" y="8118"/>
                  </a:lnTo>
                  <a:lnTo>
                    <a:pt x="219794" y="2079"/>
                  </a:lnTo>
                  <a:lnTo>
                    <a:pt x="193097" y="0"/>
                  </a:lnTo>
                  <a:close/>
                </a:path>
                <a:path w="386079" h="388619">
                  <a:moveTo>
                    <a:pt x="376453" y="162503"/>
                  </a:moveTo>
                  <a:lnTo>
                    <a:pt x="363474" y="162503"/>
                  </a:lnTo>
                  <a:lnTo>
                    <a:pt x="353737" y="172256"/>
                  </a:lnTo>
                  <a:lnTo>
                    <a:pt x="353737" y="180379"/>
                  </a:lnTo>
                  <a:lnTo>
                    <a:pt x="354356" y="190562"/>
                  </a:lnTo>
                  <a:lnTo>
                    <a:pt x="354305" y="202930"/>
                  </a:lnTo>
                  <a:lnTo>
                    <a:pt x="340756" y="257985"/>
                  </a:lnTo>
                  <a:lnTo>
                    <a:pt x="318042" y="295771"/>
                  </a:lnTo>
                  <a:lnTo>
                    <a:pt x="270907" y="335338"/>
                  </a:lnTo>
                  <a:lnTo>
                    <a:pt x="220657" y="353518"/>
                  </a:lnTo>
                  <a:lnTo>
                    <a:pt x="193097" y="355905"/>
                  </a:lnTo>
                  <a:lnTo>
                    <a:pt x="296414" y="355905"/>
                  </a:lnTo>
                  <a:lnTo>
                    <a:pt x="334268" y="325023"/>
                  </a:lnTo>
                  <a:lnTo>
                    <a:pt x="367937" y="275658"/>
                  </a:lnTo>
                  <a:lnTo>
                    <a:pt x="384569" y="217761"/>
                  </a:lnTo>
                  <a:lnTo>
                    <a:pt x="385937" y="190562"/>
                  </a:lnTo>
                  <a:lnTo>
                    <a:pt x="384569" y="177127"/>
                  </a:lnTo>
                  <a:lnTo>
                    <a:pt x="384569" y="172256"/>
                  </a:lnTo>
                  <a:lnTo>
                    <a:pt x="382948" y="169003"/>
                  </a:lnTo>
                  <a:lnTo>
                    <a:pt x="376453" y="162503"/>
                  </a:lnTo>
                  <a:close/>
                </a:path>
                <a:path w="386079" h="388619">
                  <a:moveTo>
                    <a:pt x="326658" y="32472"/>
                  </a:moveTo>
                  <a:lnTo>
                    <a:pt x="193097" y="32472"/>
                  </a:lnTo>
                  <a:lnTo>
                    <a:pt x="214952" y="33998"/>
                  </a:lnTo>
                  <a:lnTo>
                    <a:pt x="236503" y="38573"/>
                  </a:lnTo>
                  <a:lnTo>
                    <a:pt x="257445" y="46196"/>
                  </a:lnTo>
                  <a:lnTo>
                    <a:pt x="277472" y="56864"/>
                  </a:lnTo>
                  <a:lnTo>
                    <a:pt x="277472" y="58488"/>
                  </a:lnTo>
                  <a:lnTo>
                    <a:pt x="279780" y="71108"/>
                  </a:lnTo>
                  <a:lnTo>
                    <a:pt x="286196" y="81444"/>
                  </a:lnTo>
                  <a:lnTo>
                    <a:pt x="295958" y="88428"/>
                  </a:lnTo>
                  <a:lnTo>
                    <a:pt x="308305" y="90993"/>
                  </a:lnTo>
                  <a:lnTo>
                    <a:pt x="320905" y="88428"/>
                  </a:lnTo>
                  <a:lnTo>
                    <a:pt x="331224" y="81444"/>
                  </a:lnTo>
                  <a:lnTo>
                    <a:pt x="338197" y="71108"/>
                  </a:lnTo>
                  <a:lnTo>
                    <a:pt x="340758" y="58488"/>
                  </a:lnTo>
                  <a:lnTo>
                    <a:pt x="340758" y="50359"/>
                  </a:lnTo>
                  <a:lnTo>
                    <a:pt x="337510" y="42235"/>
                  </a:lnTo>
                  <a:lnTo>
                    <a:pt x="331021" y="35735"/>
                  </a:lnTo>
                  <a:lnTo>
                    <a:pt x="326658" y="32472"/>
                  </a:lnTo>
                  <a:close/>
                </a:path>
                <a:path w="386079" h="388619">
                  <a:moveTo>
                    <a:pt x="316415" y="27590"/>
                  </a:moveTo>
                  <a:lnTo>
                    <a:pt x="298567" y="27590"/>
                  </a:lnTo>
                  <a:lnTo>
                    <a:pt x="295325" y="30881"/>
                  </a:lnTo>
                  <a:lnTo>
                    <a:pt x="324531" y="30881"/>
                  </a:lnTo>
                  <a:lnTo>
                    <a:pt x="316415" y="27590"/>
                  </a:lnTo>
                  <a:close/>
                </a:path>
              </a:pathLst>
            </a:custGeom>
            <a:solidFill>
              <a:srgbClr val="1D70B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2141193" y="1814769"/>
            <a:ext cx="5633187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18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4" name="Заголовок 13"/>
          <p:cNvSpPr>
            <a:spLocks noGrp="1"/>
          </p:cNvSpPr>
          <p:nvPr>
            <p:ph type="title"/>
          </p:nvPr>
        </p:nvSpPr>
        <p:spPr>
          <a:xfrm>
            <a:off x="309522" y="357166"/>
            <a:ext cx="11343385" cy="1046440"/>
          </a:xfrm>
        </p:spPr>
        <p:txBody>
          <a:bodyPr>
            <a:normAutofit/>
          </a:bodyPr>
          <a:lstStyle/>
          <a:p>
            <a:pPr algn="ctr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Филиал ФГБОУ ВО «Российский химико-технологический университет</a:t>
            </a:r>
            <a:b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имени Д. И. Менделеева» в г. Ташкенте (Республика Узбекистан)</a:t>
            </a:r>
            <a:b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Кафедра технологии органических веществ</a:t>
            </a:r>
            <a:br>
              <a:rPr lang="ru-RU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ru-RU" sz="1400" dirty="0"/>
          </a:p>
        </p:txBody>
      </p:sp>
      <p:sp>
        <p:nvSpPr>
          <p:cNvPr id="16" name="TextBox 15"/>
          <p:cNvSpPr txBox="1"/>
          <p:nvPr/>
        </p:nvSpPr>
        <p:spPr>
          <a:xfrm>
            <a:off x="1343660" y="1746250"/>
            <a:ext cx="9688830" cy="174451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ru-RU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ВЫПУСКНАЯ КВАЛИФИКАЦИОННАЯ РАБОТА БАКАЛАВРА</a:t>
            </a:r>
            <a:endParaRPr kumimoji="0" lang="ru-RU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ru-RU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на тему</a:t>
            </a:r>
            <a:r>
              <a:rPr kumimoji="0" lang="ru-RU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kumimoji="0" lang="ru-RU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Bef>
                <a:spcPct val="20000"/>
              </a:spcBef>
              <a:spcAft>
                <a:spcPts val="800"/>
              </a:spcAft>
              <a:defRPr/>
            </a:pPr>
            <a:r>
              <a:rPr kumimoji="0" lang="ru-RU" sz="2400" b="1" u="none" strike="noStrike" kern="1200" cap="none" spc="0" normalizeH="0" baseline="0" noProof="0" dirty="0"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kumimoji="0" lang="en-US" altLang="en-US" sz="2400" b="1" u="none" strike="noStrike" kern="1200" cap="none" spc="0" normalizeH="0" baseline="0" noProof="0" dirty="0"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Синтез</a:t>
            </a:r>
            <a:r>
              <a:rPr kumimoji="0" lang="en-US" altLang="ru-RU" sz="2400" b="1" u="none" strike="noStrike" kern="1200" cap="none" spc="0" normalizeH="0" baseline="0" noProof="0" dirty="0"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1" u="none" strike="noStrike" kern="1200" cap="none" spc="0" normalizeH="0" baseline="0" noProof="0" dirty="0"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олигонуклеотидов</a:t>
            </a:r>
            <a:r>
              <a:rPr kumimoji="0" lang="en-US" altLang="ru-RU" sz="2400" b="1" u="none" strike="noStrike" kern="1200" cap="none" spc="0" normalizeH="0" baseline="0" noProof="0" dirty="0"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1" u="none" strike="noStrike" kern="1200" cap="none" spc="0" normalizeH="0" baseline="0" noProof="0" dirty="0"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для</a:t>
            </a:r>
            <a:r>
              <a:rPr kumimoji="0" lang="en-US" altLang="ru-RU" sz="2400" b="1" u="none" strike="noStrike" kern="1200" cap="none" spc="0" normalizeH="0" baseline="0" noProof="0" dirty="0"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1" u="none" strike="noStrike" kern="1200" cap="none" spc="0" normalizeH="0" baseline="0" noProof="0" dirty="0"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изучения</a:t>
            </a:r>
            <a:r>
              <a:rPr kumimoji="0" lang="en-US" altLang="ru-RU" sz="2400" b="1" u="none" strike="noStrike" kern="1200" cap="none" spc="0" normalizeH="0" baseline="0" noProof="0" dirty="0"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1" u="none" strike="noStrike" kern="1200" cap="none" spc="0" normalizeH="0" baseline="0" noProof="0" dirty="0"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экспрессии</a:t>
            </a:r>
            <a:r>
              <a:rPr kumimoji="0" lang="en-US" altLang="ru-RU" sz="2400" b="1" u="none" strike="noStrike" kern="1200" cap="none" spc="0" normalizeH="0" baseline="0" noProof="0" dirty="0"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1" u="none" strike="noStrike" kern="1200" cap="none" spc="0" normalizeH="0" baseline="0" noProof="0" dirty="0"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человеческого</a:t>
            </a:r>
            <a:r>
              <a:rPr kumimoji="0" lang="en-US" altLang="ru-RU" sz="2400" b="1" u="none" strike="noStrike" kern="1200" cap="none" spc="0" normalizeH="0" baseline="0" noProof="0" dirty="0"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1" u="none" strike="noStrike" kern="1200" cap="none" spc="0" normalizeH="0" baseline="0" noProof="0" dirty="0" err="1"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гена</a:t>
            </a:r>
            <a:r>
              <a:rPr kumimoji="0" lang="en-US" altLang="ru-RU" sz="2400" b="1" u="none" strike="noStrike" kern="1200" cap="none" spc="0" normalizeH="0" baseline="0" noProof="0" dirty="0"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ru-RU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TOP</a:t>
            </a:r>
            <a:r>
              <a:rPr kumimoji="0" lang="en-US" altLang="ru-RU" sz="2400" b="1" u="none" strike="noStrike" kern="1200" cap="none" spc="0" normalizeH="0" baseline="0" noProof="0" dirty="0"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ru-RU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0" lang="en-US" altLang="ru-RU" sz="2400" b="1" u="none" strike="noStrike" kern="1200" cap="none" spc="0" normalizeH="0" baseline="0" noProof="0" dirty="0"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kumimoji="0" lang="en-US" altLang="en-US" sz="2400" b="1" u="none" strike="noStrike" kern="1200" cap="none" spc="0" normalizeH="0" baseline="0" noProof="0" dirty="0"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методом</a:t>
            </a:r>
            <a:r>
              <a:rPr kumimoji="0" lang="en-US" altLang="ru-RU" sz="2400" b="1" u="none" strike="noStrike" kern="1200" cap="none" spc="0" normalizeH="0" baseline="0" noProof="0" dirty="0"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1" u="none" strike="noStrike" kern="1200" cap="none" spc="0" normalizeH="0" baseline="0" noProof="0" dirty="0"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ПЦР</a:t>
            </a:r>
            <a:r>
              <a:rPr kumimoji="0" lang="ru-RU" sz="2400" b="1" u="none" strike="noStrike" kern="1200" cap="none" spc="0" normalizeH="0" baseline="0" noProof="0" dirty="0"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endParaRPr kumimoji="0" lang="ru-RU" sz="2400" b="1" u="none" strike="noStrike" kern="1200" cap="none" spc="0" normalizeH="0" baseline="0" noProof="0" dirty="0"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96290" y="3717290"/>
            <a:ext cx="10644505" cy="307911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800"/>
              </a:spcAft>
              <a:defRPr/>
            </a:pPr>
            <a:r>
              <a:rPr lang="ru-RU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Декан</a:t>
            </a:r>
            <a:b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к.т.н.</a:t>
            </a:r>
            <a:r>
              <a:rPr lang="ru-RU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      А. У. Абдурахимова </a:t>
            </a:r>
            <a:endParaRPr kumimoji="0" lang="ru-RU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/>
            </a:pPr>
            <a:r>
              <a:rPr lang="ru-RU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Руководитель ВКР</a:t>
            </a:r>
            <a:r>
              <a:rPr kumimoji="0" lang="ru-RU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</a:t>
            </a:r>
            <a:br>
              <a:rPr kumimoji="0" lang="ru-RU" b="1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ru-RU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к. х. н., доцент                                                                                                                       </a:t>
            </a:r>
            <a:r>
              <a:rPr lang="en-US" altLang="ru-RU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</a:t>
            </a:r>
            <a:r>
              <a:rPr lang="en-US" altLang="ru-RU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alt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</a:t>
            </a:r>
            <a:r>
              <a:rPr lang="en-US" altLang="ru-RU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alt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Соловьева</a:t>
            </a:r>
            <a:endParaRPr lang="en-US" altLang="en-US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/>
            </a:pPr>
            <a:r>
              <a:rPr lang="ru-RU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Научный руководитель </a:t>
            </a:r>
            <a:br>
              <a:rPr lang="ru-RU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к.х.н.                                                                                                                                         </a:t>
            </a:r>
            <a:r>
              <a:rPr lang="en-US" alt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</a:t>
            </a:r>
            <a:r>
              <a:rPr lang="en-US" altLang="ru-RU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alt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</a:t>
            </a:r>
            <a:r>
              <a:rPr lang="en-US" altLang="ru-RU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alt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Икрамов</a:t>
            </a:r>
            <a:endParaRPr lang="en-US" altLang="en-US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/>
            </a:pPr>
            <a:r>
              <a:rPr lang="ru-RU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Студентка группы Т1/22-ХТЛ                                                                                             Ж. О. </a:t>
            </a:r>
            <a:r>
              <a:rPr lang="ru-RU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Бахромов</a:t>
            </a:r>
            <a:r>
              <a:rPr lang="ru-RU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ru-RU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/>
            </a:pPr>
            <a:endParaRPr kumimoji="0" lang="ru-RU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/>
            </a:pPr>
            <a:r>
              <a:rPr kumimoji="0" lang="ru-RU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ru-RU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Ташкент</a:t>
            </a:r>
            <a:r>
              <a:rPr kumimoji="0" lang="ru-RU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2026</a:t>
            </a:r>
            <a:endParaRPr kumimoji="0" lang="ru-RU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522" y="336806"/>
            <a:ext cx="1252492" cy="1252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10913388" y="236043"/>
            <a:ext cx="668655" cy="1195070"/>
            <a:chOff x="10913388" y="236043"/>
            <a:chExt cx="668655" cy="1195070"/>
          </a:xfrm>
        </p:grpSpPr>
        <p:sp>
          <p:nvSpPr>
            <p:cNvPr id="5" name="object 5"/>
            <p:cNvSpPr/>
            <p:nvPr/>
          </p:nvSpPr>
          <p:spPr>
            <a:xfrm>
              <a:off x="10913388" y="601685"/>
              <a:ext cx="668655" cy="829310"/>
            </a:xfrm>
            <a:custGeom>
              <a:avLst/>
              <a:gdLst/>
              <a:ahLst/>
              <a:cxnLst/>
              <a:rect l="l" t="t" r="r" b="b"/>
              <a:pathLst>
                <a:path w="668654" h="829310">
                  <a:moveTo>
                    <a:pt x="126245" y="651742"/>
                  </a:moveTo>
                  <a:lnTo>
                    <a:pt x="61660" y="651742"/>
                  </a:lnTo>
                  <a:lnTo>
                    <a:pt x="293695" y="785010"/>
                  </a:lnTo>
                  <a:lnTo>
                    <a:pt x="293695" y="788261"/>
                  </a:lnTo>
                  <a:lnTo>
                    <a:pt x="296840" y="803522"/>
                  </a:lnTo>
                  <a:lnTo>
                    <a:pt x="305461" y="816499"/>
                  </a:lnTo>
                  <a:lnTo>
                    <a:pt x="318342" y="825514"/>
                  </a:lnTo>
                  <a:lnTo>
                    <a:pt x="334264" y="828892"/>
                  </a:lnTo>
                  <a:lnTo>
                    <a:pt x="350186" y="825514"/>
                  </a:lnTo>
                  <a:lnTo>
                    <a:pt x="363065" y="816499"/>
                  </a:lnTo>
                  <a:lnTo>
                    <a:pt x="371685" y="803522"/>
                  </a:lnTo>
                  <a:lnTo>
                    <a:pt x="374828" y="788261"/>
                  </a:lnTo>
                  <a:lnTo>
                    <a:pt x="374828" y="785010"/>
                  </a:lnTo>
                  <a:lnTo>
                    <a:pt x="425403" y="755758"/>
                  </a:lnTo>
                  <a:lnTo>
                    <a:pt x="306680" y="755758"/>
                  </a:lnTo>
                  <a:lnTo>
                    <a:pt x="126245" y="651742"/>
                  </a:lnTo>
                  <a:close/>
                </a:path>
                <a:path w="668654" h="829310">
                  <a:moveTo>
                    <a:pt x="334061" y="747226"/>
                  </a:moveTo>
                  <a:lnTo>
                    <a:pt x="319838" y="749359"/>
                  </a:lnTo>
                  <a:lnTo>
                    <a:pt x="306680" y="755758"/>
                  </a:lnTo>
                  <a:lnTo>
                    <a:pt x="360223" y="755758"/>
                  </a:lnTo>
                  <a:lnTo>
                    <a:pt x="347979" y="749359"/>
                  </a:lnTo>
                  <a:lnTo>
                    <a:pt x="334061" y="747226"/>
                  </a:lnTo>
                  <a:close/>
                </a:path>
                <a:path w="668654" h="829310">
                  <a:moveTo>
                    <a:pt x="481925" y="0"/>
                  </a:moveTo>
                  <a:lnTo>
                    <a:pt x="466002" y="3149"/>
                  </a:lnTo>
                  <a:lnTo>
                    <a:pt x="453122" y="11786"/>
                  </a:lnTo>
                  <a:lnTo>
                    <a:pt x="444500" y="24690"/>
                  </a:lnTo>
                  <a:lnTo>
                    <a:pt x="441355" y="40645"/>
                  </a:lnTo>
                  <a:lnTo>
                    <a:pt x="443105" y="52421"/>
                  </a:lnTo>
                  <a:lnTo>
                    <a:pt x="448050" y="62990"/>
                  </a:lnTo>
                  <a:lnTo>
                    <a:pt x="455733" y="71738"/>
                  </a:lnTo>
                  <a:lnTo>
                    <a:pt x="465698" y="78054"/>
                  </a:lnTo>
                  <a:lnTo>
                    <a:pt x="465698" y="206407"/>
                  </a:lnTo>
                  <a:lnTo>
                    <a:pt x="587384" y="271461"/>
                  </a:lnTo>
                  <a:lnTo>
                    <a:pt x="587384" y="274697"/>
                  </a:lnTo>
                  <a:lnTo>
                    <a:pt x="585796" y="276288"/>
                  </a:lnTo>
                  <a:lnTo>
                    <a:pt x="585796" y="277933"/>
                  </a:lnTo>
                  <a:lnTo>
                    <a:pt x="587846" y="290887"/>
                  </a:lnTo>
                  <a:lnTo>
                    <a:pt x="593695" y="302316"/>
                  </a:lnTo>
                  <a:lnTo>
                    <a:pt x="602892" y="311306"/>
                  </a:lnTo>
                  <a:lnTo>
                    <a:pt x="614985" y="316944"/>
                  </a:lnTo>
                  <a:lnTo>
                    <a:pt x="614985" y="578603"/>
                  </a:lnTo>
                  <a:lnTo>
                    <a:pt x="602892" y="584928"/>
                  </a:lnTo>
                  <a:lnTo>
                    <a:pt x="593695" y="593842"/>
                  </a:lnTo>
                  <a:lnTo>
                    <a:pt x="587846" y="604889"/>
                  </a:lnTo>
                  <a:lnTo>
                    <a:pt x="585796" y="617614"/>
                  </a:lnTo>
                  <a:lnTo>
                    <a:pt x="585796" y="620861"/>
                  </a:lnTo>
                  <a:lnTo>
                    <a:pt x="587384" y="622484"/>
                  </a:lnTo>
                  <a:lnTo>
                    <a:pt x="587384" y="625737"/>
                  </a:lnTo>
                  <a:lnTo>
                    <a:pt x="360223" y="755758"/>
                  </a:lnTo>
                  <a:lnTo>
                    <a:pt x="425403" y="755758"/>
                  </a:lnTo>
                  <a:lnTo>
                    <a:pt x="605237" y="651742"/>
                  </a:lnTo>
                  <a:lnTo>
                    <a:pt x="648894" y="651742"/>
                  </a:lnTo>
                  <a:lnTo>
                    <a:pt x="656777" y="646460"/>
                  </a:lnTo>
                  <a:lnTo>
                    <a:pt x="665399" y="633561"/>
                  </a:lnTo>
                  <a:lnTo>
                    <a:pt x="668544" y="617614"/>
                  </a:lnTo>
                  <a:lnTo>
                    <a:pt x="667074" y="606997"/>
                  </a:lnTo>
                  <a:lnTo>
                    <a:pt x="662862" y="597295"/>
                  </a:lnTo>
                  <a:lnTo>
                    <a:pt x="656207" y="588813"/>
                  </a:lnTo>
                  <a:lnTo>
                    <a:pt x="647405" y="581856"/>
                  </a:lnTo>
                  <a:lnTo>
                    <a:pt x="647405" y="313691"/>
                  </a:lnTo>
                  <a:lnTo>
                    <a:pt x="656207" y="307648"/>
                  </a:lnTo>
                  <a:lnTo>
                    <a:pt x="662862" y="299471"/>
                  </a:lnTo>
                  <a:lnTo>
                    <a:pt x="667074" y="289465"/>
                  </a:lnTo>
                  <a:lnTo>
                    <a:pt x="668544" y="277933"/>
                  </a:lnTo>
                  <a:lnTo>
                    <a:pt x="665399" y="261979"/>
                  </a:lnTo>
                  <a:lnTo>
                    <a:pt x="656777" y="249074"/>
                  </a:lnTo>
                  <a:lnTo>
                    <a:pt x="648931" y="243815"/>
                  </a:lnTo>
                  <a:lnTo>
                    <a:pt x="605237" y="243815"/>
                  </a:lnTo>
                  <a:lnTo>
                    <a:pt x="498151" y="186934"/>
                  </a:lnTo>
                  <a:lnTo>
                    <a:pt x="498151" y="78054"/>
                  </a:lnTo>
                  <a:lnTo>
                    <a:pt x="508113" y="71738"/>
                  </a:lnTo>
                  <a:lnTo>
                    <a:pt x="515795" y="62990"/>
                  </a:lnTo>
                  <a:lnTo>
                    <a:pt x="520739" y="52421"/>
                  </a:lnTo>
                  <a:lnTo>
                    <a:pt x="522488" y="40645"/>
                  </a:lnTo>
                  <a:lnTo>
                    <a:pt x="519345" y="24690"/>
                  </a:lnTo>
                  <a:lnTo>
                    <a:pt x="510725" y="11786"/>
                  </a:lnTo>
                  <a:lnTo>
                    <a:pt x="497846" y="3149"/>
                  </a:lnTo>
                  <a:lnTo>
                    <a:pt x="481925" y="0"/>
                  </a:lnTo>
                  <a:close/>
                </a:path>
                <a:path w="668654" h="829310">
                  <a:moveTo>
                    <a:pt x="48679" y="237288"/>
                  </a:moveTo>
                  <a:lnTo>
                    <a:pt x="40566" y="237288"/>
                  </a:lnTo>
                  <a:lnTo>
                    <a:pt x="24644" y="240438"/>
                  </a:lnTo>
                  <a:lnTo>
                    <a:pt x="11764" y="249074"/>
                  </a:lnTo>
                  <a:lnTo>
                    <a:pt x="3143" y="261979"/>
                  </a:lnTo>
                  <a:lnTo>
                    <a:pt x="0" y="277933"/>
                  </a:lnTo>
                  <a:lnTo>
                    <a:pt x="1470" y="289491"/>
                  </a:lnTo>
                  <a:lnTo>
                    <a:pt x="5679" y="299674"/>
                  </a:lnTo>
                  <a:lnTo>
                    <a:pt x="12322" y="308333"/>
                  </a:lnTo>
                  <a:lnTo>
                    <a:pt x="21095" y="315315"/>
                  </a:lnTo>
                  <a:lnTo>
                    <a:pt x="21095" y="581856"/>
                  </a:lnTo>
                  <a:lnTo>
                    <a:pt x="12322" y="588128"/>
                  </a:lnTo>
                  <a:lnTo>
                    <a:pt x="5679" y="596686"/>
                  </a:lnTo>
                  <a:lnTo>
                    <a:pt x="1470" y="606769"/>
                  </a:lnTo>
                  <a:lnTo>
                    <a:pt x="0" y="617614"/>
                  </a:lnTo>
                  <a:lnTo>
                    <a:pt x="3143" y="633561"/>
                  </a:lnTo>
                  <a:lnTo>
                    <a:pt x="11764" y="646460"/>
                  </a:lnTo>
                  <a:lnTo>
                    <a:pt x="24644" y="655094"/>
                  </a:lnTo>
                  <a:lnTo>
                    <a:pt x="40566" y="658242"/>
                  </a:lnTo>
                  <a:lnTo>
                    <a:pt x="48679" y="658242"/>
                  </a:lnTo>
                  <a:lnTo>
                    <a:pt x="55171" y="656619"/>
                  </a:lnTo>
                  <a:lnTo>
                    <a:pt x="61660" y="651742"/>
                  </a:lnTo>
                  <a:lnTo>
                    <a:pt x="126245" y="651742"/>
                  </a:lnTo>
                  <a:lnTo>
                    <a:pt x="81134" y="625737"/>
                  </a:lnTo>
                  <a:lnTo>
                    <a:pt x="81134" y="617614"/>
                  </a:lnTo>
                  <a:lnTo>
                    <a:pt x="79106" y="604889"/>
                  </a:lnTo>
                  <a:lnTo>
                    <a:pt x="73426" y="593842"/>
                  </a:lnTo>
                  <a:lnTo>
                    <a:pt x="64703" y="584928"/>
                  </a:lnTo>
                  <a:lnTo>
                    <a:pt x="53544" y="578603"/>
                  </a:lnTo>
                  <a:lnTo>
                    <a:pt x="53544" y="316944"/>
                  </a:lnTo>
                  <a:lnTo>
                    <a:pt x="64703" y="310621"/>
                  </a:lnTo>
                  <a:lnTo>
                    <a:pt x="73426" y="301707"/>
                  </a:lnTo>
                  <a:lnTo>
                    <a:pt x="79106" y="290658"/>
                  </a:lnTo>
                  <a:lnTo>
                    <a:pt x="81134" y="277933"/>
                  </a:lnTo>
                  <a:lnTo>
                    <a:pt x="81134" y="276288"/>
                  </a:lnTo>
                  <a:lnTo>
                    <a:pt x="79508" y="274697"/>
                  </a:lnTo>
                  <a:lnTo>
                    <a:pt x="79508" y="271461"/>
                  </a:lnTo>
                  <a:lnTo>
                    <a:pt x="130664" y="243815"/>
                  </a:lnTo>
                  <a:lnTo>
                    <a:pt x="61660" y="243815"/>
                  </a:lnTo>
                  <a:lnTo>
                    <a:pt x="48679" y="237288"/>
                  </a:lnTo>
                  <a:close/>
                </a:path>
                <a:path w="668654" h="829310">
                  <a:moveTo>
                    <a:pt x="648894" y="651742"/>
                  </a:moveTo>
                  <a:lnTo>
                    <a:pt x="605237" y="651742"/>
                  </a:lnTo>
                  <a:lnTo>
                    <a:pt x="611754" y="656619"/>
                  </a:lnTo>
                  <a:lnTo>
                    <a:pt x="619859" y="658242"/>
                  </a:lnTo>
                  <a:lnTo>
                    <a:pt x="627964" y="658242"/>
                  </a:lnTo>
                  <a:lnTo>
                    <a:pt x="643893" y="655094"/>
                  </a:lnTo>
                  <a:lnTo>
                    <a:pt x="648894" y="651742"/>
                  </a:lnTo>
                  <a:close/>
                </a:path>
                <a:path w="668654" h="829310">
                  <a:moveTo>
                    <a:pt x="186604" y="0"/>
                  </a:moveTo>
                  <a:lnTo>
                    <a:pt x="170682" y="3149"/>
                  </a:lnTo>
                  <a:lnTo>
                    <a:pt x="157801" y="11786"/>
                  </a:lnTo>
                  <a:lnTo>
                    <a:pt x="149179" y="24690"/>
                  </a:lnTo>
                  <a:lnTo>
                    <a:pt x="146035" y="40645"/>
                  </a:lnTo>
                  <a:lnTo>
                    <a:pt x="147785" y="52421"/>
                  </a:lnTo>
                  <a:lnTo>
                    <a:pt x="152729" y="62990"/>
                  </a:lnTo>
                  <a:lnTo>
                    <a:pt x="160412" y="71738"/>
                  </a:lnTo>
                  <a:lnTo>
                    <a:pt x="170378" y="78054"/>
                  </a:lnTo>
                  <a:lnTo>
                    <a:pt x="170378" y="185289"/>
                  </a:lnTo>
                  <a:lnTo>
                    <a:pt x="61660" y="243815"/>
                  </a:lnTo>
                  <a:lnTo>
                    <a:pt x="130664" y="243815"/>
                  </a:lnTo>
                  <a:lnTo>
                    <a:pt x="202831" y="204816"/>
                  </a:lnTo>
                  <a:lnTo>
                    <a:pt x="202831" y="78054"/>
                  </a:lnTo>
                  <a:lnTo>
                    <a:pt x="212795" y="71738"/>
                  </a:lnTo>
                  <a:lnTo>
                    <a:pt x="220476" y="62990"/>
                  </a:lnTo>
                  <a:lnTo>
                    <a:pt x="225419" y="52421"/>
                  </a:lnTo>
                  <a:lnTo>
                    <a:pt x="227168" y="40645"/>
                  </a:lnTo>
                  <a:lnTo>
                    <a:pt x="224024" y="24690"/>
                  </a:lnTo>
                  <a:lnTo>
                    <a:pt x="215405" y="11786"/>
                  </a:lnTo>
                  <a:lnTo>
                    <a:pt x="202526" y="3149"/>
                  </a:lnTo>
                  <a:lnTo>
                    <a:pt x="186604" y="0"/>
                  </a:lnTo>
                  <a:close/>
                </a:path>
                <a:path w="668654" h="829310">
                  <a:moveTo>
                    <a:pt x="627964" y="237288"/>
                  </a:moveTo>
                  <a:lnTo>
                    <a:pt x="619859" y="237288"/>
                  </a:lnTo>
                  <a:lnTo>
                    <a:pt x="611754" y="240579"/>
                  </a:lnTo>
                  <a:lnTo>
                    <a:pt x="605237" y="243815"/>
                  </a:lnTo>
                  <a:lnTo>
                    <a:pt x="648931" y="243815"/>
                  </a:lnTo>
                  <a:lnTo>
                    <a:pt x="643893" y="240438"/>
                  </a:lnTo>
                  <a:lnTo>
                    <a:pt x="627964" y="237288"/>
                  </a:lnTo>
                  <a:close/>
                </a:path>
              </a:pathLst>
            </a:custGeom>
            <a:solidFill>
              <a:srgbClr val="1D70B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1164899" y="466804"/>
              <a:ext cx="115207" cy="11540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95725" y="236043"/>
              <a:ext cx="79511" cy="7964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293085" y="336806"/>
              <a:ext cx="95738" cy="9588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150293" y="954381"/>
              <a:ext cx="193092" cy="20315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1054555" y="855264"/>
              <a:ext cx="386080" cy="388620"/>
            </a:xfrm>
            <a:custGeom>
              <a:avLst/>
              <a:gdLst/>
              <a:ahLst/>
              <a:cxnLst/>
              <a:rect l="l" t="t" r="r" b="b"/>
              <a:pathLst>
                <a:path w="386079" h="388619">
                  <a:moveTo>
                    <a:pt x="193097" y="0"/>
                  </a:moveTo>
                  <a:lnTo>
                    <a:pt x="148680" y="5173"/>
                  </a:lnTo>
                  <a:lnTo>
                    <a:pt x="107980" y="19896"/>
                  </a:lnTo>
                  <a:lnTo>
                    <a:pt x="72135" y="42977"/>
                  </a:lnTo>
                  <a:lnTo>
                    <a:pt x="42279" y="73222"/>
                  </a:lnTo>
                  <a:lnTo>
                    <a:pt x="19547" y="109438"/>
                  </a:lnTo>
                  <a:lnTo>
                    <a:pt x="5076" y="150431"/>
                  </a:lnTo>
                  <a:lnTo>
                    <a:pt x="0" y="195008"/>
                  </a:lnTo>
                  <a:lnTo>
                    <a:pt x="5076" y="238984"/>
                  </a:lnTo>
                  <a:lnTo>
                    <a:pt x="19547" y="279548"/>
                  </a:lnTo>
                  <a:lnTo>
                    <a:pt x="42279" y="315478"/>
                  </a:lnTo>
                  <a:lnTo>
                    <a:pt x="72135" y="345552"/>
                  </a:lnTo>
                  <a:lnTo>
                    <a:pt x="107980" y="368547"/>
                  </a:lnTo>
                  <a:lnTo>
                    <a:pt x="148680" y="383241"/>
                  </a:lnTo>
                  <a:lnTo>
                    <a:pt x="193097" y="388410"/>
                  </a:lnTo>
                  <a:lnTo>
                    <a:pt x="224080" y="385059"/>
                  </a:lnTo>
                  <a:lnTo>
                    <a:pt x="253541" y="377440"/>
                  </a:lnTo>
                  <a:lnTo>
                    <a:pt x="281175" y="365555"/>
                  </a:lnTo>
                  <a:lnTo>
                    <a:pt x="296414" y="355905"/>
                  </a:lnTo>
                  <a:lnTo>
                    <a:pt x="193097" y="355905"/>
                  </a:lnTo>
                  <a:lnTo>
                    <a:pt x="150090" y="350081"/>
                  </a:lnTo>
                  <a:lnTo>
                    <a:pt x="111365" y="333694"/>
                  </a:lnTo>
                  <a:lnTo>
                    <a:pt x="78498" y="308368"/>
                  </a:lnTo>
                  <a:lnTo>
                    <a:pt x="53069" y="275728"/>
                  </a:lnTo>
                  <a:lnTo>
                    <a:pt x="36654" y="237400"/>
                  </a:lnTo>
                  <a:lnTo>
                    <a:pt x="30832" y="195008"/>
                  </a:lnTo>
                  <a:lnTo>
                    <a:pt x="36654" y="151930"/>
                  </a:lnTo>
                  <a:lnTo>
                    <a:pt x="53069" y="113140"/>
                  </a:lnTo>
                  <a:lnTo>
                    <a:pt x="78498" y="80218"/>
                  </a:lnTo>
                  <a:lnTo>
                    <a:pt x="111365" y="54746"/>
                  </a:lnTo>
                  <a:lnTo>
                    <a:pt x="150090" y="38304"/>
                  </a:lnTo>
                  <a:lnTo>
                    <a:pt x="193097" y="32472"/>
                  </a:lnTo>
                  <a:lnTo>
                    <a:pt x="326658" y="32472"/>
                  </a:lnTo>
                  <a:lnTo>
                    <a:pt x="324531" y="30881"/>
                  </a:lnTo>
                  <a:lnTo>
                    <a:pt x="295325" y="30881"/>
                  </a:lnTo>
                  <a:lnTo>
                    <a:pt x="271365" y="17818"/>
                  </a:lnTo>
                  <a:lnTo>
                    <a:pt x="246035" y="8118"/>
                  </a:lnTo>
                  <a:lnTo>
                    <a:pt x="219794" y="2079"/>
                  </a:lnTo>
                  <a:lnTo>
                    <a:pt x="193097" y="0"/>
                  </a:lnTo>
                  <a:close/>
                </a:path>
                <a:path w="386079" h="388619">
                  <a:moveTo>
                    <a:pt x="376453" y="162503"/>
                  </a:moveTo>
                  <a:lnTo>
                    <a:pt x="363474" y="162503"/>
                  </a:lnTo>
                  <a:lnTo>
                    <a:pt x="353737" y="172256"/>
                  </a:lnTo>
                  <a:lnTo>
                    <a:pt x="353737" y="180379"/>
                  </a:lnTo>
                  <a:lnTo>
                    <a:pt x="354356" y="190562"/>
                  </a:lnTo>
                  <a:lnTo>
                    <a:pt x="354305" y="202930"/>
                  </a:lnTo>
                  <a:lnTo>
                    <a:pt x="340756" y="257985"/>
                  </a:lnTo>
                  <a:lnTo>
                    <a:pt x="318042" y="295771"/>
                  </a:lnTo>
                  <a:lnTo>
                    <a:pt x="270907" y="335338"/>
                  </a:lnTo>
                  <a:lnTo>
                    <a:pt x="220657" y="353518"/>
                  </a:lnTo>
                  <a:lnTo>
                    <a:pt x="193097" y="355905"/>
                  </a:lnTo>
                  <a:lnTo>
                    <a:pt x="296414" y="355905"/>
                  </a:lnTo>
                  <a:lnTo>
                    <a:pt x="334268" y="325023"/>
                  </a:lnTo>
                  <a:lnTo>
                    <a:pt x="367937" y="275658"/>
                  </a:lnTo>
                  <a:lnTo>
                    <a:pt x="384569" y="217761"/>
                  </a:lnTo>
                  <a:lnTo>
                    <a:pt x="385937" y="190562"/>
                  </a:lnTo>
                  <a:lnTo>
                    <a:pt x="384569" y="177127"/>
                  </a:lnTo>
                  <a:lnTo>
                    <a:pt x="384569" y="172256"/>
                  </a:lnTo>
                  <a:lnTo>
                    <a:pt x="382948" y="169003"/>
                  </a:lnTo>
                  <a:lnTo>
                    <a:pt x="376453" y="162503"/>
                  </a:lnTo>
                  <a:close/>
                </a:path>
                <a:path w="386079" h="388619">
                  <a:moveTo>
                    <a:pt x="326658" y="32472"/>
                  </a:moveTo>
                  <a:lnTo>
                    <a:pt x="193097" y="32472"/>
                  </a:lnTo>
                  <a:lnTo>
                    <a:pt x="214952" y="33998"/>
                  </a:lnTo>
                  <a:lnTo>
                    <a:pt x="236503" y="38573"/>
                  </a:lnTo>
                  <a:lnTo>
                    <a:pt x="257445" y="46196"/>
                  </a:lnTo>
                  <a:lnTo>
                    <a:pt x="277472" y="56864"/>
                  </a:lnTo>
                  <a:lnTo>
                    <a:pt x="277472" y="58488"/>
                  </a:lnTo>
                  <a:lnTo>
                    <a:pt x="279780" y="71108"/>
                  </a:lnTo>
                  <a:lnTo>
                    <a:pt x="286196" y="81444"/>
                  </a:lnTo>
                  <a:lnTo>
                    <a:pt x="295958" y="88428"/>
                  </a:lnTo>
                  <a:lnTo>
                    <a:pt x="308305" y="90993"/>
                  </a:lnTo>
                  <a:lnTo>
                    <a:pt x="320905" y="88428"/>
                  </a:lnTo>
                  <a:lnTo>
                    <a:pt x="331224" y="81444"/>
                  </a:lnTo>
                  <a:lnTo>
                    <a:pt x="338197" y="71108"/>
                  </a:lnTo>
                  <a:lnTo>
                    <a:pt x="340758" y="58488"/>
                  </a:lnTo>
                  <a:lnTo>
                    <a:pt x="340758" y="50359"/>
                  </a:lnTo>
                  <a:lnTo>
                    <a:pt x="337510" y="42235"/>
                  </a:lnTo>
                  <a:lnTo>
                    <a:pt x="331021" y="35735"/>
                  </a:lnTo>
                  <a:lnTo>
                    <a:pt x="326658" y="32472"/>
                  </a:lnTo>
                  <a:close/>
                </a:path>
                <a:path w="386079" h="388619">
                  <a:moveTo>
                    <a:pt x="316415" y="27590"/>
                  </a:moveTo>
                  <a:lnTo>
                    <a:pt x="298567" y="27590"/>
                  </a:lnTo>
                  <a:lnTo>
                    <a:pt x="295325" y="30881"/>
                  </a:lnTo>
                  <a:lnTo>
                    <a:pt x="324531" y="30881"/>
                  </a:lnTo>
                  <a:lnTo>
                    <a:pt x="316415" y="27590"/>
                  </a:lnTo>
                  <a:close/>
                </a:path>
              </a:pathLst>
            </a:custGeom>
            <a:solidFill>
              <a:srgbClr val="1D70B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Номер слайда 13"/>
          <p:cNvSpPr>
            <a:spLocks noGrp="1"/>
          </p:cNvSpPr>
          <p:nvPr>
            <p:ph type="sldNum" sz="quarter" idx="12"/>
          </p:nvPr>
        </p:nvSpPr>
        <p:spPr>
          <a:xfrm>
            <a:off x="11240769" y="6397751"/>
            <a:ext cx="304800" cy="274955"/>
          </a:xfrm>
        </p:spPr>
        <p:txBody>
          <a:bodyPr/>
          <a:lstStyle/>
          <a:p>
            <a:pPr marL="38100">
              <a:lnSpc>
                <a:spcPts val="2145"/>
              </a:lnSpc>
            </a:pPr>
            <a:fld id="{81D60167-4931-47E6-BA6A-407CBD079E47}" type="slidenum">
              <a:rPr lang="ru-RU" sz="2400" b="0" smtClean="0"/>
            </a:fld>
            <a:endParaRPr lang="ru-RU" sz="2400" b="0" dirty="0"/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 flipV="1">
            <a:off x="738150" y="980902"/>
            <a:ext cx="9894570" cy="66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746" name="AutoShape 2" descr="Антибиотикорезистентность бактерий - проблема, механизмы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ru-RU"/>
          </a:p>
        </p:txBody>
      </p:sp>
      <p:sp>
        <p:nvSpPr>
          <p:cNvPr id="31748" name="AutoShape 4" descr="Антибиотикорезистентность бактерий - проблема, механизмы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ru-RU"/>
          </a:p>
        </p:txBody>
      </p:sp>
      <p:sp>
        <p:nvSpPr>
          <p:cNvPr id="31750" name="AutoShape 6" descr="Антибиотикорезистентность бактерий - проблема, механизмы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ru-RU"/>
          </a:p>
        </p:txBody>
      </p:sp>
      <p:sp>
        <p:nvSpPr>
          <p:cNvPr id="31752" name="AutoShape 8" descr="Антибиотикорезистентность бактерий - проблема, механизмы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ru-RU"/>
          </a:p>
        </p:txBody>
      </p:sp>
      <p:sp>
        <p:nvSpPr>
          <p:cNvPr id="31754" name="AutoShape 10" descr="Антибиотикорезистентность: гонка на выживание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ru-RU"/>
          </a:p>
        </p:txBody>
      </p:sp>
      <p:sp>
        <p:nvSpPr>
          <p:cNvPr id="31756" name="AutoShape 12" descr="Почему антибиотики не работают?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ru-RU"/>
          </a:p>
        </p:txBody>
      </p:sp>
      <p:sp>
        <p:nvSpPr>
          <p:cNvPr id="31758" name="AutoShape 14" descr="Почему антибиотики не работают?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ru-RU"/>
          </a:p>
        </p:txBody>
      </p:sp>
      <p:sp>
        <p:nvSpPr>
          <p:cNvPr id="31760" name="AutoShape 16" descr="blob:https://web.telegram.org/05e1840f-ed40-4ca3-a595-63ed11eb38a3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ru-RU"/>
          </a:p>
        </p:txBody>
      </p:sp>
      <p:sp>
        <p:nvSpPr>
          <p:cNvPr id="31762" name="AutoShape 18" descr="blob:https://web.telegram.org/05e1840f-ed40-4ca3-a595-63ed11eb38a3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ru-RU"/>
          </a:p>
        </p:txBody>
      </p:sp>
      <p:sp>
        <p:nvSpPr>
          <p:cNvPr id="31764" name="AutoShape 20" descr="blob:https://web.telegram.org/05e1840f-ed40-4ca3-a595-63ed11eb38a3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ru-RU"/>
          </a:p>
        </p:txBody>
      </p:sp>
      <p:sp>
        <p:nvSpPr>
          <p:cNvPr id="31766" name="AutoShape 22" descr="blob:https://web.telegram.org/05e1840f-ed40-4ca3-a595-63ed11eb38a3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ru-RU"/>
          </a:p>
        </p:txBody>
      </p:sp>
      <p:sp>
        <p:nvSpPr>
          <p:cNvPr id="31768" name="AutoShape 24" descr="blob:https://web.telegram.org/05e1840f-ed40-4ca3-a595-63ed11eb38a3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ru-RU"/>
          </a:p>
        </p:txBody>
      </p:sp>
      <p:sp>
        <p:nvSpPr>
          <p:cNvPr id="31770" name="AutoShape 26" descr="blob:https://web.telegram.org/05e1840f-ed40-4ca3-a595-63ed11eb38a3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ru-RU"/>
          </a:p>
        </p:txBody>
      </p:sp>
      <p:sp>
        <p:nvSpPr>
          <p:cNvPr id="31772" name="AutoShape 28" descr="blob:https://web.telegram.org/05e1840f-ed40-4ca3-a595-63ed11eb38a3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ru-RU"/>
          </a:p>
        </p:txBody>
      </p:sp>
      <p:sp>
        <p:nvSpPr>
          <p:cNvPr id="2" name="Текстовое поле 1"/>
          <p:cNvSpPr txBox="1"/>
          <p:nvPr/>
        </p:nvSpPr>
        <p:spPr>
          <a:xfrm>
            <a:off x="839470" y="525145"/>
            <a:ext cx="96583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Важность изучение топоизомераза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 </a:t>
            </a:r>
            <a:r>
              <a:rPr lang="ru-RU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кодируемая геном </a:t>
            </a:r>
            <a:r>
              <a:rPr lang="en-US" alt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2</a:t>
            </a:r>
            <a:endParaRPr lang="en-US" altLang="ru-RU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Текстовое поле 2"/>
          <p:cNvSpPr txBox="1"/>
          <p:nvPr/>
        </p:nvSpPr>
        <p:spPr>
          <a:xfrm>
            <a:off x="738149" y="1055958"/>
            <a:ext cx="10650673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Регуляция топологии ДНК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является фундаментальным механизмом поддержания стабильности генома и нормального функционирования клетки. Нарушение процессов репликации и деления клеток напрямую связано с развитием тяжелых патологий, в первую очередь — онкологических заболеваний.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Фермент, управляющих структурой ДНК, является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топоизомераза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II, кодируемая геном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TOP2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Изучение экспрессии этого гена позволяет оценить пролиферативную активность клеток (то есть то, насколько быстро они делятся).</a:t>
            </a:r>
            <a:endParaRPr lang="en-US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Важность изучение экспрессии гена: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молекулярной диагностики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онкологических заболеваний;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оценки скорости деления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(пролиферации) клеток;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исследования эффективности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противоопухолевых препаратов (многие из которых нацелены именно на ТОP2);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анализа механизмов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стабильности генома.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Проведение достоверного количественного анализа уровня экспрессии невозможно без использования специфических </a:t>
            </a:r>
            <a:r>
              <a:rPr lang="ru-RU" alt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олигонуклеотидных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праймеров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получение которых осуществляется путем высокотехнологичного органического синтеза</a:t>
            </a:r>
            <a:endParaRPr lang="ru-RU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23902" y="500042"/>
            <a:ext cx="9464586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ru-RU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Цели и задачи</a:t>
            </a: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работы</a:t>
            </a:r>
            <a:endParaRPr lang="ru-RU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Номер слайда 13"/>
          <p:cNvSpPr>
            <a:spLocks noGrp="1"/>
          </p:cNvSpPr>
          <p:nvPr>
            <p:ph type="sldNum" sz="quarter" idx="12"/>
          </p:nvPr>
        </p:nvSpPr>
        <p:spPr>
          <a:xfrm>
            <a:off x="11240770" y="6395085"/>
            <a:ext cx="304800" cy="276860"/>
          </a:xfrm>
        </p:spPr>
        <p:txBody>
          <a:bodyPr>
            <a:noAutofit/>
          </a:bodyPr>
          <a:lstStyle/>
          <a:p>
            <a:pPr marL="38100">
              <a:lnSpc>
                <a:spcPts val="2145"/>
              </a:lnSpc>
            </a:pPr>
            <a:fld id="{81D60167-4931-47E6-BA6A-407CBD079E47}" type="slidenum">
              <a:rPr lang="ru-RU" sz="2400" b="0" smtClean="0"/>
            </a:fld>
            <a:endParaRPr lang="ru-RU" sz="2400" b="0" dirty="0"/>
          </a:p>
        </p:txBody>
      </p:sp>
      <p:sp>
        <p:nvSpPr>
          <p:cNvPr id="3" name="object 3"/>
          <p:cNvSpPr/>
          <p:nvPr/>
        </p:nvSpPr>
        <p:spPr>
          <a:xfrm flipV="1">
            <a:off x="1023902" y="1000108"/>
            <a:ext cx="3643337" cy="142876"/>
          </a:xfrm>
          <a:custGeom>
            <a:avLst/>
            <a:gdLst/>
            <a:ahLst/>
            <a:cxnLst/>
            <a:rect l="l" t="t" r="r" b="b"/>
            <a:pathLst>
              <a:path w="9946005">
                <a:moveTo>
                  <a:pt x="0" y="0"/>
                </a:moveTo>
                <a:lnTo>
                  <a:pt x="9946005" y="0"/>
                </a:lnTo>
              </a:path>
            </a:pathLst>
          </a:custGeom>
          <a:ln w="6096">
            <a:solidFill>
              <a:srgbClr val="14BCBC"/>
            </a:solidFill>
          </a:ln>
        </p:spPr>
        <p:txBody>
          <a:bodyPr wrap="square" lIns="0" tIns="0" rIns="0" bIns="0" rtlCol="0"/>
          <a:lstStyle/>
          <a:p>
            <a:endParaRPr b="1"/>
          </a:p>
        </p:txBody>
      </p:sp>
      <p:grpSp>
        <p:nvGrpSpPr>
          <p:cNvPr id="4" name="object 4"/>
          <p:cNvGrpSpPr/>
          <p:nvPr/>
        </p:nvGrpSpPr>
        <p:grpSpPr>
          <a:xfrm>
            <a:off x="11226007" y="220725"/>
            <a:ext cx="585033" cy="1136573"/>
            <a:chOff x="10913388" y="236043"/>
            <a:chExt cx="668655" cy="1195070"/>
          </a:xfrm>
        </p:grpSpPr>
        <p:sp>
          <p:nvSpPr>
            <p:cNvPr id="5" name="object 5"/>
            <p:cNvSpPr/>
            <p:nvPr/>
          </p:nvSpPr>
          <p:spPr>
            <a:xfrm>
              <a:off x="10913388" y="601685"/>
              <a:ext cx="668655" cy="829310"/>
            </a:xfrm>
            <a:custGeom>
              <a:avLst/>
              <a:gdLst/>
              <a:ahLst/>
              <a:cxnLst/>
              <a:rect l="l" t="t" r="r" b="b"/>
              <a:pathLst>
                <a:path w="668654" h="829310">
                  <a:moveTo>
                    <a:pt x="126245" y="651742"/>
                  </a:moveTo>
                  <a:lnTo>
                    <a:pt x="61660" y="651742"/>
                  </a:lnTo>
                  <a:lnTo>
                    <a:pt x="293695" y="785010"/>
                  </a:lnTo>
                  <a:lnTo>
                    <a:pt x="293695" y="788261"/>
                  </a:lnTo>
                  <a:lnTo>
                    <a:pt x="296840" y="803522"/>
                  </a:lnTo>
                  <a:lnTo>
                    <a:pt x="305461" y="816499"/>
                  </a:lnTo>
                  <a:lnTo>
                    <a:pt x="318342" y="825514"/>
                  </a:lnTo>
                  <a:lnTo>
                    <a:pt x="334264" y="828892"/>
                  </a:lnTo>
                  <a:lnTo>
                    <a:pt x="350186" y="825514"/>
                  </a:lnTo>
                  <a:lnTo>
                    <a:pt x="363065" y="816499"/>
                  </a:lnTo>
                  <a:lnTo>
                    <a:pt x="371685" y="803522"/>
                  </a:lnTo>
                  <a:lnTo>
                    <a:pt x="374828" y="788261"/>
                  </a:lnTo>
                  <a:lnTo>
                    <a:pt x="374828" y="785010"/>
                  </a:lnTo>
                  <a:lnTo>
                    <a:pt x="425403" y="755758"/>
                  </a:lnTo>
                  <a:lnTo>
                    <a:pt x="306680" y="755758"/>
                  </a:lnTo>
                  <a:lnTo>
                    <a:pt x="126245" y="651742"/>
                  </a:lnTo>
                  <a:close/>
                </a:path>
                <a:path w="668654" h="829310">
                  <a:moveTo>
                    <a:pt x="334061" y="747226"/>
                  </a:moveTo>
                  <a:lnTo>
                    <a:pt x="319838" y="749359"/>
                  </a:lnTo>
                  <a:lnTo>
                    <a:pt x="306680" y="755758"/>
                  </a:lnTo>
                  <a:lnTo>
                    <a:pt x="360223" y="755758"/>
                  </a:lnTo>
                  <a:lnTo>
                    <a:pt x="347979" y="749359"/>
                  </a:lnTo>
                  <a:lnTo>
                    <a:pt x="334061" y="747226"/>
                  </a:lnTo>
                  <a:close/>
                </a:path>
                <a:path w="668654" h="829310">
                  <a:moveTo>
                    <a:pt x="481925" y="0"/>
                  </a:moveTo>
                  <a:lnTo>
                    <a:pt x="466002" y="3149"/>
                  </a:lnTo>
                  <a:lnTo>
                    <a:pt x="453122" y="11786"/>
                  </a:lnTo>
                  <a:lnTo>
                    <a:pt x="444500" y="24690"/>
                  </a:lnTo>
                  <a:lnTo>
                    <a:pt x="441355" y="40645"/>
                  </a:lnTo>
                  <a:lnTo>
                    <a:pt x="443105" y="52421"/>
                  </a:lnTo>
                  <a:lnTo>
                    <a:pt x="448050" y="62990"/>
                  </a:lnTo>
                  <a:lnTo>
                    <a:pt x="455733" y="71738"/>
                  </a:lnTo>
                  <a:lnTo>
                    <a:pt x="465698" y="78054"/>
                  </a:lnTo>
                  <a:lnTo>
                    <a:pt x="465698" y="206407"/>
                  </a:lnTo>
                  <a:lnTo>
                    <a:pt x="587384" y="271461"/>
                  </a:lnTo>
                  <a:lnTo>
                    <a:pt x="587384" y="274697"/>
                  </a:lnTo>
                  <a:lnTo>
                    <a:pt x="585796" y="276288"/>
                  </a:lnTo>
                  <a:lnTo>
                    <a:pt x="585796" y="277933"/>
                  </a:lnTo>
                  <a:lnTo>
                    <a:pt x="587846" y="290887"/>
                  </a:lnTo>
                  <a:lnTo>
                    <a:pt x="593695" y="302316"/>
                  </a:lnTo>
                  <a:lnTo>
                    <a:pt x="602892" y="311306"/>
                  </a:lnTo>
                  <a:lnTo>
                    <a:pt x="614985" y="316944"/>
                  </a:lnTo>
                  <a:lnTo>
                    <a:pt x="614985" y="578603"/>
                  </a:lnTo>
                  <a:lnTo>
                    <a:pt x="602892" y="584928"/>
                  </a:lnTo>
                  <a:lnTo>
                    <a:pt x="593695" y="593842"/>
                  </a:lnTo>
                  <a:lnTo>
                    <a:pt x="587846" y="604889"/>
                  </a:lnTo>
                  <a:lnTo>
                    <a:pt x="585796" y="617614"/>
                  </a:lnTo>
                  <a:lnTo>
                    <a:pt x="585796" y="620861"/>
                  </a:lnTo>
                  <a:lnTo>
                    <a:pt x="587384" y="622484"/>
                  </a:lnTo>
                  <a:lnTo>
                    <a:pt x="587384" y="625737"/>
                  </a:lnTo>
                  <a:lnTo>
                    <a:pt x="360223" y="755758"/>
                  </a:lnTo>
                  <a:lnTo>
                    <a:pt x="425403" y="755758"/>
                  </a:lnTo>
                  <a:lnTo>
                    <a:pt x="605237" y="651742"/>
                  </a:lnTo>
                  <a:lnTo>
                    <a:pt x="648894" y="651742"/>
                  </a:lnTo>
                  <a:lnTo>
                    <a:pt x="656777" y="646460"/>
                  </a:lnTo>
                  <a:lnTo>
                    <a:pt x="665399" y="633561"/>
                  </a:lnTo>
                  <a:lnTo>
                    <a:pt x="668544" y="617614"/>
                  </a:lnTo>
                  <a:lnTo>
                    <a:pt x="667074" y="606997"/>
                  </a:lnTo>
                  <a:lnTo>
                    <a:pt x="662862" y="597295"/>
                  </a:lnTo>
                  <a:lnTo>
                    <a:pt x="656207" y="588813"/>
                  </a:lnTo>
                  <a:lnTo>
                    <a:pt x="647405" y="581856"/>
                  </a:lnTo>
                  <a:lnTo>
                    <a:pt x="647405" y="313691"/>
                  </a:lnTo>
                  <a:lnTo>
                    <a:pt x="656207" y="307648"/>
                  </a:lnTo>
                  <a:lnTo>
                    <a:pt x="662862" y="299471"/>
                  </a:lnTo>
                  <a:lnTo>
                    <a:pt x="667074" y="289465"/>
                  </a:lnTo>
                  <a:lnTo>
                    <a:pt x="668544" y="277933"/>
                  </a:lnTo>
                  <a:lnTo>
                    <a:pt x="665399" y="261979"/>
                  </a:lnTo>
                  <a:lnTo>
                    <a:pt x="656777" y="249074"/>
                  </a:lnTo>
                  <a:lnTo>
                    <a:pt x="648931" y="243815"/>
                  </a:lnTo>
                  <a:lnTo>
                    <a:pt x="605237" y="243815"/>
                  </a:lnTo>
                  <a:lnTo>
                    <a:pt x="498151" y="186934"/>
                  </a:lnTo>
                  <a:lnTo>
                    <a:pt x="498151" y="78054"/>
                  </a:lnTo>
                  <a:lnTo>
                    <a:pt x="508113" y="71738"/>
                  </a:lnTo>
                  <a:lnTo>
                    <a:pt x="515795" y="62990"/>
                  </a:lnTo>
                  <a:lnTo>
                    <a:pt x="520739" y="52421"/>
                  </a:lnTo>
                  <a:lnTo>
                    <a:pt x="522488" y="40645"/>
                  </a:lnTo>
                  <a:lnTo>
                    <a:pt x="519345" y="24690"/>
                  </a:lnTo>
                  <a:lnTo>
                    <a:pt x="510725" y="11786"/>
                  </a:lnTo>
                  <a:lnTo>
                    <a:pt x="497846" y="3149"/>
                  </a:lnTo>
                  <a:lnTo>
                    <a:pt x="481925" y="0"/>
                  </a:lnTo>
                  <a:close/>
                </a:path>
                <a:path w="668654" h="829310">
                  <a:moveTo>
                    <a:pt x="48679" y="237288"/>
                  </a:moveTo>
                  <a:lnTo>
                    <a:pt x="40566" y="237288"/>
                  </a:lnTo>
                  <a:lnTo>
                    <a:pt x="24644" y="240438"/>
                  </a:lnTo>
                  <a:lnTo>
                    <a:pt x="11764" y="249074"/>
                  </a:lnTo>
                  <a:lnTo>
                    <a:pt x="3143" y="261979"/>
                  </a:lnTo>
                  <a:lnTo>
                    <a:pt x="0" y="277933"/>
                  </a:lnTo>
                  <a:lnTo>
                    <a:pt x="1470" y="289491"/>
                  </a:lnTo>
                  <a:lnTo>
                    <a:pt x="5679" y="299674"/>
                  </a:lnTo>
                  <a:lnTo>
                    <a:pt x="12322" y="308333"/>
                  </a:lnTo>
                  <a:lnTo>
                    <a:pt x="21095" y="315315"/>
                  </a:lnTo>
                  <a:lnTo>
                    <a:pt x="21095" y="581856"/>
                  </a:lnTo>
                  <a:lnTo>
                    <a:pt x="12322" y="588128"/>
                  </a:lnTo>
                  <a:lnTo>
                    <a:pt x="5679" y="596686"/>
                  </a:lnTo>
                  <a:lnTo>
                    <a:pt x="1470" y="606769"/>
                  </a:lnTo>
                  <a:lnTo>
                    <a:pt x="0" y="617614"/>
                  </a:lnTo>
                  <a:lnTo>
                    <a:pt x="3143" y="633561"/>
                  </a:lnTo>
                  <a:lnTo>
                    <a:pt x="11764" y="646460"/>
                  </a:lnTo>
                  <a:lnTo>
                    <a:pt x="24644" y="655094"/>
                  </a:lnTo>
                  <a:lnTo>
                    <a:pt x="40566" y="658242"/>
                  </a:lnTo>
                  <a:lnTo>
                    <a:pt x="48679" y="658242"/>
                  </a:lnTo>
                  <a:lnTo>
                    <a:pt x="55171" y="656619"/>
                  </a:lnTo>
                  <a:lnTo>
                    <a:pt x="61660" y="651742"/>
                  </a:lnTo>
                  <a:lnTo>
                    <a:pt x="126245" y="651742"/>
                  </a:lnTo>
                  <a:lnTo>
                    <a:pt x="81134" y="625737"/>
                  </a:lnTo>
                  <a:lnTo>
                    <a:pt x="81134" y="617614"/>
                  </a:lnTo>
                  <a:lnTo>
                    <a:pt x="79106" y="604889"/>
                  </a:lnTo>
                  <a:lnTo>
                    <a:pt x="73426" y="593842"/>
                  </a:lnTo>
                  <a:lnTo>
                    <a:pt x="64703" y="584928"/>
                  </a:lnTo>
                  <a:lnTo>
                    <a:pt x="53544" y="578603"/>
                  </a:lnTo>
                  <a:lnTo>
                    <a:pt x="53544" y="316944"/>
                  </a:lnTo>
                  <a:lnTo>
                    <a:pt x="64703" y="310621"/>
                  </a:lnTo>
                  <a:lnTo>
                    <a:pt x="73426" y="301707"/>
                  </a:lnTo>
                  <a:lnTo>
                    <a:pt x="79106" y="290658"/>
                  </a:lnTo>
                  <a:lnTo>
                    <a:pt x="81134" y="277933"/>
                  </a:lnTo>
                  <a:lnTo>
                    <a:pt x="81134" y="276288"/>
                  </a:lnTo>
                  <a:lnTo>
                    <a:pt x="79508" y="274697"/>
                  </a:lnTo>
                  <a:lnTo>
                    <a:pt x="79508" y="271461"/>
                  </a:lnTo>
                  <a:lnTo>
                    <a:pt x="130664" y="243815"/>
                  </a:lnTo>
                  <a:lnTo>
                    <a:pt x="61660" y="243815"/>
                  </a:lnTo>
                  <a:lnTo>
                    <a:pt x="48679" y="237288"/>
                  </a:lnTo>
                  <a:close/>
                </a:path>
                <a:path w="668654" h="829310">
                  <a:moveTo>
                    <a:pt x="648894" y="651742"/>
                  </a:moveTo>
                  <a:lnTo>
                    <a:pt x="605237" y="651742"/>
                  </a:lnTo>
                  <a:lnTo>
                    <a:pt x="611754" y="656619"/>
                  </a:lnTo>
                  <a:lnTo>
                    <a:pt x="619859" y="658242"/>
                  </a:lnTo>
                  <a:lnTo>
                    <a:pt x="627964" y="658242"/>
                  </a:lnTo>
                  <a:lnTo>
                    <a:pt x="643893" y="655094"/>
                  </a:lnTo>
                  <a:lnTo>
                    <a:pt x="648894" y="651742"/>
                  </a:lnTo>
                  <a:close/>
                </a:path>
                <a:path w="668654" h="829310">
                  <a:moveTo>
                    <a:pt x="186604" y="0"/>
                  </a:moveTo>
                  <a:lnTo>
                    <a:pt x="170682" y="3149"/>
                  </a:lnTo>
                  <a:lnTo>
                    <a:pt x="157801" y="11786"/>
                  </a:lnTo>
                  <a:lnTo>
                    <a:pt x="149179" y="24690"/>
                  </a:lnTo>
                  <a:lnTo>
                    <a:pt x="146035" y="40645"/>
                  </a:lnTo>
                  <a:lnTo>
                    <a:pt x="147785" y="52421"/>
                  </a:lnTo>
                  <a:lnTo>
                    <a:pt x="152729" y="62990"/>
                  </a:lnTo>
                  <a:lnTo>
                    <a:pt x="160412" y="71738"/>
                  </a:lnTo>
                  <a:lnTo>
                    <a:pt x="170378" y="78054"/>
                  </a:lnTo>
                  <a:lnTo>
                    <a:pt x="170378" y="185289"/>
                  </a:lnTo>
                  <a:lnTo>
                    <a:pt x="61660" y="243815"/>
                  </a:lnTo>
                  <a:lnTo>
                    <a:pt x="130664" y="243815"/>
                  </a:lnTo>
                  <a:lnTo>
                    <a:pt x="202831" y="204816"/>
                  </a:lnTo>
                  <a:lnTo>
                    <a:pt x="202831" y="78054"/>
                  </a:lnTo>
                  <a:lnTo>
                    <a:pt x="212795" y="71738"/>
                  </a:lnTo>
                  <a:lnTo>
                    <a:pt x="220476" y="62990"/>
                  </a:lnTo>
                  <a:lnTo>
                    <a:pt x="225419" y="52421"/>
                  </a:lnTo>
                  <a:lnTo>
                    <a:pt x="227168" y="40645"/>
                  </a:lnTo>
                  <a:lnTo>
                    <a:pt x="224024" y="24690"/>
                  </a:lnTo>
                  <a:lnTo>
                    <a:pt x="215405" y="11786"/>
                  </a:lnTo>
                  <a:lnTo>
                    <a:pt x="202526" y="3149"/>
                  </a:lnTo>
                  <a:lnTo>
                    <a:pt x="186604" y="0"/>
                  </a:lnTo>
                  <a:close/>
                </a:path>
                <a:path w="668654" h="829310">
                  <a:moveTo>
                    <a:pt x="627964" y="237288"/>
                  </a:moveTo>
                  <a:lnTo>
                    <a:pt x="619859" y="237288"/>
                  </a:lnTo>
                  <a:lnTo>
                    <a:pt x="611754" y="240579"/>
                  </a:lnTo>
                  <a:lnTo>
                    <a:pt x="605237" y="243815"/>
                  </a:lnTo>
                  <a:lnTo>
                    <a:pt x="648931" y="243815"/>
                  </a:lnTo>
                  <a:lnTo>
                    <a:pt x="643893" y="240438"/>
                  </a:lnTo>
                  <a:lnTo>
                    <a:pt x="627964" y="237288"/>
                  </a:lnTo>
                  <a:close/>
                </a:path>
              </a:pathLst>
            </a:custGeom>
            <a:solidFill>
              <a:srgbClr val="1D70B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1164899" y="466804"/>
              <a:ext cx="115207" cy="11540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95725" y="236043"/>
              <a:ext cx="79511" cy="7964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293085" y="336806"/>
              <a:ext cx="95738" cy="9588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150293" y="954381"/>
              <a:ext cx="193092" cy="20315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1054555" y="855264"/>
              <a:ext cx="386080" cy="388620"/>
            </a:xfrm>
            <a:custGeom>
              <a:avLst/>
              <a:gdLst/>
              <a:ahLst/>
              <a:cxnLst/>
              <a:rect l="l" t="t" r="r" b="b"/>
              <a:pathLst>
                <a:path w="386079" h="388619">
                  <a:moveTo>
                    <a:pt x="193097" y="0"/>
                  </a:moveTo>
                  <a:lnTo>
                    <a:pt x="148680" y="5173"/>
                  </a:lnTo>
                  <a:lnTo>
                    <a:pt x="107980" y="19896"/>
                  </a:lnTo>
                  <a:lnTo>
                    <a:pt x="72135" y="42977"/>
                  </a:lnTo>
                  <a:lnTo>
                    <a:pt x="42279" y="73222"/>
                  </a:lnTo>
                  <a:lnTo>
                    <a:pt x="19547" y="109438"/>
                  </a:lnTo>
                  <a:lnTo>
                    <a:pt x="5076" y="150431"/>
                  </a:lnTo>
                  <a:lnTo>
                    <a:pt x="0" y="195008"/>
                  </a:lnTo>
                  <a:lnTo>
                    <a:pt x="5076" y="238984"/>
                  </a:lnTo>
                  <a:lnTo>
                    <a:pt x="19547" y="279548"/>
                  </a:lnTo>
                  <a:lnTo>
                    <a:pt x="42279" y="315478"/>
                  </a:lnTo>
                  <a:lnTo>
                    <a:pt x="72135" y="345552"/>
                  </a:lnTo>
                  <a:lnTo>
                    <a:pt x="107980" y="368547"/>
                  </a:lnTo>
                  <a:lnTo>
                    <a:pt x="148680" y="383241"/>
                  </a:lnTo>
                  <a:lnTo>
                    <a:pt x="193097" y="388410"/>
                  </a:lnTo>
                  <a:lnTo>
                    <a:pt x="224080" y="385059"/>
                  </a:lnTo>
                  <a:lnTo>
                    <a:pt x="253541" y="377440"/>
                  </a:lnTo>
                  <a:lnTo>
                    <a:pt x="281175" y="365555"/>
                  </a:lnTo>
                  <a:lnTo>
                    <a:pt x="296414" y="355905"/>
                  </a:lnTo>
                  <a:lnTo>
                    <a:pt x="193097" y="355905"/>
                  </a:lnTo>
                  <a:lnTo>
                    <a:pt x="150090" y="350081"/>
                  </a:lnTo>
                  <a:lnTo>
                    <a:pt x="111365" y="333694"/>
                  </a:lnTo>
                  <a:lnTo>
                    <a:pt x="78498" y="308368"/>
                  </a:lnTo>
                  <a:lnTo>
                    <a:pt x="53069" y="275728"/>
                  </a:lnTo>
                  <a:lnTo>
                    <a:pt x="36654" y="237400"/>
                  </a:lnTo>
                  <a:lnTo>
                    <a:pt x="30832" y="195008"/>
                  </a:lnTo>
                  <a:lnTo>
                    <a:pt x="36654" y="151930"/>
                  </a:lnTo>
                  <a:lnTo>
                    <a:pt x="53069" y="113140"/>
                  </a:lnTo>
                  <a:lnTo>
                    <a:pt x="78498" y="80218"/>
                  </a:lnTo>
                  <a:lnTo>
                    <a:pt x="111365" y="54746"/>
                  </a:lnTo>
                  <a:lnTo>
                    <a:pt x="150090" y="38304"/>
                  </a:lnTo>
                  <a:lnTo>
                    <a:pt x="193097" y="32472"/>
                  </a:lnTo>
                  <a:lnTo>
                    <a:pt x="326658" y="32472"/>
                  </a:lnTo>
                  <a:lnTo>
                    <a:pt x="324531" y="30881"/>
                  </a:lnTo>
                  <a:lnTo>
                    <a:pt x="295325" y="30881"/>
                  </a:lnTo>
                  <a:lnTo>
                    <a:pt x="271365" y="17818"/>
                  </a:lnTo>
                  <a:lnTo>
                    <a:pt x="246035" y="8118"/>
                  </a:lnTo>
                  <a:lnTo>
                    <a:pt x="219794" y="2079"/>
                  </a:lnTo>
                  <a:lnTo>
                    <a:pt x="193097" y="0"/>
                  </a:lnTo>
                  <a:close/>
                </a:path>
                <a:path w="386079" h="388619">
                  <a:moveTo>
                    <a:pt x="376453" y="162503"/>
                  </a:moveTo>
                  <a:lnTo>
                    <a:pt x="363474" y="162503"/>
                  </a:lnTo>
                  <a:lnTo>
                    <a:pt x="353737" y="172256"/>
                  </a:lnTo>
                  <a:lnTo>
                    <a:pt x="353737" y="180379"/>
                  </a:lnTo>
                  <a:lnTo>
                    <a:pt x="354356" y="190562"/>
                  </a:lnTo>
                  <a:lnTo>
                    <a:pt x="354305" y="202930"/>
                  </a:lnTo>
                  <a:lnTo>
                    <a:pt x="340756" y="257985"/>
                  </a:lnTo>
                  <a:lnTo>
                    <a:pt x="318042" y="295771"/>
                  </a:lnTo>
                  <a:lnTo>
                    <a:pt x="270907" y="335338"/>
                  </a:lnTo>
                  <a:lnTo>
                    <a:pt x="220657" y="353518"/>
                  </a:lnTo>
                  <a:lnTo>
                    <a:pt x="193097" y="355905"/>
                  </a:lnTo>
                  <a:lnTo>
                    <a:pt x="296414" y="355905"/>
                  </a:lnTo>
                  <a:lnTo>
                    <a:pt x="334268" y="325023"/>
                  </a:lnTo>
                  <a:lnTo>
                    <a:pt x="367937" y="275658"/>
                  </a:lnTo>
                  <a:lnTo>
                    <a:pt x="384569" y="217761"/>
                  </a:lnTo>
                  <a:lnTo>
                    <a:pt x="385937" y="190562"/>
                  </a:lnTo>
                  <a:lnTo>
                    <a:pt x="384569" y="177127"/>
                  </a:lnTo>
                  <a:lnTo>
                    <a:pt x="384569" y="172256"/>
                  </a:lnTo>
                  <a:lnTo>
                    <a:pt x="382948" y="169003"/>
                  </a:lnTo>
                  <a:lnTo>
                    <a:pt x="376453" y="162503"/>
                  </a:lnTo>
                  <a:close/>
                </a:path>
                <a:path w="386079" h="388619">
                  <a:moveTo>
                    <a:pt x="326658" y="32472"/>
                  </a:moveTo>
                  <a:lnTo>
                    <a:pt x="193097" y="32472"/>
                  </a:lnTo>
                  <a:lnTo>
                    <a:pt x="214952" y="33998"/>
                  </a:lnTo>
                  <a:lnTo>
                    <a:pt x="236503" y="38573"/>
                  </a:lnTo>
                  <a:lnTo>
                    <a:pt x="257445" y="46196"/>
                  </a:lnTo>
                  <a:lnTo>
                    <a:pt x="277472" y="56864"/>
                  </a:lnTo>
                  <a:lnTo>
                    <a:pt x="277472" y="58488"/>
                  </a:lnTo>
                  <a:lnTo>
                    <a:pt x="279780" y="71108"/>
                  </a:lnTo>
                  <a:lnTo>
                    <a:pt x="286196" y="81444"/>
                  </a:lnTo>
                  <a:lnTo>
                    <a:pt x="295958" y="88428"/>
                  </a:lnTo>
                  <a:lnTo>
                    <a:pt x="308305" y="90993"/>
                  </a:lnTo>
                  <a:lnTo>
                    <a:pt x="320905" y="88428"/>
                  </a:lnTo>
                  <a:lnTo>
                    <a:pt x="331224" y="81444"/>
                  </a:lnTo>
                  <a:lnTo>
                    <a:pt x="338197" y="71108"/>
                  </a:lnTo>
                  <a:lnTo>
                    <a:pt x="340758" y="58488"/>
                  </a:lnTo>
                  <a:lnTo>
                    <a:pt x="340758" y="50359"/>
                  </a:lnTo>
                  <a:lnTo>
                    <a:pt x="337510" y="42235"/>
                  </a:lnTo>
                  <a:lnTo>
                    <a:pt x="331021" y="35735"/>
                  </a:lnTo>
                  <a:lnTo>
                    <a:pt x="326658" y="32472"/>
                  </a:lnTo>
                  <a:close/>
                </a:path>
                <a:path w="386079" h="388619">
                  <a:moveTo>
                    <a:pt x="316415" y="27590"/>
                  </a:moveTo>
                  <a:lnTo>
                    <a:pt x="298567" y="27590"/>
                  </a:lnTo>
                  <a:lnTo>
                    <a:pt x="295325" y="30881"/>
                  </a:lnTo>
                  <a:lnTo>
                    <a:pt x="324531" y="30881"/>
                  </a:lnTo>
                  <a:lnTo>
                    <a:pt x="316415" y="27590"/>
                  </a:lnTo>
                  <a:close/>
                </a:path>
              </a:pathLst>
            </a:custGeom>
            <a:solidFill>
              <a:srgbClr val="1D70B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Прямоугольник 19"/>
          <p:cNvSpPr/>
          <p:nvPr/>
        </p:nvSpPr>
        <p:spPr>
          <a:xfrm>
            <a:off x="760574" y="1357185"/>
            <a:ext cx="10480196" cy="3784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449580"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–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Синтез и исследование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олигонуклеотидных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праймеров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изучения экспрессии человеческого гена TOP2 методом полимеразной цепной реакции.</a:t>
            </a:r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indent="449580"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Задачи: </a:t>
            </a:r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AutoNum type="arabicPeriod"/>
            </a:pPr>
            <a:r>
              <a:rPr lang="ru-RU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</a:t>
            </a:r>
            <a:r>
              <a:rPr lang="ru-RU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биоинформатический</a:t>
            </a:r>
            <a:r>
              <a:rPr lang="ru-RU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анализ нуклеотидной последовательности гена TOP2.</a:t>
            </a:r>
            <a:endParaRPr lang="ru-RU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AutoNum type="arabicPeriod"/>
            </a:pPr>
            <a:r>
              <a:rPr lang="ru-RU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Спроектировать и сконструировать специфические </a:t>
            </a:r>
            <a:r>
              <a:rPr lang="ru-RU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праймеры</a:t>
            </a:r>
            <a:r>
              <a:rPr lang="ru-RU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AutoNum type="arabicPeriod"/>
            </a:pPr>
            <a:r>
              <a:rPr lang="ru-RU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Выполнить химический синтез целевых </a:t>
            </a:r>
            <a:r>
              <a:rPr lang="ru-RU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олигонуклеотидов</a:t>
            </a:r>
            <a:r>
              <a:rPr lang="ru-RU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AutoNum type="arabicPeriod"/>
            </a:pPr>
            <a:r>
              <a:rPr lang="ru-RU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очистку и определить концентрацию полученных </a:t>
            </a:r>
            <a:r>
              <a:rPr lang="ru-RU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праймеров</a:t>
            </a:r>
            <a:r>
              <a:rPr lang="ru-RU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AutoNum type="arabicPeriod"/>
            </a:pPr>
            <a:r>
              <a:rPr lang="ru-RU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Исследовать экспрессию гена методом ПЦР.</a:t>
            </a:r>
            <a:endParaRPr lang="ru-RU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 flipV="1">
            <a:off x="738150" y="1043938"/>
            <a:ext cx="9701631" cy="45719"/>
          </a:xfrm>
          <a:custGeom>
            <a:avLst/>
            <a:gdLst/>
            <a:ahLst/>
            <a:cxnLst/>
            <a:rect l="l" t="t" r="r" b="b"/>
            <a:pathLst>
              <a:path w="9946005">
                <a:moveTo>
                  <a:pt x="0" y="0"/>
                </a:moveTo>
                <a:lnTo>
                  <a:pt x="9946005" y="0"/>
                </a:lnTo>
              </a:path>
            </a:pathLst>
          </a:custGeom>
          <a:ln w="6096">
            <a:solidFill>
              <a:srgbClr val="5B9BD4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10913388" y="236043"/>
            <a:ext cx="668655" cy="1195070"/>
            <a:chOff x="10913388" y="236043"/>
            <a:chExt cx="668655" cy="1195070"/>
          </a:xfrm>
        </p:grpSpPr>
        <p:sp>
          <p:nvSpPr>
            <p:cNvPr id="5" name="object 5"/>
            <p:cNvSpPr/>
            <p:nvPr/>
          </p:nvSpPr>
          <p:spPr>
            <a:xfrm>
              <a:off x="10913388" y="601685"/>
              <a:ext cx="668655" cy="829310"/>
            </a:xfrm>
            <a:custGeom>
              <a:avLst/>
              <a:gdLst/>
              <a:ahLst/>
              <a:cxnLst/>
              <a:rect l="l" t="t" r="r" b="b"/>
              <a:pathLst>
                <a:path w="668654" h="829310">
                  <a:moveTo>
                    <a:pt x="126245" y="651742"/>
                  </a:moveTo>
                  <a:lnTo>
                    <a:pt x="61660" y="651742"/>
                  </a:lnTo>
                  <a:lnTo>
                    <a:pt x="293695" y="785010"/>
                  </a:lnTo>
                  <a:lnTo>
                    <a:pt x="293695" y="788261"/>
                  </a:lnTo>
                  <a:lnTo>
                    <a:pt x="296840" y="803522"/>
                  </a:lnTo>
                  <a:lnTo>
                    <a:pt x="305461" y="816499"/>
                  </a:lnTo>
                  <a:lnTo>
                    <a:pt x="318342" y="825514"/>
                  </a:lnTo>
                  <a:lnTo>
                    <a:pt x="334264" y="828892"/>
                  </a:lnTo>
                  <a:lnTo>
                    <a:pt x="350186" y="825514"/>
                  </a:lnTo>
                  <a:lnTo>
                    <a:pt x="363065" y="816499"/>
                  </a:lnTo>
                  <a:lnTo>
                    <a:pt x="371685" y="803522"/>
                  </a:lnTo>
                  <a:lnTo>
                    <a:pt x="374828" y="788261"/>
                  </a:lnTo>
                  <a:lnTo>
                    <a:pt x="374828" y="785010"/>
                  </a:lnTo>
                  <a:lnTo>
                    <a:pt x="425403" y="755758"/>
                  </a:lnTo>
                  <a:lnTo>
                    <a:pt x="306680" y="755758"/>
                  </a:lnTo>
                  <a:lnTo>
                    <a:pt x="126245" y="651742"/>
                  </a:lnTo>
                  <a:close/>
                </a:path>
                <a:path w="668654" h="829310">
                  <a:moveTo>
                    <a:pt x="334061" y="747226"/>
                  </a:moveTo>
                  <a:lnTo>
                    <a:pt x="319838" y="749359"/>
                  </a:lnTo>
                  <a:lnTo>
                    <a:pt x="306680" y="755758"/>
                  </a:lnTo>
                  <a:lnTo>
                    <a:pt x="360223" y="755758"/>
                  </a:lnTo>
                  <a:lnTo>
                    <a:pt x="347979" y="749359"/>
                  </a:lnTo>
                  <a:lnTo>
                    <a:pt x="334061" y="747226"/>
                  </a:lnTo>
                  <a:close/>
                </a:path>
                <a:path w="668654" h="829310">
                  <a:moveTo>
                    <a:pt x="481925" y="0"/>
                  </a:moveTo>
                  <a:lnTo>
                    <a:pt x="466002" y="3149"/>
                  </a:lnTo>
                  <a:lnTo>
                    <a:pt x="453122" y="11786"/>
                  </a:lnTo>
                  <a:lnTo>
                    <a:pt x="444500" y="24690"/>
                  </a:lnTo>
                  <a:lnTo>
                    <a:pt x="441355" y="40645"/>
                  </a:lnTo>
                  <a:lnTo>
                    <a:pt x="443105" y="52421"/>
                  </a:lnTo>
                  <a:lnTo>
                    <a:pt x="448050" y="62990"/>
                  </a:lnTo>
                  <a:lnTo>
                    <a:pt x="455733" y="71738"/>
                  </a:lnTo>
                  <a:lnTo>
                    <a:pt x="465698" y="78054"/>
                  </a:lnTo>
                  <a:lnTo>
                    <a:pt x="465698" y="206407"/>
                  </a:lnTo>
                  <a:lnTo>
                    <a:pt x="587384" y="271461"/>
                  </a:lnTo>
                  <a:lnTo>
                    <a:pt x="587384" y="274697"/>
                  </a:lnTo>
                  <a:lnTo>
                    <a:pt x="585796" y="276288"/>
                  </a:lnTo>
                  <a:lnTo>
                    <a:pt x="585796" y="277933"/>
                  </a:lnTo>
                  <a:lnTo>
                    <a:pt x="587846" y="290887"/>
                  </a:lnTo>
                  <a:lnTo>
                    <a:pt x="593695" y="302316"/>
                  </a:lnTo>
                  <a:lnTo>
                    <a:pt x="602892" y="311306"/>
                  </a:lnTo>
                  <a:lnTo>
                    <a:pt x="614985" y="316944"/>
                  </a:lnTo>
                  <a:lnTo>
                    <a:pt x="614985" y="578603"/>
                  </a:lnTo>
                  <a:lnTo>
                    <a:pt x="602892" y="584928"/>
                  </a:lnTo>
                  <a:lnTo>
                    <a:pt x="593695" y="593842"/>
                  </a:lnTo>
                  <a:lnTo>
                    <a:pt x="587846" y="604889"/>
                  </a:lnTo>
                  <a:lnTo>
                    <a:pt x="585796" y="617614"/>
                  </a:lnTo>
                  <a:lnTo>
                    <a:pt x="585796" y="620861"/>
                  </a:lnTo>
                  <a:lnTo>
                    <a:pt x="587384" y="622484"/>
                  </a:lnTo>
                  <a:lnTo>
                    <a:pt x="587384" y="625737"/>
                  </a:lnTo>
                  <a:lnTo>
                    <a:pt x="360223" y="755758"/>
                  </a:lnTo>
                  <a:lnTo>
                    <a:pt x="425403" y="755758"/>
                  </a:lnTo>
                  <a:lnTo>
                    <a:pt x="605237" y="651742"/>
                  </a:lnTo>
                  <a:lnTo>
                    <a:pt x="648894" y="651742"/>
                  </a:lnTo>
                  <a:lnTo>
                    <a:pt x="656777" y="646460"/>
                  </a:lnTo>
                  <a:lnTo>
                    <a:pt x="665399" y="633561"/>
                  </a:lnTo>
                  <a:lnTo>
                    <a:pt x="668544" y="617614"/>
                  </a:lnTo>
                  <a:lnTo>
                    <a:pt x="667074" y="606997"/>
                  </a:lnTo>
                  <a:lnTo>
                    <a:pt x="662862" y="597295"/>
                  </a:lnTo>
                  <a:lnTo>
                    <a:pt x="656207" y="588813"/>
                  </a:lnTo>
                  <a:lnTo>
                    <a:pt x="647405" y="581856"/>
                  </a:lnTo>
                  <a:lnTo>
                    <a:pt x="647405" y="313691"/>
                  </a:lnTo>
                  <a:lnTo>
                    <a:pt x="656207" y="307648"/>
                  </a:lnTo>
                  <a:lnTo>
                    <a:pt x="662862" y="299471"/>
                  </a:lnTo>
                  <a:lnTo>
                    <a:pt x="667074" y="289465"/>
                  </a:lnTo>
                  <a:lnTo>
                    <a:pt x="668544" y="277933"/>
                  </a:lnTo>
                  <a:lnTo>
                    <a:pt x="665399" y="261979"/>
                  </a:lnTo>
                  <a:lnTo>
                    <a:pt x="656777" y="249074"/>
                  </a:lnTo>
                  <a:lnTo>
                    <a:pt x="648931" y="243815"/>
                  </a:lnTo>
                  <a:lnTo>
                    <a:pt x="605237" y="243815"/>
                  </a:lnTo>
                  <a:lnTo>
                    <a:pt x="498151" y="186934"/>
                  </a:lnTo>
                  <a:lnTo>
                    <a:pt x="498151" y="78054"/>
                  </a:lnTo>
                  <a:lnTo>
                    <a:pt x="508113" y="71738"/>
                  </a:lnTo>
                  <a:lnTo>
                    <a:pt x="515795" y="62990"/>
                  </a:lnTo>
                  <a:lnTo>
                    <a:pt x="520739" y="52421"/>
                  </a:lnTo>
                  <a:lnTo>
                    <a:pt x="522488" y="40645"/>
                  </a:lnTo>
                  <a:lnTo>
                    <a:pt x="519345" y="24690"/>
                  </a:lnTo>
                  <a:lnTo>
                    <a:pt x="510725" y="11786"/>
                  </a:lnTo>
                  <a:lnTo>
                    <a:pt x="497846" y="3149"/>
                  </a:lnTo>
                  <a:lnTo>
                    <a:pt x="481925" y="0"/>
                  </a:lnTo>
                  <a:close/>
                </a:path>
                <a:path w="668654" h="829310">
                  <a:moveTo>
                    <a:pt x="48679" y="237288"/>
                  </a:moveTo>
                  <a:lnTo>
                    <a:pt x="40566" y="237288"/>
                  </a:lnTo>
                  <a:lnTo>
                    <a:pt x="24644" y="240438"/>
                  </a:lnTo>
                  <a:lnTo>
                    <a:pt x="11764" y="249074"/>
                  </a:lnTo>
                  <a:lnTo>
                    <a:pt x="3143" y="261979"/>
                  </a:lnTo>
                  <a:lnTo>
                    <a:pt x="0" y="277933"/>
                  </a:lnTo>
                  <a:lnTo>
                    <a:pt x="1470" y="289491"/>
                  </a:lnTo>
                  <a:lnTo>
                    <a:pt x="5679" y="299674"/>
                  </a:lnTo>
                  <a:lnTo>
                    <a:pt x="12322" y="308333"/>
                  </a:lnTo>
                  <a:lnTo>
                    <a:pt x="21095" y="315315"/>
                  </a:lnTo>
                  <a:lnTo>
                    <a:pt x="21095" y="581856"/>
                  </a:lnTo>
                  <a:lnTo>
                    <a:pt x="12322" y="588128"/>
                  </a:lnTo>
                  <a:lnTo>
                    <a:pt x="5679" y="596686"/>
                  </a:lnTo>
                  <a:lnTo>
                    <a:pt x="1470" y="606769"/>
                  </a:lnTo>
                  <a:lnTo>
                    <a:pt x="0" y="617614"/>
                  </a:lnTo>
                  <a:lnTo>
                    <a:pt x="3143" y="633561"/>
                  </a:lnTo>
                  <a:lnTo>
                    <a:pt x="11764" y="646460"/>
                  </a:lnTo>
                  <a:lnTo>
                    <a:pt x="24644" y="655094"/>
                  </a:lnTo>
                  <a:lnTo>
                    <a:pt x="40566" y="658242"/>
                  </a:lnTo>
                  <a:lnTo>
                    <a:pt x="48679" y="658242"/>
                  </a:lnTo>
                  <a:lnTo>
                    <a:pt x="55171" y="656619"/>
                  </a:lnTo>
                  <a:lnTo>
                    <a:pt x="61660" y="651742"/>
                  </a:lnTo>
                  <a:lnTo>
                    <a:pt x="126245" y="651742"/>
                  </a:lnTo>
                  <a:lnTo>
                    <a:pt x="81134" y="625737"/>
                  </a:lnTo>
                  <a:lnTo>
                    <a:pt x="81134" y="617614"/>
                  </a:lnTo>
                  <a:lnTo>
                    <a:pt x="79106" y="604889"/>
                  </a:lnTo>
                  <a:lnTo>
                    <a:pt x="73426" y="593842"/>
                  </a:lnTo>
                  <a:lnTo>
                    <a:pt x="64703" y="584928"/>
                  </a:lnTo>
                  <a:lnTo>
                    <a:pt x="53544" y="578603"/>
                  </a:lnTo>
                  <a:lnTo>
                    <a:pt x="53544" y="316944"/>
                  </a:lnTo>
                  <a:lnTo>
                    <a:pt x="64703" y="310621"/>
                  </a:lnTo>
                  <a:lnTo>
                    <a:pt x="73426" y="301707"/>
                  </a:lnTo>
                  <a:lnTo>
                    <a:pt x="79106" y="290658"/>
                  </a:lnTo>
                  <a:lnTo>
                    <a:pt x="81134" y="277933"/>
                  </a:lnTo>
                  <a:lnTo>
                    <a:pt x="81134" y="276288"/>
                  </a:lnTo>
                  <a:lnTo>
                    <a:pt x="79508" y="274697"/>
                  </a:lnTo>
                  <a:lnTo>
                    <a:pt x="79508" y="271461"/>
                  </a:lnTo>
                  <a:lnTo>
                    <a:pt x="130664" y="243815"/>
                  </a:lnTo>
                  <a:lnTo>
                    <a:pt x="61660" y="243815"/>
                  </a:lnTo>
                  <a:lnTo>
                    <a:pt x="48679" y="237288"/>
                  </a:lnTo>
                  <a:close/>
                </a:path>
                <a:path w="668654" h="829310">
                  <a:moveTo>
                    <a:pt x="648894" y="651742"/>
                  </a:moveTo>
                  <a:lnTo>
                    <a:pt x="605237" y="651742"/>
                  </a:lnTo>
                  <a:lnTo>
                    <a:pt x="611754" y="656619"/>
                  </a:lnTo>
                  <a:lnTo>
                    <a:pt x="619859" y="658242"/>
                  </a:lnTo>
                  <a:lnTo>
                    <a:pt x="627964" y="658242"/>
                  </a:lnTo>
                  <a:lnTo>
                    <a:pt x="643893" y="655094"/>
                  </a:lnTo>
                  <a:lnTo>
                    <a:pt x="648894" y="651742"/>
                  </a:lnTo>
                  <a:close/>
                </a:path>
                <a:path w="668654" h="829310">
                  <a:moveTo>
                    <a:pt x="186604" y="0"/>
                  </a:moveTo>
                  <a:lnTo>
                    <a:pt x="170682" y="3149"/>
                  </a:lnTo>
                  <a:lnTo>
                    <a:pt x="157801" y="11786"/>
                  </a:lnTo>
                  <a:lnTo>
                    <a:pt x="149179" y="24690"/>
                  </a:lnTo>
                  <a:lnTo>
                    <a:pt x="146035" y="40645"/>
                  </a:lnTo>
                  <a:lnTo>
                    <a:pt x="147785" y="52421"/>
                  </a:lnTo>
                  <a:lnTo>
                    <a:pt x="152729" y="62990"/>
                  </a:lnTo>
                  <a:lnTo>
                    <a:pt x="160412" y="71738"/>
                  </a:lnTo>
                  <a:lnTo>
                    <a:pt x="170378" y="78054"/>
                  </a:lnTo>
                  <a:lnTo>
                    <a:pt x="170378" y="185289"/>
                  </a:lnTo>
                  <a:lnTo>
                    <a:pt x="61660" y="243815"/>
                  </a:lnTo>
                  <a:lnTo>
                    <a:pt x="130664" y="243815"/>
                  </a:lnTo>
                  <a:lnTo>
                    <a:pt x="202831" y="204816"/>
                  </a:lnTo>
                  <a:lnTo>
                    <a:pt x="202831" y="78054"/>
                  </a:lnTo>
                  <a:lnTo>
                    <a:pt x="212795" y="71738"/>
                  </a:lnTo>
                  <a:lnTo>
                    <a:pt x="220476" y="62990"/>
                  </a:lnTo>
                  <a:lnTo>
                    <a:pt x="225419" y="52421"/>
                  </a:lnTo>
                  <a:lnTo>
                    <a:pt x="227168" y="40645"/>
                  </a:lnTo>
                  <a:lnTo>
                    <a:pt x="224024" y="24690"/>
                  </a:lnTo>
                  <a:lnTo>
                    <a:pt x="215405" y="11786"/>
                  </a:lnTo>
                  <a:lnTo>
                    <a:pt x="202526" y="3149"/>
                  </a:lnTo>
                  <a:lnTo>
                    <a:pt x="186604" y="0"/>
                  </a:lnTo>
                  <a:close/>
                </a:path>
                <a:path w="668654" h="829310">
                  <a:moveTo>
                    <a:pt x="627964" y="237288"/>
                  </a:moveTo>
                  <a:lnTo>
                    <a:pt x="619859" y="237288"/>
                  </a:lnTo>
                  <a:lnTo>
                    <a:pt x="611754" y="240579"/>
                  </a:lnTo>
                  <a:lnTo>
                    <a:pt x="605237" y="243815"/>
                  </a:lnTo>
                  <a:lnTo>
                    <a:pt x="648931" y="243815"/>
                  </a:lnTo>
                  <a:lnTo>
                    <a:pt x="643893" y="240438"/>
                  </a:lnTo>
                  <a:lnTo>
                    <a:pt x="627964" y="237288"/>
                  </a:lnTo>
                  <a:close/>
                </a:path>
              </a:pathLst>
            </a:custGeom>
            <a:solidFill>
              <a:srgbClr val="1D70B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1164899" y="466804"/>
              <a:ext cx="115207" cy="11540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95725" y="236043"/>
              <a:ext cx="79511" cy="7964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293085" y="336806"/>
              <a:ext cx="95738" cy="9588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150293" y="954381"/>
              <a:ext cx="193092" cy="20315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1054555" y="855264"/>
              <a:ext cx="386080" cy="388620"/>
            </a:xfrm>
            <a:custGeom>
              <a:avLst/>
              <a:gdLst/>
              <a:ahLst/>
              <a:cxnLst/>
              <a:rect l="l" t="t" r="r" b="b"/>
              <a:pathLst>
                <a:path w="386079" h="388619">
                  <a:moveTo>
                    <a:pt x="193097" y="0"/>
                  </a:moveTo>
                  <a:lnTo>
                    <a:pt x="148680" y="5173"/>
                  </a:lnTo>
                  <a:lnTo>
                    <a:pt x="107980" y="19896"/>
                  </a:lnTo>
                  <a:lnTo>
                    <a:pt x="72135" y="42977"/>
                  </a:lnTo>
                  <a:lnTo>
                    <a:pt x="42279" y="73222"/>
                  </a:lnTo>
                  <a:lnTo>
                    <a:pt x="19547" y="109438"/>
                  </a:lnTo>
                  <a:lnTo>
                    <a:pt x="5076" y="150431"/>
                  </a:lnTo>
                  <a:lnTo>
                    <a:pt x="0" y="195008"/>
                  </a:lnTo>
                  <a:lnTo>
                    <a:pt x="5076" y="238984"/>
                  </a:lnTo>
                  <a:lnTo>
                    <a:pt x="19547" y="279548"/>
                  </a:lnTo>
                  <a:lnTo>
                    <a:pt x="42279" y="315478"/>
                  </a:lnTo>
                  <a:lnTo>
                    <a:pt x="72135" y="345552"/>
                  </a:lnTo>
                  <a:lnTo>
                    <a:pt x="107980" y="368547"/>
                  </a:lnTo>
                  <a:lnTo>
                    <a:pt x="148680" y="383241"/>
                  </a:lnTo>
                  <a:lnTo>
                    <a:pt x="193097" y="388410"/>
                  </a:lnTo>
                  <a:lnTo>
                    <a:pt x="224080" y="385059"/>
                  </a:lnTo>
                  <a:lnTo>
                    <a:pt x="253541" y="377440"/>
                  </a:lnTo>
                  <a:lnTo>
                    <a:pt x="281175" y="365555"/>
                  </a:lnTo>
                  <a:lnTo>
                    <a:pt x="296414" y="355905"/>
                  </a:lnTo>
                  <a:lnTo>
                    <a:pt x="193097" y="355905"/>
                  </a:lnTo>
                  <a:lnTo>
                    <a:pt x="150090" y="350081"/>
                  </a:lnTo>
                  <a:lnTo>
                    <a:pt x="111365" y="333694"/>
                  </a:lnTo>
                  <a:lnTo>
                    <a:pt x="78498" y="308368"/>
                  </a:lnTo>
                  <a:lnTo>
                    <a:pt x="53069" y="275728"/>
                  </a:lnTo>
                  <a:lnTo>
                    <a:pt x="36654" y="237400"/>
                  </a:lnTo>
                  <a:lnTo>
                    <a:pt x="30832" y="195008"/>
                  </a:lnTo>
                  <a:lnTo>
                    <a:pt x="36654" y="151930"/>
                  </a:lnTo>
                  <a:lnTo>
                    <a:pt x="53069" y="113140"/>
                  </a:lnTo>
                  <a:lnTo>
                    <a:pt x="78498" y="80218"/>
                  </a:lnTo>
                  <a:lnTo>
                    <a:pt x="111365" y="54746"/>
                  </a:lnTo>
                  <a:lnTo>
                    <a:pt x="150090" y="38304"/>
                  </a:lnTo>
                  <a:lnTo>
                    <a:pt x="193097" y="32472"/>
                  </a:lnTo>
                  <a:lnTo>
                    <a:pt x="326658" y="32472"/>
                  </a:lnTo>
                  <a:lnTo>
                    <a:pt x="324531" y="30881"/>
                  </a:lnTo>
                  <a:lnTo>
                    <a:pt x="295325" y="30881"/>
                  </a:lnTo>
                  <a:lnTo>
                    <a:pt x="271365" y="17818"/>
                  </a:lnTo>
                  <a:lnTo>
                    <a:pt x="246035" y="8118"/>
                  </a:lnTo>
                  <a:lnTo>
                    <a:pt x="219794" y="2079"/>
                  </a:lnTo>
                  <a:lnTo>
                    <a:pt x="193097" y="0"/>
                  </a:lnTo>
                  <a:close/>
                </a:path>
                <a:path w="386079" h="388619">
                  <a:moveTo>
                    <a:pt x="376453" y="162503"/>
                  </a:moveTo>
                  <a:lnTo>
                    <a:pt x="363474" y="162503"/>
                  </a:lnTo>
                  <a:lnTo>
                    <a:pt x="353737" y="172256"/>
                  </a:lnTo>
                  <a:lnTo>
                    <a:pt x="353737" y="180379"/>
                  </a:lnTo>
                  <a:lnTo>
                    <a:pt x="354356" y="190562"/>
                  </a:lnTo>
                  <a:lnTo>
                    <a:pt x="354305" y="202930"/>
                  </a:lnTo>
                  <a:lnTo>
                    <a:pt x="340756" y="257985"/>
                  </a:lnTo>
                  <a:lnTo>
                    <a:pt x="318042" y="295771"/>
                  </a:lnTo>
                  <a:lnTo>
                    <a:pt x="270907" y="335338"/>
                  </a:lnTo>
                  <a:lnTo>
                    <a:pt x="220657" y="353518"/>
                  </a:lnTo>
                  <a:lnTo>
                    <a:pt x="193097" y="355905"/>
                  </a:lnTo>
                  <a:lnTo>
                    <a:pt x="296414" y="355905"/>
                  </a:lnTo>
                  <a:lnTo>
                    <a:pt x="334268" y="325023"/>
                  </a:lnTo>
                  <a:lnTo>
                    <a:pt x="367937" y="275658"/>
                  </a:lnTo>
                  <a:lnTo>
                    <a:pt x="384569" y="217761"/>
                  </a:lnTo>
                  <a:lnTo>
                    <a:pt x="385937" y="190562"/>
                  </a:lnTo>
                  <a:lnTo>
                    <a:pt x="384569" y="177127"/>
                  </a:lnTo>
                  <a:lnTo>
                    <a:pt x="384569" y="172256"/>
                  </a:lnTo>
                  <a:lnTo>
                    <a:pt x="382948" y="169003"/>
                  </a:lnTo>
                  <a:lnTo>
                    <a:pt x="376453" y="162503"/>
                  </a:lnTo>
                  <a:close/>
                </a:path>
                <a:path w="386079" h="388619">
                  <a:moveTo>
                    <a:pt x="326658" y="32472"/>
                  </a:moveTo>
                  <a:lnTo>
                    <a:pt x="193097" y="32472"/>
                  </a:lnTo>
                  <a:lnTo>
                    <a:pt x="214952" y="33998"/>
                  </a:lnTo>
                  <a:lnTo>
                    <a:pt x="236503" y="38573"/>
                  </a:lnTo>
                  <a:lnTo>
                    <a:pt x="257445" y="46196"/>
                  </a:lnTo>
                  <a:lnTo>
                    <a:pt x="277472" y="56864"/>
                  </a:lnTo>
                  <a:lnTo>
                    <a:pt x="277472" y="58488"/>
                  </a:lnTo>
                  <a:lnTo>
                    <a:pt x="279780" y="71108"/>
                  </a:lnTo>
                  <a:lnTo>
                    <a:pt x="286196" y="81444"/>
                  </a:lnTo>
                  <a:lnTo>
                    <a:pt x="295958" y="88428"/>
                  </a:lnTo>
                  <a:lnTo>
                    <a:pt x="308305" y="90993"/>
                  </a:lnTo>
                  <a:lnTo>
                    <a:pt x="320905" y="88428"/>
                  </a:lnTo>
                  <a:lnTo>
                    <a:pt x="331224" y="81444"/>
                  </a:lnTo>
                  <a:lnTo>
                    <a:pt x="338197" y="71108"/>
                  </a:lnTo>
                  <a:lnTo>
                    <a:pt x="340758" y="58488"/>
                  </a:lnTo>
                  <a:lnTo>
                    <a:pt x="340758" y="50359"/>
                  </a:lnTo>
                  <a:lnTo>
                    <a:pt x="337510" y="42235"/>
                  </a:lnTo>
                  <a:lnTo>
                    <a:pt x="331021" y="35735"/>
                  </a:lnTo>
                  <a:lnTo>
                    <a:pt x="326658" y="32472"/>
                  </a:lnTo>
                  <a:close/>
                </a:path>
                <a:path w="386079" h="388619">
                  <a:moveTo>
                    <a:pt x="316415" y="27590"/>
                  </a:moveTo>
                  <a:lnTo>
                    <a:pt x="298567" y="27590"/>
                  </a:lnTo>
                  <a:lnTo>
                    <a:pt x="295325" y="30881"/>
                  </a:lnTo>
                  <a:lnTo>
                    <a:pt x="324531" y="30881"/>
                  </a:lnTo>
                  <a:lnTo>
                    <a:pt x="316415" y="27590"/>
                  </a:lnTo>
                  <a:close/>
                </a:path>
              </a:pathLst>
            </a:custGeom>
            <a:solidFill>
              <a:srgbClr val="1D70B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Заголовок 10"/>
          <p:cNvSpPr>
            <a:spLocks noGrp="1"/>
          </p:cNvSpPr>
          <p:nvPr>
            <p:ph type="title"/>
          </p:nvPr>
        </p:nvSpPr>
        <p:spPr>
          <a:xfrm>
            <a:off x="767079" y="601929"/>
            <a:ext cx="9411335" cy="430530"/>
          </a:xfrm>
        </p:spPr>
        <p:txBody>
          <a:bodyPr>
            <a:normAutofit fontScale="90000"/>
          </a:bodyPr>
          <a:lstStyle/>
          <a:p>
            <a:r>
              <a:rPr lang="en-US" alt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Ген</a:t>
            </a:r>
            <a:r>
              <a:rPr lang="en-US" altLang="ru-RU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TOP2</a:t>
            </a:r>
            <a:endParaRPr lang="en-US" altLang="ru-RU" sz="24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2" name="Номер слайда 11"/>
          <p:cNvSpPr>
            <a:spLocks noGrp="1"/>
          </p:cNvSpPr>
          <p:nvPr>
            <p:ph type="sldNum" sz="quarter" idx="12"/>
          </p:nvPr>
        </p:nvSpPr>
        <p:spPr>
          <a:xfrm>
            <a:off x="11240769" y="6397751"/>
            <a:ext cx="450944" cy="274955"/>
          </a:xfrm>
        </p:spPr>
        <p:txBody>
          <a:bodyPr/>
          <a:lstStyle/>
          <a:p>
            <a:pPr marL="38100">
              <a:lnSpc>
                <a:spcPts val="2145"/>
              </a:lnSpc>
            </a:pPr>
            <a:fld id="{81D60167-4931-47E6-BA6A-407CBD079E47}" type="slidenum">
              <a:rPr lang="ru-RU" sz="2400" b="0" smtClean="0"/>
            </a:fld>
            <a:endParaRPr lang="ru-RU" sz="2400" b="0" dirty="0"/>
          </a:p>
        </p:txBody>
      </p:sp>
      <p:sp>
        <p:nvSpPr>
          <p:cNvPr id="19" name="Текстовое поле 18"/>
          <p:cNvSpPr txBox="1"/>
          <p:nvPr/>
        </p:nvSpPr>
        <p:spPr>
          <a:xfrm>
            <a:off x="1287145" y="1992630"/>
            <a:ext cx="78327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ru-RU"/>
          </a:p>
          <a:p>
            <a:endParaRPr lang="en-US" altLang="en-US"/>
          </a:p>
        </p:txBody>
      </p:sp>
      <p:sp>
        <p:nvSpPr>
          <p:cNvPr id="21" name="Текстовое поле 20"/>
          <p:cNvSpPr txBox="1"/>
          <p:nvPr/>
        </p:nvSpPr>
        <p:spPr>
          <a:xfrm>
            <a:off x="767079" y="1190093"/>
            <a:ext cx="7273137" cy="548261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/>
            <a:r>
              <a:rPr lang="ru-RU" sz="2000" b="1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TOP2A (ДНК-</a:t>
            </a:r>
            <a:r>
              <a:rPr lang="ru-RU" sz="2000" b="1" dirty="0" err="1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топоизомераза</a:t>
            </a:r>
            <a:r>
              <a:rPr lang="ru-RU" sz="2000" b="1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II-альфа)</a:t>
            </a:r>
            <a:r>
              <a:rPr lang="ru-RU" sz="2000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— это человеческий ген, кодирующий ядерный фермент, который контролирует топологическое состояние ДНК во время репликации и транскрипции.</a:t>
            </a:r>
            <a:endParaRPr lang="en-US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</a:t>
            </a:r>
            <a:r>
              <a:rPr lang="en-US" alt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характеристики</a:t>
            </a:r>
            <a:r>
              <a:rPr lang="en-US" alt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гена</a:t>
            </a:r>
            <a:r>
              <a:rPr lang="en-US" alt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Расположен на 17-й хромосоме человека (17q21.2)</a:t>
            </a:r>
            <a:endParaRPr lang="ru-RU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Кодирует белок длиной 1531 аминокислота</a:t>
            </a:r>
            <a:endParaRPr lang="ru-RU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Кодирующая последовательность (CDS) — 4593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Структура фермента: функционирует как АТФ-зависимый </a:t>
            </a:r>
            <a:r>
              <a:rPr lang="ru-RU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гомодимер</a:t>
            </a:r>
            <a:r>
              <a:rPr lang="ru-RU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Функциональная роль: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Белок TOP2A вносит временные двуцепочечные разрывы в спираль ДНК, что позволяет цепям проходить сквозь друг друга. Данный механизм является критически важным для разделения дочерних хроматид при делении клетки.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0216" y="1446666"/>
            <a:ext cx="3775611" cy="383577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040216" y="5284122"/>
            <a:ext cx="37756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17-я хромосома человека 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493776" y="1043939"/>
            <a:ext cx="9946005" cy="0"/>
          </a:xfrm>
          <a:custGeom>
            <a:avLst/>
            <a:gdLst/>
            <a:ahLst/>
            <a:cxnLst/>
            <a:rect l="l" t="t" r="r" b="b"/>
            <a:pathLst>
              <a:path w="9946005">
                <a:moveTo>
                  <a:pt x="0" y="0"/>
                </a:moveTo>
                <a:lnTo>
                  <a:pt x="9946005" y="0"/>
                </a:lnTo>
              </a:path>
            </a:pathLst>
          </a:custGeom>
          <a:ln w="6096">
            <a:solidFill>
              <a:srgbClr val="5B9BD4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10913388" y="236043"/>
            <a:ext cx="668655" cy="1195070"/>
            <a:chOff x="10913388" y="236043"/>
            <a:chExt cx="668655" cy="1195070"/>
          </a:xfrm>
        </p:grpSpPr>
        <p:sp>
          <p:nvSpPr>
            <p:cNvPr id="5" name="object 5"/>
            <p:cNvSpPr/>
            <p:nvPr/>
          </p:nvSpPr>
          <p:spPr>
            <a:xfrm>
              <a:off x="10913388" y="601685"/>
              <a:ext cx="668655" cy="829310"/>
            </a:xfrm>
            <a:custGeom>
              <a:avLst/>
              <a:gdLst/>
              <a:ahLst/>
              <a:cxnLst/>
              <a:rect l="l" t="t" r="r" b="b"/>
              <a:pathLst>
                <a:path w="668654" h="829310">
                  <a:moveTo>
                    <a:pt x="126245" y="651742"/>
                  </a:moveTo>
                  <a:lnTo>
                    <a:pt x="61660" y="651742"/>
                  </a:lnTo>
                  <a:lnTo>
                    <a:pt x="293695" y="785010"/>
                  </a:lnTo>
                  <a:lnTo>
                    <a:pt x="293695" y="788261"/>
                  </a:lnTo>
                  <a:lnTo>
                    <a:pt x="296840" y="803522"/>
                  </a:lnTo>
                  <a:lnTo>
                    <a:pt x="305461" y="816499"/>
                  </a:lnTo>
                  <a:lnTo>
                    <a:pt x="318342" y="825514"/>
                  </a:lnTo>
                  <a:lnTo>
                    <a:pt x="334264" y="828892"/>
                  </a:lnTo>
                  <a:lnTo>
                    <a:pt x="350186" y="825514"/>
                  </a:lnTo>
                  <a:lnTo>
                    <a:pt x="363065" y="816499"/>
                  </a:lnTo>
                  <a:lnTo>
                    <a:pt x="371685" y="803522"/>
                  </a:lnTo>
                  <a:lnTo>
                    <a:pt x="374828" y="788261"/>
                  </a:lnTo>
                  <a:lnTo>
                    <a:pt x="374828" y="785010"/>
                  </a:lnTo>
                  <a:lnTo>
                    <a:pt x="425403" y="755758"/>
                  </a:lnTo>
                  <a:lnTo>
                    <a:pt x="306680" y="755758"/>
                  </a:lnTo>
                  <a:lnTo>
                    <a:pt x="126245" y="651742"/>
                  </a:lnTo>
                  <a:close/>
                </a:path>
                <a:path w="668654" h="829310">
                  <a:moveTo>
                    <a:pt x="334061" y="747226"/>
                  </a:moveTo>
                  <a:lnTo>
                    <a:pt x="319838" y="749359"/>
                  </a:lnTo>
                  <a:lnTo>
                    <a:pt x="306680" y="755758"/>
                  </a:lnTo>
                  <a:lnTo>
                    <a:pt x="360223" y="755758"/>
                  </a:lnTo>
                  <a:lnTo>
                    <a:pt x="347979" y="749359"/>
                  </a:lnTo>
                  <a:lnTo>
                    <a:pt x="334061" y="747226"/>
                  </a:lnTo>
                  <a:close/>
                </a:path>
                <a:path w="668654" h="829310">
                  <a:moveTo>
                    <a:pt x="481925" y="0"/>
                  </a:moveTo>
                  <a:lnTo>
                    <a:pt x="466002" y="3149"/>
                  </a:lnTo>
                  <a:lnTo>
                    <a:pt x="453122" y="11786"/>
                  </a:lnTo>
                  <a:lnTo>
                    <a:pt x="444500" y="24690"/>
                  </a:lnTo>
                  <a:lnTo>
                    <a:pt x="441355" y="40645"/>
                  </a:lnTo>
                  <a:lnTo>
                    <a:pt x="443105" y="52421"/>
                  </a:lnTo>
                  <a:lnTo>
                    <a:pt x="448050" y="62990"/>
                  </a:lnTo>
                  <a:lnTo>
                    <a:pt x="455733" y="71738"/>
                  </a:lnTo>
                  <a:lnTo>
                    <a:pt x="465698" y="78054"/>
                  </a:lnTo>
                  <a:lnTo>
                    <a:pt x="465698" y="206407"/>
                  </a:lnTo>
                  <a:lnTo>
                    <a:pt x="587384" y="271461"/>
                  </a:lnTo>
                  <a:lnTo>
                    <a:pt x="587384" y="274697"/>
                  </a:lnTo>
                  <a:lnTo>
                    <a:pt x="585796" y="276288"/>
                  </a:lnTo>
                  <a:lnTo>
                    <a:pt x="585796" y="277933"/>
                  </a:lnTo>
                  <a:lnTo>
                    <a:pt x="587846" y="290887"/>
                  </a:lnTo>
                  <a:lnTo>
                    <a:pt x="593695" y="302316"/>
                  </a:lnTo>
                  <a:lnTo>
                    <a:pt x="602892" y="311306"/>
                  </a:lnTo>
                  <a:lnTo>
                    <a:pt x="614985" y="316944"/>
                  </a:lnTo>
                  <a:lnTo>
                    <a:pt x="614985" y="578603"/>
                  </a:lnTo>
                  <a:lnTo>
                    <a:pt x="602892" y="584928"/>
                  </a:lnTo>
                  <a:lnTo>
                    <a:pt x="593695" y="593842"/>
                  </a:lnTo>
                  <a:lnTo>
                    <a:pt x="587846" y="604889"/>
                  </a:lnTo>
                  <a:lnTo>
                    <a:pt x="585796" y="617614"/>
                  </a:lnTo>
                  <a:lnTo>
                    <a:pt x="585796" y="620861"/>
                  </a:lnTo>
                  <a:lnTo>
                    <a:pt x="587384" y="622484"/>
                  </a:lnTo>
                  <a:lnTo>
                    <a:pt x="587384" y="625737"/>
                  </a:lnTo>
                  <a:lnTo>
                    <a:pt x="360223" y="755758"/>
                  </a:lnTo>
                  <a:lnTo>
                    <a:pt x="425403" y="755758"/>
                  </a:lnTo>
                  <a:lnTo>
                    <a:pt x="605237" y="651742"/>
                  </a:lnTo>
                  <a:lnTo>
                    <a:pt x="648894" y="651742"/>
                  </a:lnTo>
                  <a:lnTo>
                    <a:pt x="656777" y="646460"/>
                  </a:lnTo>
                  <a:lnTo>
                    <a:pt x="665399" y="633561"/>
                  </a:lnTo>
                  <a:lnTo>
                    <a:pt x="668544" y="617614"/>
                  </a:lnTo>
                  <a:lnTo>
                    <a:pt x="667074" y="606997"/>
                  </a:lnTo>
                  <a:lnTo>
                    <a:pt x="662862" y="597295"/>
                  </a:lnTo>
                  <a:lnTo>
                    <a:pt x="656207" y="588813"/>
                  </a:lnTo>
                  <a:lnTo>
                    <a:pt x="647405" y="581856"/>
                  </a:lnTo>
                  <a:lnTo>
                    <a:pt x="647405" y="313691"/>
                  </a:lnTo>
                  <a:lnTo>
                    <a:pt x="656207" y="307648"/>
                  </a:lnTo>
                  <a:lnTo>
                    <a:pt x="662862" y="299471"/>
                  </a:lnTo>
                  <a:lnTo>
                    <a:pt x="667074" y="289465"/>
                  </a:lnTo>
                  <a:lnTo>
                    <a:pt x="668544" y="277933"/>
                  </a:lnTo>
                  <a:lnTo>
                    <a:pt x="665399" y="261979"/>
                  </a:lnTo>
                  <a:lnTo>
                    <a:pt x="656777" y="249074"/>
                  </a:lnTo>
                  <a:lnTo>
                    <a:pt x="648931" y="243815"/>
                  </a:lnTo>
                  <a:lnTo>
                    <a:pt x="605237" y="243815"/>
                  </a:lnTo>
                  <a:lnTo>
                    <a:pt x="498151" y="186934"/>
                  </a:lnTo>
                  <a:lnTo>
                    <a:pt x="498151" y="78054"/>
                  </a:lnTo>
                  <a:lnTo>
                    <a:pt x="508113" y="71738"/>
                  </a:lnTo>
                  <a:lnTo>
                    <a:pt x="515795" y="62990"/>
                  </a:lnTo>
                  <a:lnTo>
                    <a:pt x="520739" y="52421"/>
                  </a:lnTo>
                  <a:lnTo>
                    <a:pt x="522488" y="40645"/>
                  </a:lnTo>
                  <a:lnTo>
                    <a:pt x="519345" y="24690"/>
                  </a:lnTo>
                  <a:lnTo>
                    <a:pt x="510725" y="11786"/>
                  </a:lnTo>
                  <a:lnTo>
                    <a:pt x="497846" y="3149"/>
                  </a:lnTo>
                  <a:lnTo>
                    <a:pt x="481925" y="0"/>
                  </a:lnTo>
                  <a:close/>
                </a:path>
                <a:path w="668654" h="829310">
                  <a:moveTo>
                    <a:pt x="48679" y="237288"/>
                  </a:moveTo>
                  <a:lnTo>
                    <a:pt x="40566" y="237288"/>
                  </a:lnTo>
                  <a:lnTo>
                    <a:pt x="24644" y="240438"/>
                  </a:lnTo>
                  <a:lnTo>
                    <a:pt x="11764" y="249074"/>
                  </a:lnTo>
                  <a:lnTo>
                    <a:pt x="3143" y="261979"/>
                  </a:lnTo>
                  <a:lnTo>
                    <a:pt x="0" y="277933"/>
                  </a:lnTo>
                  <a:lnTo>
                    <a:pt x="1470" y="289491"/>
                  </a:lnTo>
                  <a:lnTo>
                    <a:pt x="5679" y="299674"/>
                  </a:lnTo>
                  <a:lnTo>
                    <a:pt x="12322" y="308333"/>
                  </a:lnTo>
                  <a:lnTo>
                    <a:pt x="21095" y="315315"/>
                  </a:lnTo>
                  <a:lnTo>
                    <a:pt x="21095" y="581856"/>
                  </a:lnTo>
                  <a:lnTo>
                    <a:pt x="12322" y="588128"/>
                  </a:lnTo>
                  <a:lnTo>
                    <a:pt x="5679" y="596686"/>
                  </a:lnTo>
                  <a:lnTo>
                    <a:pt x="1470" y="606769"/>
                  </a:lnTo>
                  <a:lnTo>
                    <a:pt x="0" y="617614"/>
                  </a:lnTo>
                  <a:lnTo>
                    <a:pt x="3143" y="633561"/>
                  </a:lnTo>
                  <a:lnTo>
                    <a:pt x="11764" y="646460"/>
                  </a:lnTo>
                  <a:lnTo>
                    <a:pt x="24644" y="655094"/>
                  </a:lnTo>
                  <a:lnTo>
                    <a:pt x="40566" y="658242"/>
                  </a:lnTo>
                  <a:lnTo>
                    <a:pt x="48679" y="658242"/>
                  </a:lnTo>
                  <a:lnTo>
                    <a:pt x="55171" y="656619"/>
                  </a:lnTo>
                  <a:lnTo>
                    <a:pt x="61660" y="651742"/>
                  </a:lnTo>
                  <a:lnTo>
                    <a:pt x="126245" y="651742"/>
                  </a:lnTo>
                  <a:lnTo>
                    <a:pt x="81134" y="625737"/>
                  </a:lnTo>
                  <a:lnTo>
                    <a:pt x="81134" y="617614"/>
                  </a:lnTo>
                  <a:lnTo>
                    <a:pt x="79106" y="604889"/>
                  </a:lnTo>
                  <a:lnTo>
                    <a:pt x="73426" y="593842"/>
                  </a:lnTo>
                  <a:lnTo>
                    <a:pt x="64703" y="584928"/>
                  </a:lnTo>
                  <a:lnTo>
                    <a:pt x="53544" y="578603"/>
                  </a:lnTo>
                  <a:lnTo>
                    <a:pt x="53544" y="316944"/>
                  </a:lnTo>
                  <a:lnTo>
                    <a:pt x="64703" y="310621"/>
                  </a:lnTo>
                  <a:lnTo>
                    <a:pt x="73426" y="301707"/>
                  </a:lnTo>
                  <a:lnTo>
                    <a:pt x="79106" y="290658"/>
                  </a:lnTo>
                  <a:lnTo>
                    <a:pt x="81134" y="277933"/>
                  </a:lnTo>
                  <a:lnTo>
                    <a:pt x="81134" y="276288"/>
                  </a:lnTo>
                  <a:lnTo>
                    <a:pt x="79508" y="274697"/>
                  </a:lnTo>
                  <a:lnTo>
                    <a:pt x="79508" y="271461"/>
                  </a:lnTo>
                  <a:lnTo>
                    <a:pt x="130664" y="243815"/>
                  </a:lnTo>
                  <a:lnTo>
                    <a:pt x="61660" y="243815"/>
                  </a:lnTo>
                  <a:lnTo>
                    <a:pt x="48679" y="237288"/>
                  </a:lnTo>
                  <a:close/>
                </a:path>
                <a:path w="668654" h="829310">
                  <a:moveTo>
                    <a:pt x="648894" y="651742"/>
                  </a:moveTo>
                  <a:lnTo>
                    <a:pt x="605237" y="651742"/>
                  </a:lnTo>
                  <a:lnTo>
                    <a:pt x="611754" y="656619"/>
                  </a:lnTo>
                  <a:lnTo>
                    <a:pt x="619859" y="658242"/>
                  </a:lnTo>
                  <a:lnTo>
                    <a:pt x="627964" y="658242"/>
                  </a:lnTo>
                  <a:lnTo>
                    <a:pt x="643893" y="655094"/>
                  </a:lnTo>
                  <a:lnTo>
                    <a:pt x="648894" y="651742"/>
                  </a:lnTo>
                  <a:close/>
                </a:path>
                <a:path w="668654" h="829310">
                  <a:moveTo>
                    <a:pt x="186604" y="0"/>
                  </a:moveTo>
                  <a:lnTo>
                    <a:pt x="170682" y="3149"/>
                  </a:lnTo>
                  <a:lnTo>
                    <a:pt x="157801" y="11786"/>
                  </a:lnTo>
                  <a:lnTo>
                    <a:pt x="149179" y="24690"/>
                  </a:lnTo>
                  <a:lnTo>
                    <a:pt x="146035" y="40645"/>
                  </a:lnTo>
                  <a:lnTo>
                    <a:pt x="147785" y="52421"/>
                  </a:lnTo>
                  <a:lnTo>
                    <a:pt x="152729" y="62990"/>
                  </a:lnTo>
                  <a:lnTo>
                    <a:pt x="160412" y="71738"/>
                  </a:lnTo>
                  <a:lnTo>
                    <a:pt x="170378" y="78054"/>
                  </a:lnTo>
                  <a:lnTo>
                    <a:pt x="170378" y="185289"/>
                  </a:lnTo>
                  <a:lnTo>
                    <a:pt x="61660" y="243815"/>
                  </a:lnTo>
                  <a:lnTo>
                    <a:pt x="130664" y="243815"/>
                  </a:lnTo>
                  <a:lnTo>
                    <a:pt x="202831" y="204816"/>
                  </a:lnTo>
                  <a:lnTo>
                    <a:pt x="202831" y="78054"/>
                  </a:lnTo>
                  <a:lnTo>
                    <a:pt x="212795" y="71738"/>
                  </a:lnTo>
                  <a:lnTo>
                    <a:pt x="220476" y="62990"/>
                  </a:lnTo>
                  <a:lnTo>
                    <a:pt x="225419" y="52421"/>
                  </a:lnTo>
                  <a:lnTo>
                    <a:pt x="227168" y="40645"/>
                  </a:lnTo>
                  <a:lnTo>
                    <a:pt x="224024" y="24690"/>
                  </a:lnTo>
                  <a:lnTo>
                    <a:pt x="215405" y="11786"/>
                  </a:lnTo>
                  <a:lnTo>
                    <a:pt x="202526" y="3149"/>
                  </a:lnTo>
                  <a:lnTo>
                    <a:pt x="186604" y="0"/>
                  </a:lnTo>
                  <a:close/>
                </a:path>
                <a:path w="668654" h="829310">
                  <a:moveTo>
                    <a:pt x="627964" y="237288"/>
                  </a:moveTo>
                  <a:lnTo>
                    <a:pt x="619859" y="237288"/>
                  </a:lnTo>
                  <a:lnTo>
                    <a:pt x="611754" y="240579"/>
                  </a:lnTo>
                  <a:lnTo>
                    <a:pt x="605237" y="243815"/>
                  </a:lnTo>
                  <a:lnTo>
                    <a:pt x="648931" y="243815"/>
                  </a:lnTo>
                  <a:lnTo>
                    <a:pt x="643893" y="240438"/>
                  </a:lnTo>
                  <a:lnTo>
                    <a:pt x="627964" y="237288"/>
                  </a:lnTo>
                  <a:close/>
                </a:path>
              </a:pathLst>
            </a:custGeom>
            <a:solidFill>
              <a:srgbClr val="1D70B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1164899" y="466804"/>
              <a:ext cx="115207" cy="11540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95725" y="236043"/>
              <a:ext cx="79511" cy="7964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293085" y="336806"/>
              <a:ext cx="95738" cy="9588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150293" y="954381"/>
              <a:ext cx="193092" cy="20315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1054555" y="855264"/>
              <a:ext cx="386080" cy="388620"/>
            </a:xfrm>
            <a:custGeom>
              <a:avLst/>
              <a:gdLst/>
              <a:ahLst/>
              <a:cxnLst/>
              <a:rect l="l" t="t" r="r" b="b"/>
              <a:pathLst>
                <a:path w="386079" h="388619">
                  <a:moveTo>
                    <a:pt x="193097" y="0"/>
                  </a:moveTo>
                  <a:lnTo>
                    <a:pt x="148680" y="5173"/>
                  </a:lnTo>
                  <a:lnTo>
                    <a:pt x="107980" y="19896"/>
                  </a:lnTo>
                  <a:lnTo>
                    <a:pt x="72135" y="42977"/>
                  </a:lnTo>
                  <a:lnTo>
                    <a:pt x="42279" y="73222"/>
                  </a:lnTo>
                  <a:lnTo>
                    <a:pt x="19547" y="109438"/>
                  </a:lnTo>
                  <a:lnTo>
                    <a:pt x="5076" y="150431"/>
                  </a:lnTo>
                  <a:lnTo>
                    <a:pt x="0" y="195008"/>
                  </a:lnTo>
                  <a:lnTo>
                    <a:pt x="5076" y="238984"/>
                  </a:lnTo>
                  <a:lnTo>
                    <a:pt x="19547" y="279548"/>
                  </a:lnTo>
                  <a:lnTo>
                    <a:pt x="42279" y="315478"/>
                  </a:lnTo>
                  <a:lnTo>
                    <a:pt x="72135" y="345552"/>
                  </a:lnTo>
                  <a:lnTo>
                    <a:pt x="107980" y="368547"/>
                  </a:lnTo>
                  <a:lnTo>
                    <a:pt x="148680" y="383241"/>
                  </a:lnTo>
                  <a:lnTo>
                    <a:pt x="193097" y="388410"/>
                  </a:lnTo>
                  <a:lnTo>
                    <a:pt x="224080" y="385059"/>
                  </a:lnTo>
                  <a:lnTo>
                    <a:pt x="253541" y="377440"/>
                  </a:lnTo>
                  <a:lnTo>
                    <a:pt x="281175" y="365555"/>
                  </a:lnTo>
                  <a:lnTo>
                    <a:pt x="296414" y="355905"/>
                  </a:lnTo>
                  <a:lnTo>
                    <a:pt x="193097" y="355905"/>
                  </a:lnTo>
                  <a:lnTo>
                    <a:pt x="150090" y="350081"/>
                  </a:lnTo>
                  <a:lnTo>
                    <a:pt x="111365" y="333694"/>
                  </a:lnTo>
                  <a:lnTo>
                    <a:pt x="78498" y="308368"/>
                  </a:lnTo>
                  <a:lnTo>
                    <a:pt x="53069" y="275728"/>
                  </a:lnTo>
                  <a:lnTo>
                    <a:pt x="36654" y="237400"/>
                  </a:lnTo>
                  <a:lnTo>
                    <a:pt x="30832" y="195008"/>
                  </a:lnTo>
                  <a:lnTo>
                    <a:pt x="36654" y="151930"/>
                  </a:lnTo>
                  <a:lnTo>
                    <a:pt x="53069" y="113140"/>
                  </a:lnTo>
                  <a:lnTo>
                    <a:pt x="78498" y="80218"/>
                  </a:lnTo>
                  <a:lnTo>
                    <a:pt x="111365" y="54746"/>
                  </a:lnTo>
                  <a:lnTo>
                    <a:pt x="150090" y="38304"/>
                  </a:lnTo>
                  <a:lnTo>
                    <a:pt x="193097" y="32472"/>
                  </a:lnTo>
                  <a:lnTo>
                    <a:pt x="326658" y="32472"/>
                  </a:lnTo>
                  <a:lnTo>
                    <a:pt x="324531" y="30881"/>
                  </a:lnTo>
                  <a:lnTo>
                    <a:pt x="295325" y="30881"/>
                  </a:lnTo>
                  <a:lnTo>
                    <a:pt x="271365" y="17818"/>
                  </a:lnTo>
                  <a:lnTo>
                    <a:pt x="246035" y="8118"/>
                  </a:lnTo>
                  <a:lnTo>
                    <a:pt x="219794" y="2079"/>
                  </a:lnTo>
                  <a:lnTo>
                    <a:pt x="193097" y="0"/>
                  </a:lnTo>
                  <a:close/>
                </a:path>
                <a:path w="386079" h="388619">
                  <a:moveTo>
                    <a:pt x="376453" y="162503"/>
                  </a:moveTo>
                  <a:lnTo>
                    <a:pt x="363474" y="162503"/>
                  </a:lnTo>
                  <a:lnTo>
                    <a:pt x="353737" y="172256"/>
                  </a:lnTo>
                  <a:lnTo>
                    <a:pt x="353737" y="180379"/>
                  </a:lnTo>
                  <a:lnTo>
                    <a:pt x="354356" y="190562"/>
                  </a:lnTo>
                  <a:lnTo>
                    <a:pt x="354305" y="202930"/>
                  </a:lnTo>
                  <a:lnTo>
                    <a:pt x="340756" y="257985"/>
                  </a:lnTo>
                  <a:lnTo>
                    <a:pt x="318042" y="295771"/>
                  </a:lnTo>
                  <a:lnTo>
                    <a:pt x="270907" y="335338"/>
                  </a:lnTo>
                  <a:lnTo>
                    <a:pt x="220657" y="353518"/>
                  </a:lnTo>
                  <a:lnTo>
                    <a:pt x="193097" y="355905"/>
                  </a:lnTo>
                  <a:lnTo>
                    <a:pt x="296414" y="355905"/>
                  </a:lnTo>
                  <a:lnTo>
                    <a:pt x="334268" y="325023"/>
                  </a:lnTo>
                  <a:lnTo>
                    <a:pt x="367937" y="275658"/>
                  </a:lnTo>
                  <a:lnTo>
                    <a:pt x="384569" y="217761"/>
                  </a:lnTo>
                  <a:lnTo>
                    <a:pt x="385937" y="190562"/>
                  </a:lnTo>
                  <a:lnTo>
                    <a:pt x="384569" y="177127"/>
                  </a:lnTo>
                  <a:lnTo>
                    <a:pt x="384569" y="172256"/>
                  </a:lnTo>
                  <a:lnTo>
                    <a:pt x="382948" y="169003"/>
                  </a:lnTo>
                  <a:lnTo>
                    <a:pt x="376453" y="162503"/>
                  </a:lnTo>
                  <a:close/>
                </a:path>
                <a:path w="386079" h="388619">
                  <a:moveTo>
                    <a:pt x="326658" y="32472"/>
                  </a:moveTo>
                  <a:lnTo>
                    <a:pt x="193097" y="32472"/>
                  </a:lnTo>
                  <a:lnTo>
                    <a:pt x="214952" y="33998"/>
                  </a:lnTo>
                  <a:lnTo>
                    <a:pt x="236503" y="38573"/>
                  </a:lnTo>
                  <a:lnTo>
                    <a:pt x="257445" y="46196"/>
                  </a:lnTo>
                  <a:lnTo>
                    <a:pt x="277472" y="56864"/>
                  </a:lnTo>
                  <a:lnTo>
                    <a:pt x="277472" y="58488"/>
                  </a:lnTo>
                  <a:lnTo>
                    <a:pt x="279780" y="71108"/>
                  </a:lnTo>
                  <a:lnTo>
                    <a:pt x="286196" y="81444"/>
                  </a:lnTo>
                  <a:lnTo>
                    <a:pt x="295958" y="88428"/>
                  </a:lnTo>
                  <a:lnTo>
                    <a:pt x="308305" y="90993"/>
                  </a:lnTo>
                  <a:lnTo>
                    <a:pt x="320905" y="88428"/>
                  </a:lnTo>
                  <a:lnTo>
                    <a:pt x="331224" y="81444"/>
                  </a:lnTo>
                  <a:lnTo>
                    <a:pt x="338197" y="71108"/>
                  </a:lnTo>
                  <a:lnTo>
                    <a:pt x="340758" y="58488"/>
                  </a:lnTo>
                  <a:lnTo>
                    <a:pt x="340758" y="50359"/>
                  </a:lnTo>
                  <a:lnTo>
                    <a:pt x="337510" y="42235"/>
                  </a:lnTo>
                  <a:lnTo>
                    <a:pt x="331021" y="35735"/>
                  </a:lnTo>
                  <a:lnTo>
                    <a:pt x="326658" y="32472"/>
                  </a:lnTo>
                  <a:close/>
                </a:path>
                <a:path w="386079" h="388619">
                  <a:moveTo>
                    <a:pt x="316415" y="27590"/>
                  </a:moveTo>
                  <a:lnTo>
                    <a:pt x="298567" y="27590"/>
                  </a:lnTo>
                  <a:lnTo>
                    <a:pt x="295325" y="30881"/>
                  </a:lnTo>
                  <a:lnTo>
                    <a:pt x="324531" y="30881"/>
                  </a:lnTo>
                  <a:lnTo>
                    <a:pt x="316415" y="27590"/>
                  </a:lnTo>
                  <a:close/>
                </a:path>
              </a:pathLst>
            </a:custGeom>
            <a:solidFill>
              <a:srgbClr val="1D70B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Заголовок 10"/>
          <p:cNvSpPr>
            <a:spLocks noGrp="1"/>
          </p:cNvSpPr>
          <p:nvPr>
            <p:ph type="title"/>
          </p:nvPr>
        </p:nvSpPr>
        <p:spPr>
          <a:xfrm>
            <a:off x="601349" y="582212"/>
            <a:ext cx="9411335" cy="430530"/>
          </a:xfrm>
        </p:spPr>
        <p:txBody>
          <a:bodyPr>
            <a:normAutofit fontScale="90000"/>
          </a:bodyPr>
          <a:lstStyle/>
          <a:p>
            <a:r>
              <a:rPr lang="ru-RU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Термодинамический анализ </a:t>
            </a:r>
            <a:r>
              <a:rPr lang="ru-RU" alt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праймеров</a:t>
            </a:r>
            <a:endParaRPr lang="ru-RU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Номер слайда 13"/>
          <p:cNvSpPr>
            <a:spLocks noGrp="1"/>
          </p:cNvSpPr>
          <p:nvPr>
            <p:ph type="sldNum" sz="quarter" idx="12"/>
          </p:nvPr>
        </p:nvSpPr>
        <p:spPr>
          <a:xfrm>
            <a:off x="11240768" y="6397751"/>
            <a:ext cx="373931" cy="274955"/>
          </a:xfrm>
        </p:spPr>
        <p:txBody>
          <a:bodyPr/>
          <a:lstStyle/>
          <a:p>
            <a:pPr marL="38100">
              <a:lnSpc>
                <a:spcPts val="2145"/>
              </a:lnSpc>
            </a:pPr>
            <a:fld id="{81D60167-4931-47E6-BA6A-407CBD079E47}" type="slidenum">
              <a:rPr lang="ru-RU" sz="2400" b="0" smtClean="0"/>
            </a:fld>
            <a:endParaRPr lang="ru-RU" sz="2400" b="0" dirty="0"/>
          </a:p>
        </p:txBody>
      </p:sp>
      <p:sp>
        <p:nvSpPr>
          <p:cNvPr id="2" name="TextBox 1"/>
          <p:cNvSpPr txBox="1"/>
          <p:nvPr/>
        </p:nvSpPr>
        <p:spPr>
          <a:xfrm>
            <a:off x="577649" y="1156985"/>
            <a:ext cx="5566659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Подобраные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праймеры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гена </a:t>
            </a:r>
            <a:r>
              <a:rPr lang="en-US" alt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TOP2</a:t>
            </a:r>
            <a:endParaRPr lang="en-US" alt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01349" y="1724191"/>
            <a:ext cx="5882311" cy="70788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Forward:</a:t>
            </a:r>
            <a:r>
              <a:rPr lang="ru-RU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5'-ACC ATT GCA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GCA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TTG TCC TG-3’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Revers:</a:t>
            </a:r>
            <a:r>
              <a:rPr lang="ru-RU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5'-GTC TGT TCC TTC  CTC AGT CC-3'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Прямоугольник 14"/>
          <p:cNvSpPr/>
          <p:nvPr/>
        </p:nvSpPr>
        <p:spPr>
          <a:xfrm>
            <a:off x="601349" y="2599174"/>
            <a:ext cx="6096000" cy="163121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проведения ПЦР-анализа экспрессии гена TOP2A были сконструированы специфические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олигонуклеотиды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Расчет их параметров проводился с помощью программного обеспечения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SnapGene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(визуализация и подбор зон отжига) и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OligoAnalyzer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493776" y="928710"/>
            <a:ext cx="9946005" cy="0"/>
          </a:xfrm>
          <a:custGeom>
            <a:avLst/>
            <a:gdLst/>
            <a:ahLst/>
            <a:cxnLst/>
            <a:rect l="l" t="t" r="r" b="b"/>
            <a:pathLst>
              <a:path w="9946005">
                <a:moveTo>
                  <a:pt x="0" y="0"/>
                </a:moveTo>
                <a:lnTo>
                  <a:pt x="9946005" y="0"/>
                </a:lnTo>
              </a:path>
            </a:pathLst>
          </a:custGeom>
          <a:ln w="6096">
            <a:solidFill>
              <a:srgbClr val="5B9BD4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10913388" y="236043"/>
            <a:ext cx="668655" cy="1195070"/>
            <a:chOff x="10913388" y="236043"/>
            <a:chExt cx="668655" cy="1195070"/>
          </a:xfrm>
        </p:grpSpPr>
        <p:sp>
          <p:nvSpPr>
            <p:cNvPr id="5" name="object 5"/>
            <p:cNvSpPr/>
            <p:nvPr/>
          </p:nvSpPr>
          <p:spPr>
            <a:xfrm>
              <a:off x="10913388" y="601685"/>
              <a:ext cx="668655" cy="829310"/>
            </a:xfrm>
            <a:custGeom>
              <a:avLst/>
              <a:gdLst/>
              <a:ahLst/>
              <a:cxnLst/>
              <a:rect l="l" t="t" r="r" b="b"/>
              <a:pathLst>
                <a:path w="668654" h="829310">
                  <a:moveTo>
                    <a:pt x="126245" y="651742"/>
                  </a:moveTo>
                  <a:lnTo>
                    <a:pt x="61660" y="651742"/>
                  </a:lnTo>
                  <a:lnTo>
                    <a:pt x="293695" y="785010"/>
                  </a:lnTo>
                  <a:lnTo>
                    <a:pt x="293695" y="788261"/>
                  </a:lnTo>
                  <a:lnTo>
                    <a:pt x="296840" y="803522"/>
                  </a:lnTo>
                  <a:lnTo>
                    <a:pt x="305461" y="816499"/>
                  </a:lnTo>
                  <a:lnTo>
                    <a:pt x="318342" y="825514"/>
                  </a:lnTo>
                  <a:lnTo>
                    <a:pt x="334264" y="828892"/>
                  </a:lnTo>
                  <a:lnTo>
                    <a:pt x="350186" y="825514"/>
                  </a:lnTo>
                  <a:lnTo>
                    <a:pt x="363065" y="816499"/>
                  </a:lnTo>
                  <a:lnTo>
                    <a:pt x="371685" y="803522"/>
                  </a:lnTo>
                  <a:lnTo>
                    <a:pt x="374828" y="788261"/>
                  </a:lnTo>
                  <a:lnTo>
                    <a:pt x="374828" y="785010"/>
                  </a:lnTo>
                  <a:lnTo>
                    <a:pt x="425403" y="755758"/>
                  </a:lnTo>
                  <a:lnTo>
                    <a:pt x="306680" y="755758"/>
                  </a:lnTo>
                  <a:lnTo>
                    <a:pt x="126245" y="651742"/>
                  </a:lnTo>
                  <a:close/>
                </a:path>
                <a:path w="668654" h="829310">
                  <a:moveTo>
                    <a:pt x="334061" y="747226"/>
                  </a:moveTo>
                  <a:lnTo>
                    <a:pt x="319838" y="749359"/>
                  </a:lnTo>
                  <a:lnTo>
                    <a:pt x="306680" y="755758"/>
                  </a:lnTo>
                  <a:lnTo>
                    <a:pt x="360223" y="755758"/>
                  </a:lnTo>
                  <a:lnTo>
                    <a:pt x="347979" y="749359"/>
                  </a:lnTo>
                  <a:lnTo>
                    <a:pt x="334061" y="747226"/>
                  </a:lnTo>
                  <a:close/>
                </a:path>
                <a:path w="668654" h="829310">
                  <a:moveTo>
                    <a:pt x="481925" y="0"/>
                  </a:moveTo>
                  <a:lnTo>
                    <a:pt x="466002" y="3149"/>
                  </a:lnTo>
                  <a:lnTo>
                    <a:pt x="453122" y="11786"/>
                  </a:lnTo>
                  <a:lnTo>
                    <a:pt x="444500" y="24690"/>
                  </a:lnTo>
                  <a:lnTo>
                    <a:pt x="441355" y="40645"/>
                  </a:lnTo>
                  <a:lnTo>
                    <a:pt x="443105" y="52421"/>
                  </a:lnTo>
                  <a:lnTo>
                    <a:pt x="448050" y="62990"/>
                  </a:lnTo>
                  <a:lnTo>
                    <a:pt x="455733" y="71738"/>
                  </a:lnTo>
                  <a:lnTo>
                    <a:pt x="465698" y="78054"/>
                  </a:lnTo>
                  <a:lnTo>
                    <a:pt x="465698" y="206407"/>
                  </a:lnTo>
                  <a:lnTo>
                    <a:pt x="587384" y="271461"/>
                  </a:lnTo>
                  <a:lnTo>
                    <a:pt x="587384" y="274697"/>
                  </a:lnTo>
                  <a:lnTo>
                    <a:pt x="585796" y="276288"/>
                  </a:lnTo>
                  <a:lnTo>
                    <a:pt x="585796" y="277933"/>
                  </a:lnTo>
                  <a:lnTo>
                    <a:pt x="587846" y="290887"/>
                  </a:lnTo>
                  <a:lnTo>
                    <a:pt x="593695" y="302316"/>
                  </a:lnTo>
                  <a:lnTo>
                    <a:pt x="602892" y="311306"/>
                  </a:lnTo>
                  <a:lnTo>
                    <a:pt x="614985" y="316944"/>
                  </a:lnTo>
                  <a:lnTo>
                    <a:pt x="614985" y="578603"/>
                  </a:lnTo>
                  <a:lnTo>
                    <a:pt x="602892" y="584928"/>
                  </a:lnTo>
                  <a:lnTo>
                    <a:pt x="593695" y="593842"/>
                  </a:lnTo>
                  <a:lnTo>
                    <a:pt x="587846" y="604889"/>
                  </a:lnTo>
                  <a:lnTo>
                    <a:pt x="585796" y="617614"/>
                  </a:lnTo>
                  <a:lnTo>
                    <a:pt x="585796" y="620861"/>
                  </a:lnTo>
                  <a:lnTo>
                    <a:pt x="587384" y="622484"/>
                  </a:lnTo>
                  <a:lnTo>
                    <a:pt x="587384" y="625737"/>
                  </a:lnTo>
                  <a:lnTo>
                    <a:pt x="360223" y="755758"/>
                  </a:lnTo>
                  <a:lnTo>
                    <a:pt x="425403" y="755758"/>
                  </a:lnTo>
                  <a:lnTo>
                    <a:pt x="605237" y="651742"/>
                  </a:lnTo>
                  <a:lnTo>
                    <a:pt x="648894" y="651742"/>
                  </a:lnTo>
                  <a:lnTo>
                    <a:pt x="656777" y="646460"/>
                  </a:lnTo>
                  <a:lnTo>
                    <a:pt x="665399" y="633561"/>
                  </a:lnTo>
                  <a:lnTo>
                    <a:pt x="668544" y="617614"/>
                  </a:lnTo>
                  <a:lnTo>
                    <a:pt x="667074" y="606997"/>
                  </a:lnTo>
                  <a:lnTo>
                    <a:pt x="662862" y="597295"/>
                  </a:lnTo>
                  <a:lnTo>
                    <a:pt x="656207" y="588813"/>
                  </a:lnTo>
                  <a:lnTo>
                    <a:pt x="647405" y="581856"/>
                  </a:lnTo>
                  <a:lnTo>
                    <a:pt x="647405" y="313691"/>
                  </a:lnTo>
                  <a:lnTo>
                    <a:pt x="656207" y="307648"/>
                  </a:lnTo>
                  <a:lnTo>
                    <a:pt x="662862" y="299471"/>
                  </a:lnTo>
                  <a:lnTo>
                    <a:pt x="667074" y="289465"/>
                  </a:lnTo>
                  <a:lnTo>
                    <a:pt x="668544" y="277933"/>
                  </a:lnTo>
                  <a:lnTo>
                    <a:pt x="665399" y="261979"/>
                  </a:lnTo>
                  <a:lnTo>
                    <a:pt x="656777" y="249074"/>
                  </a:lnTo>
                  <a:lnTo>
                    <a:pt x="648931" y="243815"/>
                  </a:lnTo>
                  <a:lnTo>
                    <a:pt x="605237" y="243815"/>
                  </a:lnTo>
                  <a:lnTo>
                    <a:pt x="498151" y="186934"/>
                  </a:lnTo>
                  <a:lnTo>
                    <a:pt x="498151" y="78054"/>
                  </a:lnTo>
                  <a:lnTo>
                    <a:pt x="508113" y="71738"/>
                  </a:lnTo>
                  <a:lnTo>
                    <a:pt x="515795" y="62990"/>
                  </a:lnTo>
                  <a:lnTo>
                    <a:pt x="520739" y="52421"/>
                  </a:lnTo>
                  <a:lnTo>
                    <a:pt x="522488" y="40645"/>
                  </a:lnTo>
                  <a:lnTo>
                    <a:pt x="519345" y="24690"/>
                  </a:lnTo>
                  <a:lnTo>
                    <a:pt x="510725" y="11786"/>
                  </a:lnTo>
                  <a:lnTo>
                    <a:pt x="497846" y="3149"/>
                  </a:lnTo>
                  <a:lnTo>
                    <a:pt x="481925" y="0"/>
                  </a:lnTo>
                  <a:close/>
                </a:path>
                <a:path w="668654" h="829310">
                  <a:moveTo>
                    <a:pt x="48679" y="237288"/>
                  </a:moveTo>
                  <a:lnTo>
                    <a:pt x="40566" y="237288"/>
                  </a:lnTo>
                  <a:lnTo>
                    <a:pt x="24644" y="240438"/>
                  </a:lnTo>
                  <a:lnTo>
                    <a:pt x="11764" y="249074"/>
                  </a:lnTo>
                  <a:lnTo>
                    <a:pt x="3143" y="261979"/>
                  </a:lnTo>
                  <a:lnTo>
                    <a:pt x="0" y="277933"/>
                  </a:lnTo>
                  <a:lnTo>
                    <a:pt x="1470" y="289491"/>
                  </a:lnTo>
                  <a:lnTo>
                    <a:pt x="5679" y="299674"/>
                  </a:lnTo>
                  <a:lnTo>
                    <a:pt x="12322" y="308333"/>
                  </a:lnTo>
                  <a:lnTo>
                    <a:pt x="21095" y="315315"/>
                  </a:lnTo>
                  <a:lnTo>
                    <a:pt x="21095" y="581856"/>
                  </a:lnTo>
                  <a:lnTo>
                    <a:pt x="12322" y="588128"/>
                  </a:lnTo>
                  <a:lnTo>
                    <a:pt x="5679" y="596686"/>
                  </a:lnTo>
                  <a:lnTo>
                    <a:pt x="1470" y="606769"/>
                  </a:lnTo>
                  <a:lnTo>
                    <a:pt x="0" y="617614"/>
                  </a:lnTo>
                  <a:lnTo>
                    <a:pt x="3143" y="633561"/>
                  </a:lnTo>
                  <a:lnTo>
                    <a:pt x="11764" y="646460"/>
                  </a:lnTo>
                  <a:lnTo>
                    <a:pt x="24644" y="655094"/>
                  </a:lnTo>
                  <a:lnTo>
                    <a:pt x="40566" y="658242"/>
                  </a:lnTo>
                  <a:lnTo>
                    <a:pt x="48679" y="658242"/>
                  </a:lnTo>
                  <a:lnTo>
                    <a:pt x="55171" y="656619"/>
                  </a:lnTo>
                  <a:lnTo>
                    <a:pt x="61660" y="651742"/>
                  </a:lnTo>
                  <a:lnTo>
                    <a:pt x="126245" y="651742"/>
                  </a:lnTo>
                  <a:lnTo>
                    <a:pt x="81134" y="625737"/>
                  </a:lnTo>
                  <a:lnTo>
                    <a:pt x="81134" y="617614"/>
                  </a:lnTo>
                  <a:lnTo>
                    <a:pt x="79106" y="604889"/>
                  </a:lnTo>
                  <a:lnTo>
                    <a:pt x="73426" y="593842"/>
                  </a:lnTo>
                  <a:lnTo>
                    <a:pt x="64703" y="584928"/>
                  </a:lnTo>
                  <a:lnTo>
                    <a:pt x="53544" y="578603"/>
                  </a:lnTo>
                  <a:lnTo>
                    <a:pt x="53544" y="316944"/>
                  </a:lnTo>
                  <a:lnTo>
                    <a:pt x="64703" y="310621"/>
                  </a:lnTo>
                  <a:lnTo>
                    <a:pt x="73426" y="301707"/>
                  </a:lnTo>
                  <a:lnTo>
                    <a:pt x="79106" y="290658"/>
                  </a:lnTo>
                  <a:lnTo>
                    <a:pt x="81134" y="277933"/>
                  </a:lnTo>
                  <a:lnTo>
                    <a:pt x="81134" y="276288"/>
                  </a:lnTo>
                  <a:lnTo>
                    <a:pt x="79508" y="274697"/>
                  </a:lnTo>
                  <a:lnTo>
                    <a:pt x="79508" y="271461"/>
                  </a:lnTo>
                  <a:lnTo>
                    <a:pt x="130664" y="243815"/>
                  </a:lnTo>
                  <a:lnTo>
                    <a:pt x="61660" y="243815"/>
                  </a:lnTo>
                  <a:lnTo>
                    <a:pt x="48679" y="237288"/>
                  </a:lnTo>
                  <a:close/>
                </a:path>
                <a:path w="668654" h="829310">
                  <a:moveTo>
                    <a:pt x="648894" y="651742"/>
                  </a:moveTo>
                  <a:lnTo>
                    <a:pt x="605237" y="651742"/>
                  </a:lnTo>
                  <a:lnTo>
                    <a:pt x="611754" y="656619"/>
                  </a:lnTo>
                  <a:lnTo>
                    <a:pt x="619859" y="658242"/>
                  </a:lnTo>
                  <a:lnTo>
                    <a:pt x="627964" y="658242"/>
                  </a:lnTo>
                  <a:lnTo>
                    <a:pt x="643893" y="655094"/>
                  </a:lnTo>
                  <a:lnTo>
                    <a:pt x="648894" y="651742"/>
                  </a:lnTo>
                  <a:close/>
                </a:path>
                <a:path w="668654" h="829310">
                  <a:moveTo>
                    <a:pt x="186604" y="0"/>
                  </a:moveTo>
                  <a:lnTo>
                    <a:pt x="170682" y="3149"/>
                  </a:lnTo>
                  <a:lnTo>
                    <a:pt x="157801" y="11786"/>
                  </a:lnTo>
                  <a:lnTo>
                    <a:pt x="149179" y="24690"/>
                  </a:lnTo>
                  <a:lnTo>
                    <a:pt x="146035" y="40645"/>
                  </a:lnTo>
                  <a:lnTo>
                    <a:pt x="147785" y="52421"/>
                  </a:lnTo>
                  <a:lnTo>
                    <a:pt x="152729" y="62990"/>
                  </a:lnTo>
                  <a:lnTo>
                    <a:pt x="160412" y="71738"/>
                  </a:lnTo>
                  <a:lnTo>
                    <a:pt x="170378" y="78054"/>
                  </a:lnTo>
                  <a:lnTo>
                    <a:pt x="170378" y="185289"/>
                  </a:lnTo>
                  <a:lnTo>
                    <a:pt x="61660" y="243815"/>
                  </a:lnTo>
                  <a:lnTo>
                    <a:pt x="130664" y="243815"/>
                  </a:lnTo>
                  <a:lnTo>
                    <a:pt x="202831" y="204816"/>
                  </a:lnTo>
                  <a:lnTo>
                    <a:pt x="202831" y="78054"/>
                  </a:lnTo>
                  <a:lnTo>
                    <a:pt x="212795" y="71738"/>
                  </a:lnTo>
                  <a:lnTo>
                    <a:pt x="220476" y="62990"/>
                  </a:lnTo>
                  <a:lnTo>
                    <a:pt x="225419" y="52421"/>
                  </a:lnTo>
                  <a:lnTo>
                    <a:pt x="227168" y="40645"/>
                  </a:lnTo>
                  <a:lnTo>
                    <a:pt x="224024" y="24690"/>
                  </a:lnTo>
                  <a:lnTo>
                    <a:pt x="215405" y="11786"/>
                  </a:lnTo>
                  <a:lnTo>
                    <a:pt x="202526" y="3149"/>
                  </a:lnTo>
                  <a:lnTo>
                    <a:pt x="186604" y="0"/>
                  </a:lnTo>
                  <a:close/>
                </a:path>
                <a:path w="668654" h="829310">
                  <a:moveTo>
                    <a:pt x="627964" y="237288"/>
                  </a:moveTo>
                  <a:lnTo>
                    <a:pt x="619859" y="237288"/>
                  </a:lnTo>
                  <a:lnTo>
                    <a:pt x="611754" y="240579"/>
                  </a:lnTo>
                  <a:lnTo>
                    <a:pt x="605237" y="243815"/>
                  </a:lnTo>
                  <a:lnTo>
                    <a:pt x="648931" y="243815"/>
                  </a:lnTo>
                  <a:lnTo>
                    <a:pt x="643893" y="240438"/>
                  </a:lnTo>
                  <a:lnTo>
                    <a:pt x="627964" y="237288"/>
                  </a:lnTo>
                  <a:close/>
                </a:path>
              </a:pathLst>
            </a:custGeom>
            <a:solidFill>
              <a:srgbClr val="1D70B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1164899" y="466804"/>
              <a:ext cx="115207" cy="11540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95725" y="236043"/>
              <a:ext cx="79511" cy="7964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293085" y="336806"/>
              <a:ext cx="95738" cy="9588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150293" y="954381"/>
              <a:ext cx="193092" cy="20315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1054555" y="855264"/>
              <a:ext cx="386080" cy="388620"/>
            </a:xfrm>
            <a:custGeom>
              <a:avLst/>
              <a:gdLst/>
              <a:ahLst/>
              <a:cxnLst/>
              <a:rect l="l" t="t" r="r" b="b"/>
              <a:pathLst>
                <a:path w="386079" h="388619">
                  <a:moveTo>
                    <a:pt x="193097" y="0"/>
                  </a:moveTo>
                  <a:lnTo>
                    <a:pt x="148680" y="5173"/>
                  </a:lnTo>
                  <a:lnTo>
                    <a:pt x="107980" y="19896"/>
                  </a:lnTo>
                  <a:lnTo>
                    <a:pt x="72135" y="42977"/>
                  </a:lnTo>
                  <a:lnTo>
                    <a:pt x="42279" y="73222"/>
                  </a:lnTo>
                  <a:lnTo>
                    <a:pt x="19547" y="109438"/>
                  </a:lnTo>
                  <a:lnTo>
                    <a:pt x="5076" y="150431"/>
                  </a:lnTo>
                  <a:lnTo>
                    <a:pt x="0" y="195008"/>
                  </a:lnTo>
                  <a:lnTo>
                    <a:pt x="5076" y="238984"/>
                  </a:lnTo>
                  <a:lnTo>
                    <a:pt x="19547" y="279548"/>
                  </a:lnTo>
                  <a:lnTo>
                    <a:pt x="42279" y="315478"/>
                  </a:lnTo>
                  <a:lnTo>
                    <a:pt x="72135" y="345552"/>
                  </a:lnTo>
                  <a:lnTo>
                    <a:pt x="107980" y="368547"/>
                  </a:lnTo>
                  <a:lnTo>
                    <a:pt x="148680" y="383241"/>
                  </a:lnTo>
                  <a:lnTo>
                    <a:pt x="193097" y="388410"/>
                  </a:lnTo>
                  <a:lnTo>
                    <a:pt x="224080" y="385059"/>
                  </a:lnTo>
                  <a:lnTo>
                    <a:pt x="253541" y="377440"/>
                  </a:lnTo>
                  <a:lnTo>
                    <a:pt x="281175" y="365555"/>
                  </a:lnTo>
                  <a:lnTo>
                    <a:pt x="296414" y="355905"/>
                  </a:lnTo>
                  <a:lnTo>
                    <a:pt x="193097" y="355905"/>
                  </a:lnTo>
                  <a:lnTo>
                    <a:pt x="150090" y="350081"/>
                  </a:lnTo>
                  <a:lnTo>
                    <a:pt x="111365" y="333694"/>
                  </a:lnTo>
                  <a:lnTo>
                    <a:pt x="78498" y="308368"/>
                  </a:lnTo>
                  <a:lnTo>
                    <a:pt x="53069" y="275728"/>
                  </a:lnTo>
                  <a:lnTo>
                    <a:pt x="36654" y="237400"/>
                  </a:lnTo>
                  <a:lnTo>
                    <a:pt x="30832" y="195008"/>
                  </a:lnTo>
                  <a:lnTo>
                    <a:pt x="36654" y="151930"/>
                  </a:lnTo>
                  <a:lnTo>
                    <a:pt x="53069" y="113140"/>
                  </a:lnTo>
                  <a:lnTo>
                    <a:pt x="78498" y="80218"/>
                  </a:lnTo>
                  <a:lnTo>
                    <a:pt x="111365" y="54746"/>
                  </a:lnTo>
                  <a:lnTo>
                    <a:pt x="150090" y="38304"/>
                  </a:lnTo>
                  <a:lnTo>
                    <a:pt x="193097" y="32472"/>
                  </a:lnTo>
                  <a:lnTo>
                    <a:pt x="326658" y="32472"/>
                  </a:lnTo>
                  <a:lnTo>
                    <a:pt x="324531" y="30881"/>
                  </a:lnTo>
                  <a:lnTo>
                    <a:pt x="295325" y="30881"/>
                  </a:lnTo>
                  <a:lnTo>
                    <a:pt x="271365" y="17818"/>
                  </a:lnTo>
                  <a:lnTo>
                    <a:pt x="246035" y="8118"/>
                  </a:lnTo>
                  <a:lnTo>
                    <a:pt x="219794" y="2079"/>
                  </a:lnTo>
                  <a:lnTo>
                    <a:pt x="193097" y="0"/>
                  </a:lnTo>
                  <a:close/>
                </a:path>
                <a:path w="386079" h="388619">
                  <a:moveTo>
                    <a:pt x="376453" y="162503"/>
                  </a:moveTo>
                  <a:lnTo>
                    <a:pt x="363474" y="162503"/>
                  </a:lnTo>
                  <a:lnTo>
                    <a:pt x="353737" y="172256"/>
                  </a:lnTo>
                  <a:lnTo>
                    <a:pt x="353737" y="180379"/>
                  </a:lnTo>
                  <a:lnTo>
                    <a:pt x="354356" y="190562"/>
                  </a:lnTo>
                  <a:lnTo>
                    <a:pt x="354305" y="202930"/>
                  </a:lnTo>
                  <a:lnTo>
                    <a:pt x="340756" y="257985"/>
                  </a:lnTo>
                  <a:lnTo>
                    <a:pt x="318042" y="295771"/>
                  </a:lnTo>
                  <a:lnTo>
                    <a:pt x="270907" y="335338"/>
                  </a:lnTo>
                  <a:lnTo>
                    <a:pt x="220657" y="353518"/>
                  </a:lnTo>
                  <a:lnTo>
                    <a:pt x="193097" y="355905"/>
                  </a:lnTo>
                  <a:lnTo>
                    <a:pt x="296414" y="355905"/>
                  </a:lnTo>
                  <a:lnTo>
                    <a:pt x="334268" y="325023"/>
                  </a:lnTo>
                  <a:lnTo>
                    <a:pt x="367937" y="275658"/>
                  </a:lnTo>
                  <a:lnTo>
                    <a:pt x="384569" y="217761"/>
                  </a:lnTo>
                  <a:lnTo>
                    <a:pt x="385937" y="190562"/>
                  </a:lnTo>
                  <a:lnTo>
                    <a:pt x="384569" y="177127"/>
                  </a:lnTo>
                  <a:lnTo>
                    <a:pt x="384569" y="172256"/>
                  </a:lnTo>
                  <a:lnTo>
                    <a:pt x="382948" y="169003"/>
                  </a:lnTo>
                  <a:lnTo>
                    <a:pt x="376453" y="162503"/>
                  </a:lnTo>
                  <a:close/>
                </a:path>
                <a:path w="386079" h="388619">
                  <a:moveTo>
                    <a:pt x="326658" y="32472"/>
                  </a:moveTo>
                  <a:lnTo>
                    <a:pt x="193097" y="32472"/>
                  </a:lnTo>
                  <a:lnTo>
                    <a:pt x="214952" y="33998"/>
                  </a:lnTo>
                  <a:lnTo>
                    <a:pt x="236503" y="38573"/>
                  </a:lnTo>
                  <a:lnTo>
                    <a:pt x="257445" y="46196"/>
                  </a:lnTo>
                  <a:lnTo>
                    <a:pt x="277472" y="56864"/>
                  </a:lnTo>
                  <a:lnTo>
                    <a:pt x="277472" y="58488"/>
                  </a:lnTo>
                  <a:lnTo>
                    <a:pt x="279780" y="71108"/>
                  </a:lnTo>
                  <a:lnTo>
                    <a:pt x="286196" y="81444"/>
                  </a:lnTo>
                  <a:lnTo>
                    <a:pt x="295958" y="88428"/>
                  </a:lnTo>
                  <a:lnTo>
                    <a:pt x="308305" y="90993"/>
                  </a:lnTo>
                  <a:lnTo>
                    <a:pt x="320905" y="88428"/>
                  </a:lnTo>
                  <a:lnTo>
                    <a:pt x="331224" y="81444"/>
                  </a:lnTo>
                  <a:lnTo>
                    <a:pt x="338197" y="71108"/>
                  </a:lnTo>
                  <a:lnTo>
                    <a:pt x="340758" y="58488"/>
                  </a:lnTo>
                  <a:lnTo>
                    <a:pt x="340758" y="50359"/>
                  </a:lnTo>
                  <a:lnTo>
                    <a:pt x="337510" y="42235"/>
                  </a:lnTo>
                  <a:lnTo>
                    <a:pt x="331021" y="35735"/>
                  </a:lnTo>
                  <a:lnTo>
                    <a:pt x="326658" y="32472"/>
                  </a:lnTo>
                  <a:close/>
                </a:path>
                <a:path w="386079" h="388619">
                  <a:moveTo>
                    <a:pt x="316415" y="27590"/>
                  </a:moveTo>
                  <a:lnTo>
                    <a:pt x="298567" y="27590"/>
                  </a:lnTo>
                  <a:lnTo>
                    <a:pt x="295325" y="30881"/>
                  </a:lnTo>
                  <a:lnTo>
                    <a:pt x="324531" y="30881"/>
                  </a:lnTo>
                  <a:lnTo>
                    <a:pt x="316415" y="27590"/>
                  </a:lnTo>
                  <a:close/>
                </a:path>
              </a:pathLst>
            </a:custGeom>
            <a:solidFill>
              <a:srgbClr val="1D70B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Заголовок 10"/>
          <p:cNvSpPr>
            <a:spLocks noGrp="1"/>
          </p:cNvSpPr>
          <p:nvPr>
            <p:ph type="title"/>
          </p:nvPr>
        </p:nvSpPr>
        <p:spPr>
          <a:xfrm>
            <a:off x="623569" y="380314"/>
            <a:ext cx="9411335" cy="430530"/>
          </a:xfrm>
        </p:spPr>
        <p:txBody>
          <a:bodyPr>
            <a:normAutofit fontScale="90000"/>
          </a:bodyPr>
          <a:lstStyle/>
          <a:p>
            <a:r>
              <a:rPr lang="ru-RU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Характеристика и показатели</a:t>
            </a:r>
            <a:r>
              <a:rPr lang="ru-RU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праймеров</a:t>
            </a:r>
            <a:r>
              <a:rPr lang="ru-RU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Номер слайда 13"/>
          <p:cNvSpPr>
            <a:spLocks noGrp="1"/>
          </p:cNvSpPr>
          <p:nvPr>
            <p:ph type="sldNum" sz="quarter" idx="12"/>
          </p:nvPr>
        </p:nvSpPr>
        <p:spPr>
          <a:xfrm>
            <a:off x="11240768" y="6397751"/>
            <a:ext cx="373931" cy="274955"/>
          </a:xfrm>
        </p:spPr>
        <p:txBody>
          <a:bodyPr/>
          <a:lstStyle/>
          <a:p>
            <a:pPr marL="38100">
              <a:lnSpc>
                <a:spcPts val="2145"/>
              </a:lnSpc>
            </a:pPr>
            <a:fld id="{81D60167-4931-47E6-BA6A-407CBD079E47}" type="slidenum">
              <a:rPr lang="ru-RU" sz="2400" b="0" smtClean="0"/>
            </a:fld>
            <a:endParaRPr lang="ru-RU" sz="2400" b="0" dirty="0"/>
          </a:p>
        </p:txBody>
      </p:sp>
      <p:sp>
        <p:nvSpPr>
          <p:cNvPr id="15" name="TextBox 14"/>
          <p:cNvSpPr txBox="1"/>
          <p:nvPr/>
        </p:nvSpPr>
        <p:spPr>
          <a:xfrm>
            <a:off x="3143672" y="6028419"/>
            <a:ext cx="5112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Таблица термодинамических параметров</a:t>
            </a:r>
            <a:endParaRPr lang="ru-RU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/>
        </p:nvGraphicFramePr>
        <p:xfrm>
          <a:off x="1686022" y="1176172"/>
          <a:ext cx="8027868" cy="4821374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675956"/>
                <a:gridCol w="2675956"/>
                <a:gridCol w="2675956"/>
              </a:tblGrid>
              <a:tr h="395576">
                <a:tc>
                  <a:txBody>
                    <a:bodyPr/>
                    <a:lstStyle/>
                    <a:p>
                      <a:pPr rtl="0"/>
                      <a:r>
                        <a:rPr lang="ru-RU" sz="1400">
                          <a:effectLst/>
                        </a:rPr>
                        <a:t>Характеристика / Показатель</a:t>
                      </a:r>
                      <a:endParaRPr lang="ru-RU" sz="1400">
                        <a:effectLst/>
                      </a:endParaRPr>
                    </a:p>
                  </a:txBody>
                  <a:tcPr marL="69808" marR="69808" marT="93077" marB="9307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>
                          <a:effectLst/>
                        </a:rPr>
                        <a:t>Forward </a:t>
                      </a:r>
                      <a:r>
                        <a:rPr lang="ru-RU" sz="1400">
                          <a:effectLst/>
                        </a:rPr>
                        <a:t>праймер (прямой)</a:t>
                      </a:r>
                      <a:endParaRPr lang="ru-RU" sz="1400">
                        <a:effectLst/>
                      </a:endParaRPr>
                    </a:p>
                  </a:txBody>
                  <a:tcPr marL="69808" marR="69808" marT="93077" marB="9307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 dirty="0">
                          <a:effectLst/>
                        </a:rPr>
                        <a:t>Reverse </a:t>
                      </a:r>
                      <a:r>
                        <a:rPr lang="ru-RU" sz="1400" dirty="0" err="1">
                          <a:effectLst/>
                        </a:rPr>
                        <a:t>праймер</a:t>
                      </a:r>
                      <a:r>
                        <a:rPr lang="ru-RU" sz="1400" dirty="0">
                          <a:effectLst/>
                        </a:rPr>
                        <a:t> (обратный)</a:t>
                      </a:r>
                      <a:endParaRPr lang="ru-RU" sz="1400" dirty="0">
                        <a:effectLst/>
                      </a:endParaRPr>
                    </a:p>
                  </a:txBody>
                  <a:tcPr marL="69808" marR="69808" marT="93077" marB="93077" anchor="ctr"/>
                </a:tc>
              </a:tr>
              <a:tr h="395576">
                <a:tc>
                  <a:txBody>
                    <a:bodyPr/>
                    <a:lstStyle/>
                    <a:p>
                      <a:pPr rtl="0"/>
                      <a:r>
                        <a:rPr lang="ru-RU" sz="1400">
                          <a:effectLst/>
                        </a:rPr>
                        <a:t>Последовательность (5' → 3')</a:t>
                      </a:r>
                      <a:endParaRPr lang="ru-RU" sz="1400">
                        <a:effectLst/>
                      </a:endParaRPr>
                    </a:p>
                  </a:txBody>
                  <a:tcPr marL="69808" marR="69808" marT="93077" marB="9307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 dirty="0">
                          <a:effectLst/>
                        </a:rPr>
                        <a:t>GGTGTCCAAGTGTGCTTTGT</a:t>
                      </a:r>
                      <a:endParaRPr lang="en-US" sz="1400" dirty="0">
                        <a:effectLst/>
                      </a:endParaRPr>
                    </a:p>
                  </a:txBody>
                  <a:tcPr marL="69808" marR="69808" marT="93077" marB="9307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>
                          <a:effectLst/>
                        </a:rPr>
                        <a:t>CCTTGATGTGTCTGCCTTCT</a:t>
                      </a:r>
                      <a:endParaRPr lang="en-US" sz="1400">
                        <a:effectLst/>
                      </a:endParaRPr>
                    </a:p>
                  </a:txBody>
                  <a:tcPr marL="69808" marR="69808" marT="93077" marB="93077" anchor="ctr"/>
                </a:tc>
              </a:tr>
              <a:tr h="395576">
                <a:tc>
                  <a:txBody>
                    <a:bodyPr/>
                    <a:lstStyle/>
                    <a:p>
                      <a:pPr rtl="0"/>
                      <a:r>
                        <a:rPr lang="ru-RU" sz="1400">
                          <a:effectLst/>
                        </a:rPr>
                        <a:t>Длина (нт)</a:t>
                      </a:r>
                      <a:endParaRPr lang="ru-RU" sz="1400">
                        <a:effectLst/>
                      </a:endParaRPr>
                    </a:p>
                  </a:txBody>
                  <a:tcPr marL="69808" marR="69808" marT="93077" marB="9307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sz="1400">
                          <a:effectLst/>
                        </a:rPr>
                        <a:t>20 нуклеотидов</a:t>
                      </a:r>
                      <a:endParaRPr lang="ru-RU" sz="1400">
                        <a:effectLst/>
                      </a:endParaRPr>
                    </a:p>
                  </a:txBody>
                  <a:tcPr marL="69808" marR="69808" marT="93077" marB="9307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sz="1400">
                          <a:effectLst/>
                        </a:rPr>
                        <a:t>20 нуклеотидов</a:t>
                      </a:r>
                      <a:endParaRPr lang="ru-RU" sz="1400">
                        <a:effectLst/>
                      </a:endParaRPr>
                    </a:p>
                  </a:txBody>
                  <a:tcPr marL="69808" marR="69808" marT="93077" marB="93077" anchor="ctr"/>
                </a:tc>
              </a:tr>
              <a:tr h="395576">
                <a:tc>
                  <a:txBody>
                    <a:bodyPr/>
                    <a:lstStyle/>
                    <a:p>
                      <a:pPr rtl="0"/>
                      <a:r>
                        <a:rPr lang="ru-RU" sz="1400">
                          <a:effectLst/>
                        </a:rPr>
                        <a:t>Объект отжига</a:t>
                      </a:r>
                      <a:endParaRPr lang="ru-RU" sz="1400">
                        <a:effectLst/>
                      </a:endParaRPr>
                    </a:p>
                  </a:txBody>
                  <a:tcPr marL="69808" marR="69808" marT="93077" marB="9307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sz="1400">
                          <a:effectLst/>
                        </a:rPr>
                        <a:t>Экзонный стык гена </a:t>
                      </a:r>
                      <a:r>
                        <a:rPr lang="en-US" sz="1400">
                          <a:effectLst/>
                        </a:rPr>
                        <a:t>TOP2A</a:t>
                      </a:r>
                      <a:endParaRPr lang="en-US" sz="1400">
                        <a:effectLst/>
                      </a:endParaRPr>
                    </a:p>
                  </a:txBody>
                  <a:tcPr marL="69808" marR="69808" marT="93077" marB="9307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sz="1400">
                          <a:effectLst/>
                        </a:rPr>
                        <a:t>Экзонный стык гена </a:t>
                      </a:r>
                      <a:r>
                        <a:rPr lang="en-US" sz="1400">
                          <a:effectLst/>
                        </a:rPr>
                        <a:t>TOP2A</a:t>
                      </a:r>
                      <a:endParaRPr lang="en-US" sz="1400">
                        <a:effectLst/>
                      </a:endParaRPr>
                    </a:p>
                  </a:txBody>
                  <a:tcPr marL="69808" marR="69808" marT="93077" marB="93077" anchor="ctr"/>
                </a:tc>
              </a:tr>
              <a:tr h="395576">
                <a:tc>
                  <a:txBody>
                    <a:bodyPr/>
                    <a:lstStyle/>
                    <a:p>
                      <a:pPr rtl="0"/>
                      <a:r>
                        <a:rPr lang="ru-RU" sz="1400">
                          <a:effectLst/>
                        </a:rPr>
                        <a:t>Температура плавления (</a:t>
                      </a:r>
                      <a:r>
                        <a:rPr lang="en-US" sz="1400">
                          <a:effectLst/>
                        </a:rPr>
                        <a:t>Tm), °C</a:t>
                      </a:r>
                      <a:endParaRPr lang="en-US" sz="1400">
                        <a:effectLst/>
                      </a:endParaRPr>
                    </a:p>
                  </a:txBody>
                  <a:tcPr marL="69808" marR="69808" marT="93077" marB="9307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>
                          <a:effectLst/>
                        </a:rPr>
                        <a:t>60.2 °C</a:t>
                      </a:r>
                      <a:endParaRPr lang="en-US" sz="1400">
                        <a:effectLst/>
                      </a:endParaRPr>
                    </a:p>
                  </a:txBody>
                  <a:tcPr marL="69808" marR="69808" marT="93077" marB="9307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>
                          <a:effectLst/>
                        </a:rPr>
                        <a:t>59.8 °C</a:t>
                      </a:r>
                      <a:endParaRPr lang="en-US" sz="1400">
                        <a:effectLst/>
                      </a:endParaRPr>
                    </a:p>
                  </a:txBody>
                  <a:tcPr marL="69808" marR="69808" marT="93077" marB="93077" anchor="ctr"/>
                </a:tc>
              </a:tr>
              <a:tr h="395576">
                <a:tc>
                  <a:txBody>
                    <a:bodyPr/>
                    <a:lstStyle/>
                    <a:p>
                      <a:pPr rtl="0"/>
                      <a:r>
                        <a:rPr lang="en-US" sz="1400">
                          <a:effectLst/>
                        </a:rPr>
                        <a:t>GC-</a:t>
                      </a:r>
                      <a:r>
                        <a:rPr lang="ru-RU" sz="1400">
                          <a:effectLst/>
                        </a:rPr>
                        <a:t>состав, %</a:t>
                      </a:r>
                      <a:endParaRPr lang="ru-RU" sz="1400">
                        <a:effectLst/>
                      </a:endParaRPr>
                    </a:p>
                  </a:txBody>
                  <a:tcPr marL="69808" marR="69808" marT="93077" marB="9307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sz="1400">
                          <a:effectLst/>
                        </a:rPr>
                        <a:t>50 %</a:t>
                      </a:r>
                      <a:endParaRPr lang="ru-RU" sz="1400">
                        <a:effectLst/>
                      </a:endParaRPr>
                    </a:p>
                  </a:txBody>
                  <a:tcPr marL="69808" marR="69808" marT="93077" marB="9307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sz="1400">
                          <a:effectLst/>
                        </a:rPr>
                        <a:t>50 %</a:t>
                      </a:r>
                      <a:endParaRPr lang="ru-RU" sz="1400">
                        <a:effectLst/>
                      </a:endParaRPr>
                    </a:p>
                  </a:txBody>
                  <a:tcPr marL="69808" marR="69808" marT="93077" marB="93077" anchor="ctr"/>
                </a:tc>
              </a:tr>
              <a:tr h="395576">
                <a:tc>
                  <a:txBody>
                    <a:bodyPr/>
                    <a:lstStyle/>
                    <a:p>
                      <a:pPr rtl="0"/>
                      <a:r>
                        <a:rPr lang="ru-RU" sz="1400">
                          <a:effectLst/>
                        </a:rPr>
                        <a:t>Молекулярная масса, г/моль</a:t>
                      </a:r>
                      <a:endParaRPr lang="ru-RU" sz="1400">
                        <a:effectLst/>
                      </a:endParaRPr>
                    </a:p>
                  </a:txBody>
                  <a:tcPr marL="69808" marR="69808" marT="93077" marB="9307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sz="1400" dirty="0">
                          <a:effectLst/>
                        </a:rPr>
                        <a:t>6182.4</a:t>
                      </a:r>
                      <a:endParaRPr lang="ru-RU" sz="1400" dirty="0">
                        <a:effectLst/>
                      </a:endParaRPr>
                    </a:p>
                  </a:txBody>
                  <a:tcPr marL="69808" marR="69808" marT="93077" marB="9307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sz="1400">
                          <a:effectLst/>
                        </a:rPr>
                        <a:t>6125.1</a:t>
                      </a:r>
                      <a:endParaRPr lang="ru-RU" sz="1400">
                        <a:effectLst/>
                      </a:endParaRPr>
                    </a:p>
                  </a:txBody>
                  <a:tcPr marL="69808" marR="69808" marT="93077" marB="93077" anchor="ctr"/>
                </a:tc>
              </a:tr>
              <a:tr h="395576">
                <a:tc>
                  <a:txBody>
                    <a:bodyPr/>
                    <a:lstStyle/>
                    <a:p>
                      <a:pPr rtl="0"/>
                      <a:r>
                        <a:rPr lang="el-GR" sz="1400">
                          <a:effectLst/>
                        </a:rPr>
                        <a:t>Δ</a:t>
                      </a:r>
                      <a:r>
                        <a:rPr lang="en-US" sz="1400">
                          <a:effectLst/>
                        </a:rPr>
                        <a:t>G </a:t>
                      </a:r>
                      <a:r>
                        <a:rPr lang="ru-RU" sz="1400">
                          <a:effectLst/>
                        </a:rPr>
                        <a:t>самокомплементарности</a:t>
                      </a:r>
                      <a:endParaRPr lang="ru-RU" sz="1400">
                        <a:effectLst/>
                      </a:endParaRPr>
                    </a:p>
                  </a:txBody>
                  <a:tcPr marL="69808" marR="69808" marT="93077" marB="9307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sz="1400">
                          <a:effectLst/>
                        </a:rPr>
                        <a:t>-1.2 ккал/моль (норма)</a:t>
                      </a:r>
                      <a:endParaRPr lang="ru-RU" sz="1400">
                        <a:effectLst/>
                      </a:endParaRPr>
                    </a:p>
                  </a:txBody>
                  <a:tcPr marL="69808" marR="69808" marT="93077" marB="9307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sz="1400">
                          <a:effectLst/>
                        </a:rPr>
                        <a:t>-0.8 ккал/моль (норма)</a:t>
                      </a:r>
                      <a:endParaRPr lang="ru-RU" sz="1400">
                        <a:effectLst/>
                      </a:endParaRPr>
                    </a:p>
                  </a:txBody>
                  <a:tcPr marL="69808" marR="69808" marT="93077" marB="93077" anchor="ctr"/>
                </a:tc>
              </a:tr>
              <a:tr h="395576">
                <a:tc>
                  <a:txBody>
                    <a:bodyPr/>
                    <a:lstStyle/>
                    <a:p>
                      <a:pPr rtl="0"/>
                      <a:r>
                        <a:rPr lang="ru-RU" sz="1400">
                          <a:effectLst/>
                        </a:rPr>
                        <a:t>Вторичные структуры (шпильки)</a:t>
                      </a:r>
                      <a:endParaRPr lang="ru-RU" sz="1400">
                        <a:effectLst/>
                      </a:endParaRPr>
                    </a:p>
                  </a:txBody>
                  <a:tcPr marL="69808" marR="69808" marT="93077" marB="9307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sz="1400">
                          <a:effectLst/>
                        </a:rPr>
                        <a:t>Отсутствуют</a:t>
                      </a:r>
                      <a:endParaRPr lang="ru-RU" sz="1400">
                        <a:effectLst/>
                      </a:endParaRPr>
                    </a:p>
                  </a:txBody>
                  <a:tcPr marL="69808" marR="69808" marT="93077" marB="9307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sz="1400">
                          <a:effectLst/>
                        </a:rPr>
                        <a:t>Отсутствуют</a:t>
                      </a:r>
                      <a:endParaRPr lang="ru-RU" sz="1400">
                        <a:effectLst/>
                      </a:endParaRPr>
                    </a:p>
                  </a:txBody>
                  <a:tcPr marL="69808" marR="69808" marT="93077" marB="93077" anchor="ctr"/>
                </a:tc>
              </a:tr>
              <a:tr h="395576">
                <a:tc>
                  <a:txBody>
                    <a:bodyPr/>
                    <a:lstStyle/>
                    <a:p>
                      <a:pPr rtl="0"/>
                      <a:r>
                        <a:rPr lang="ru-RU" sz="1400">
                          <a:effectLst/>
                        </a:rPr>
                        <a:t>Специфичность (</a:t>
                      </a:r>
                      <a:r>
                        <a:rPr lang="en-US" sz="1400">
                          <a:effectLst/>
                        </a:rPr>
                        <a:t>BLAST)</a:t>
                      </a:r>
                      <a:endParaRPr lang="en-US" sz="1400">
                        <a:effectLst/>
                      </a:endParaRPr>
                    </a:p>
                  </a:txBody>
                  <a:tcPr marL="69808" marR="69808" marT="93077" marB="9307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sz="1400">
                          <a:effectLst/>
                        </a:rPr>
                        <a:t>Высокая (100% к </a:t>
                      </a:r>
                      <a:r>
                        <a:rPr lang="en-US" sz="1400">
                          <a:effectLst/>
                        </a:rPr>
                        <a:t>TOP2A)</a:t>
                      </a:r>
                      <a:endParaRPr lang="en-US" sz="1400">
                        <a:effectLst/>
                      </a:endParaRPr>
                    </a:p>
                  </a:txBody>
                  <a:tcPr marL="69808" marR="69808" marT="93077" marB="9307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sz="1400">
                          <a:effectLst/>
                        </a:rPr>
                        <a:t>Высокая (100% к </a:t>
                      </a:r>
                      <a:r>
                        <a:rPr lang="en-US" sz="1400">
                          <a:effectLst/>
                        </a:rPr>
                        <a:t>TOP2A)</a:t>
                      </a:r>
                      <a:endParaRPr lang="en-US" sz="1400">
                        <a:effectLst/>
                      </a:endParaRPr>
                    </a:p>
                  </a:txBody>
                  <a:tcPr marL="69808" marR="69808" marT="93077" marB="93077" anchor="ctr"/>
                </a:tc>
              </a:tr>
              <a:tr h="395576">
                <a:tc>
                  <a:txBody>
                    <a:bodyPr/>
                    <a:lstStyle/>
                    <a:p>
                      <a:pPr rtl="0"/>
                      <a:r>
                        <a:rPr lang="ru-RU" sz="1400">
                          <a:effectLst/>
                        </a:rPr>
                        <a:t>Ожидаемый размер продукта</a:t>
                      </a:r>
                      <a:endParaRPr lang="ru-RU" sz="1400">
                        <a:effectLst/>
                      </a:endParaRPr>
                    </a:p>
                  </a:txBody>
                  <a:tcPr marL="69808" marR="69808" marT="93077" marB="9307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sz="1400" dirty="0">
                          <a:effectLst/>
                        </a:rPr>
                        <a:t>150 пар нуклеотидов (</a:t>
                      </a:r>
                      <a:r>
                        <a:rPr lang="ru-RU" sz="1400" dirty="0" err="1">
                          <a:effectLst/>
                        </a:rPr>
                        <a:t>п.н</a:t>
                      </a:r>
                      <a:r>
                        <a:rPr lang="ru-RU" sz="1400" dirty="0">
                          <a:effectLst/>
                        </a:rPr>
                        <a:t>.)</a:t>
                      </a:r>
                      <a:endParaRPr lang="ru-RU" sz="1400" dirty="0">
                        <a:effectLst/>
                      </a:endParaRPr>
                    </a:p>
                  </a:txBody>
                  <a:tcPr marL="69808" marR="69808" marT="93077" marB="9307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sz="1400" dirty="0">
                          <a:effectLst/>
                        </a:rPr>
                        <a:t>—</a:t>
                      </a:r>
                      <a:endParaRPr lang="ru-RU" sz="1400" dirty="0">
                        <a:effectLst/>
                      </a:endParaRPr>
                    </a:p>
                  </a:txBody>
                  <a:tcPr marL="69808" marR="69808" marT="93077" marB="93077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10944357" y="238303"/>
            <a:ext cx="668655" cy="1195070"/>
            <a:chOff x="10913388" y="236043"/>
            <a:chExt cx="668655" cy="1195070"/>
          </a:xfrm>
        </p:grpSpPr>
        <p:sp>
          <p:nvSpPr>
            <p:cNvPr id="5" name="object 5"/>
            <p:cNvSpPr/>
            <p:nvPr/>
          </p:nvSpPr>
          <p:spPr>
            <a:xfrm>
              <a:off x="10913388" y="601685"/>
              <a:ext cx="668655" cy="829310"/>
            </a:xfrm>
            <a:custGeom>
              <a:avLst/>
              <a:gdLst/>
              <a:ahLst/>
              <a:cxnLst/>
              <a:rect l="l" t="t" r="r" b="b"/>
              <a:pathLst>
                <a:path w="668654" h="829310">
                  <a:moveTo>
                    <a:pt x="126245" y="651742"/>
                  </a:moveTo>
                  <a:lnTo>
                    <a:pt x="61660" y="651742"/>
                  </a:lnTo>
                  <a:lnTo>
                    <a:pt x="293695" y="785010"/>
                  </a:lnTo>
                  <a:lnTo>
                    <a:pt x="293695" y="788261"/>
                  </a:lnTo>
                  <a:lnTo>
                    <a:pt x="296840" y="803522"/>
                  </a:lnTo>
                  <a:lnTo>
                    <a:pt x="305461" y="816499"/>
                  </a:lnTo>
                  <a:lnTo>
                    <a:pt x="318342" y="825514"/>
                  </a:lnTo>
                  <a:lnTo>
                    <a:pt x="334264" y="828892"/>
                  </a:lnTo>
                  <a:lnTo>
                    <a:pt x="350186" y="825514"/>
                  </a:lnTo>
                  <a:lnTo>
                    <a:pt x="363065" y="816499"/>
                  </a:lnTo>
                  <a:lnTo>
                    <a:pt x="371685" y="803522"/>
                  </a:lnTo>
                  <a:lnTo>
                    <a:pt x="374828" y="788261"/>
                  </a:lnTo>
                  <a:lnTo>
                    <a:pt x="374828" y="785010"/>
                  </a:lnTo>
                  <a:lnTo>
                    <a:pt x="425403" y="755758"/>
                  </a:lnTo>
                  <a:lnTo>
                    <a:pt x="306680" y="755758"/>
                  </a:lnTo>
                  <a:lnTo>
                    <a:pt x="126245" y="651742"/>
                  </a:lnTo>
                  <a:close/>
                </a:path>
                <a:path w="668654" h="829310">
                  <a:moveTo>
                    <a:pt x="334061" y="747226"/>
                  </a:moveTo>
                  <a:lnTo>
                    <a:pt x="319838" y="749359"/>
                  </a:lnTo>
                  <a:lnTo>
                    <a:pt x="306680" y="755758"/>
                  </a:lnTo>
                  <a:lnTo>
                    <a:pt x="360223" y="755758"/>
                  </a:lnTo>
                  <a:lnTo>
                    <a:pt x="347979" y="749359"/>
                  </a:lnTo>
                  <a:lnTo>
                    <a:pt x="334061" y="747226"/>
                  </a:lnTo>
                  <a:close/>
                </a:path>
                <a:path w="668654" h="829310">
                  <a:moveTo>
                    <a:pt x="481925" y="0"/>
                  </a:moveTo>
                  <a:lnTo>
                    <a:pt x="466002" y="3149"/>
                  </a:lnTo>
                  <a:lnTo>
                    <a:pt x="453122" y="11786"/>
                  </a:lnTo>
                  <a:lnTo>
                    <a:pt x="444500" y="24690"/>
                  </a:lnTo>
                  <a:lnTo>
                    <a:pt x="441355" y="40645"/>
                  </a:lnTo>
                  <a:lnTo>
                    <a:pt x="443105" y="52421"/>
                  </a:lnTo>
                  <a:lnTo>
                    <a:pt x="448050" y="62990"/>
                  </a:lnTo>
                  <a:lnTo>
                    <a:pt x="455733" y="71738"/>
                  </a:lnTo>
                  <a:lnTo>
                    <a:pt x="465698" y="78054"/>
                  </a:lnTo>
                  <a:lnTo>
                    <a:pt x="465698" y="206407"/>
                  </a:lnTo>
                  <a:lnTo>
                    <a:pt x="587384" y="271461"/>
                  </a:lnTo>
                  <a:lnTo>
                    <a:pt x="587384" y="274697"/>
                  </a:lnTo>
                  <a:lnTo>
                    <a:pt x="585796" y="276288"/>
                  </a:lnTo>
                  <a:lnTo>
                    <a:pt x="585796" y="277933"/>
                  </a:lnTo>
                  <a:lnTo>
                    <a:pt x="587846" y="290887"/>
                  </a:lnTo>
                  <a:lnTo>
                    <a:pt x="593695" y="302316"/>
                  </a:lnTo>
                  <a:lnTo>
                    <a:pt x="602892" y="311306"/>
                  </a:lnTo>
                  <a:lnTo>
                    <a:pt x="614985" y="316944"/>
                  </a:lnTo>
                  <a:lnTo>
                    <a:pt x="614985" y="578603"/>
                  </a:lnTo>
                  <a:lnTo>
                    <a:pt x="602892" y="584928"/>
                  </a:lnTo>
                  <a:lnTo>
                    <a:pt x="593695" y="593842"/>
                  </a:lnTo>
                  <a:lnTo>
                    <a:pt x="587846" y="604889"/>
                  </a:lnTo>
                  <a:lnTo>
                    <a:pt x="585796" y="617614"/>
                  </a:lnTo>
                  <a:lnTo>
                    <a:pt x="585796" y="620861"/>
                  </a:lnTo>
                  <a:lnTo>
                    <a:pt x="587384" y="622484"/>
                  </a:lnTo>
                  <a:lnTo>
                    <a:pt x="587384" y="625737"/>
                  </a:lnTo>
                  <a:lnTo>
                    <a:pt x="360223" y="755758"/>
                  </a:lnTo>
                  <a:lnTo>
                    <a:pt x="425403" y="755758"/>
                  </a:lnTo>
                  <a:lnTo>
                    <a:pt x="605237" y="651742"/>
                  </a:lnTo>
                  <a:lnTo>
                    <a:pt x="648894" y="651742"/>
                  </a:lnTo>
                  <a:lnTo>
                    <a:pt x="656777" y="646460"/>
                  </a:lnTo>
                  <a:lnTo>
                    <a:pt x="665399" y="633561"/>
                  </a:lnTo>
                  <a:lnTo>
                    <a:pt x="668544" y="617614"/>
                  </a:lnTo>
                  <a:lnTo>
                    <a:pt x="667074" y="606997"/>
                  </a:lnTo>
                  <a:lnTo>
                    <a:pt x="662862" y="597295"/>
                  </a:lnTo>
                  <a:lnTo>
                    <a:pt x="656207" y="588813"/>
                  </a:lnTo>
                  <a:lnTo>
                    <a:pt x="647405" y="581856"/>
                  </a:lnTo>
                  <a:lnTo>
                    <a:pt x="647405" y="313691"/>
                  </a:lnTo>
                  <a:lnTo>
                    <a:pt x="656207" y="307648"/>
                  </a:lnTo>
                  <a:lnTo>
                    <a:pt x="662862" y="299471"/>
                  </a:lnTo>
                  <a:lnTo>
                    <a:pt x="667074" y="289465"/>
                  </a:lnTo>
                  <a:lnTo>
                    <a:pt x="668544" y="277933"/>
                  </a:lnTo>
                  <a:lnTo>
                    <a:pt x="665399" y="261979"/>
                  </a:lnTo>
                  <a:lnTo>
                    <a:pt x="656777" y="249074"/>
                  </a:lnTo>
                  <a:lnTo>
                    <a:pt x="648931" y="243815"/>
                  </a:lnTo>
                  <a:lnTo>
                    <a:pt x="605237" y="243815"/>
                  </a:lnTo>
                  <a:lnTo>
                    <a:pt x="498151" y="186934"/>
                  </a:lnTo>
                  <a:lnTo>
                    <a:pt x="498151" y="78054"/>
                  </a:lnTo>
                  <a:lnTo>
                    <a:pt x="508113" y="71738"/>
                  </a:lnTo>
                  <a:lnTo>
                    <a:pt x="515795" y="62990"/>
                  </a:lnTo>
                  <a:lnTo>
                    <a:pt x="520739" y="52421"/>
                  </a:lnTo>
                  <a:lnTo>
                    <a:pt x="522488" y="40645"/>
                  </a:lnTo>
                  <a:lnTo>
                    <a:pt x="519345" y="24690"/>
                  </a:lnTo>
                  <a:lnTo>
                    <a:pt x="510725" y="11786"/>
                  </a:lnTo>
                  <a:lnTo>
                    <a:pt x="497846" y="3149"/>
                  </a:lnTo>
                  <a:lnTo>
                    <a:pt x="481925" y="0"/>
                  </a:lnTo>
                  <a:close/>
                </a:path>
                <a:path w="668654" h="829310">
                  <a:moveTo>
                    <a:pt x="48679" y="237288"/>
                  </a:moveTo>
                  <a:lnTo>
                    <a:pt x="40566" y="237288"/>
                  </a:lnTo>
                  <a:lnTo>
                    <a:pt x="24644" y="240438"/>
                  </a:lnTo>
                  <a:lnTo>
                    <a:pt x="11764" y="249074"/>
                  </a:lnTo>
                  <a:lnTo>
                    <a:pt x="3143" y="261979"/>
                  </a:lnTo>
                  <a:lnTo>
                    <a:pt x="0" y="277933"/>
                  </a:lnTo>
                  <a:lnTo>
                    <a:pt x="1470" y="289491"/>
                  </a:lnTo>
                  <a:lnTo>
                    <a:pt x="5679" y="299674"/>
                  </a:lnTo>
                  <a:lnTo>
                    <a:pt x="12322" y="308333"/>
                  </a:lnTo>
                  <a:lnTo>
                    <a:pt x="21095" y="315315"/>
                  </a:lnTo>
                  <a:lnTo>
                    <a:pt x="21095" y="581856"/>
                  </a:lnTo>
                  <a:lnTo>
                    <a:pt x="12322" y="588128"/>
                  </a:lnTo>
                  <a:lnTo>
                    <a:pt x="5679" y="596686"/>
                  </a:lnTo>
                  <a:lnTo>
                    <a:pt x="1470" y="606769"/>
                  </a:lnTo>
                  <a:lnTo>
                    <a:pt x="0" y="617614"/>
                  </a:lnTo>
                  <a:lnTo>
                    <a:pt x="3143" y="633561"/>
                  </a:lnTo>
                  <a:lnTo>
                    <a:pt x="11764" y="646460"/>
                  </a:lnTo>
                  <a:lnTo>
                    <a:pt x="24644" y="655094"/>
                  </a:lnTo>
                  <a:lnTo>
                    <a:pt x="40566" y="658242"/>
                  </a:lnTo>
                  <a:lnTo>
                    <a:pt x="48679" y="658242"/>
                  </a:lnTo>
                  <a:lnTo>
                    <a:pt x="55171" y="656619"/>
                  </a:lnTo>
                  <a:lnTo>
                    <a:pt x="61660" y="651742"/>
                  </a:lnTo>
                  <a:lnTo>
                    <a:pt x="126245" y="651742"/>
                  </a:lnTo>
                  <a:lnTo>
                    <a:pt x="81134" y="625737"/>
                  </a:lnTo>
                  <a:lnTo>
                    <a:pt x="81134" y="617614"/>
                  </a:lnTo>
                  <a:lnTo>
                    <a:pt x="79106" y="604889"/>
                  </a:lnTo>
                  <a:lnTo>
                    <a:pt x="73426" y="593842"/>
                  </a:lnTo>
                  <a:lnTo>
                    <a:pt x="64703" y="584928"/>
                  </a:lnTo>
                  <a:lnTo>
                    <a:pt x="53544" y="578603"/>
                  </a:lnTo>
                  <a:lnTo>
                    <a:pt x="53544" y="316944"/>
                  </a:lnTo>
                  <a:lnTo>
                    <a:pt x="64703" y="310621"/>
                  </a:lnTo>
                  <a:lnTo>
                    <a:pt x="73426" y="301707"/>
                  </a:lnTo>
                  <a:lnTo>
                    <a:pt x="79106" y="290658"/>
                  </a:lnTo>
                  <a:lnTo>
                    <a:pt x="81134" y="277933"/>
                  </a:lnTo>
                  <a:lnTo>
                    <a:pt x="81134" y="276288"/>
                  </a:lnTo>
                  <a:lnTo>
                    <a:pt x="79508" y="274697"/>
                  </a:lnTo>
                  <a:lnTo>
                    <a:pt x="79508" y="271461"/>
                  </a:lnTo>
                  <a:lnTo>
                    <a:pt x="130664" y="243815"/>
                  </a:lnTo>
                  <a:lnTo>
                    <a:pt x="61660" y="243815"/>
                  </a:lnTo>
                  <a:lnTo>
                    <a:pt x="48679" y="237288"/>
                  </a:lnTo>
                  <a:close/>
                </a:path>
                <a:path w="668654" h="829310">
                  <a:moveTo>
                    <a:pt x="648894" y="651742"/>
                  </a:moveTo>
                  <a:lnTo>
                    <a:pt x="605237" y="651742"/>
                  </a:lnTo>
                  <a:lnTo>
                    <a:pt x="611754" y="656619"/>
                  </a:lnTo>
                  <a:lnTo>
                    <a:pt x="619859" y="658242"/>
                  </a:lnTo>
                  <a:lnTo>
                    <a:pt x="627964" y="658242"/>
                  </a:lnTo>
                  <a:lnTo>
                    <a:pt x="643893" y="655094"/>
                  </a:lnTo>
                  <a:lnTo>
                    <a:pt x="648894" y="651742"/>
                  </a:lnTo>
                  <a:close/>
                </a:path>
                <a:path w="668654" h="829310">
                  <a:moveTo>
                    <a:pt x="186604" y="0"/>
                  </a:moveTo>
                  <a:lnTo>
                    <a:pt x="170682" y="3149"/>
                  </a:lnTo>
                  <a:lnTo>
                    <a:pt x="157801" y="11786"/>
                  </a:lnTo>
                  <a:lnTo>
                    <a:pt x="149179" y="24690"/>
                  </a:lnTo>
                  <a:lnTo>
                    <a:pt x="146035" y="40645"/>
                  </a:lnTo>
                  <a:lnTo>
                    <a:pt x="147785" y="52421"/>
                  </a:lnTo>
                  <a:lnTo>
                    <a:pt x="152729" y="62990"/>
                  </a:lnTo>
                  <a:lnTo>
                    <a:pt x="160412" y="71738"/>
                  </a:lnTo>
                  <a:lnTo>
                    <a:pt x="170378" y="78054"/>
                  </a:lnTo>
                  <a:lnTo>
                    <a:pt x="170378" y="185289"/>
                  </a:lnTo>
                  <a:lnTo>
                    <a:pt x="61660" y="243815"/>
                  </a:lnTo>
                  <a:lnTo>
                    <a:pt x="130664" y="243815"/>
                  </a:lnTo>
                  <a:lnTo>
                    <a:pt x="202831" y="204816"/>
                  </a:lnTo>
                  <a:lnTo>
                    <a:pt x="202831" y="78054"/>
                  </a:lnTo>
                  <a:lnTo>
                    <a:pt x="212795" y="71738"/>
                  </a:lnTo>
                  <a:lnTo>
                    <a:pt x="220476" y="62990"/>
                  </a:lnTo>
                  <a:lnTo>
                    <a:pt x="225419" y="52421"/>
                  </a:lnTo>
                  <a:lnTo>
                    <a:pt x="227168" y="40645"/>
                  </a:lnTo>
                  <a:lnTo>
                    <a:pt x="224024" y="24690"/>
                  </a:lnTo>
                  <a:lnTo>
                    <a:pt x="215405" y="11786"/>
                  </a:lnTo>
                  <a:lnTo>
                    <a:pt x="202526" y="3149"/>
                  </a:lnTo>
                  <a:lnTo>
                    <a:pt x="186604" y="0"/>
                  </a:lnTo>
                  <a:close/>
                </a:path>
                <a:path w="668654" h="829310">
                  <a:moveTo>
                    <a:pt x="627964" y="237288"/>
                  </a:moveTo>
                  <a:lnTo>
                    <a:pt x="619859" y="237288"/>
                  </a:lnTo>
                  <a:lnTo>
                    <a:pt x="611754" y="240579"/>
                  </a:lnTo>
                  <a:lnTo>
                    <a:pt x="605237" y="243815"/>
                  </a:lnTo>
                  <a:lnTo>
                    <a:pt x="648931" y="243815"/>
                  </a:lnTo>
                  <a:lnTo>
                    <a:pt x="643893" y="240438"/>
                  </a:lnTo>
                  <a:lnTo>
                    <a:pt x="627964" y="237288"/>
                  </a:lnTo>
                  <a:close/>
                </a:path>
              </a:pathLst>
            </a:custGeom>
            <a:solidFill>
              <a:srgbClr val="1D70B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1164899" y="466804"/>
              <a:ext cx="115207" cy="11540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95725" y="236043"/>
              <a:ext cx="79511" cy="7964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293085" y="336806"/>
              <a:ext cx="95738" cy="9588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150293" y="954381"/>
              <a:ext cx="193092" cy="20315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1054555" y="855264"/>
              <a:ext cx="386080" cy="388620"/>
            </a:xfrm>
            <a:custGeom>
              <a:avLst/>
              <a:gdLst/>
              <a:ahLst/>
              <a:cxnLst/>
              <a:rect l="l" t="t" r="r" b="b"/>
              <a:pathLst>
                <a:path w="386079" h="388619">
                  <a:moveTo>
                    <a:pt x="193097" y="0"/>
                  </a:moveTo>
                  <a:lnTo>
                    <a:pt x="148680" y="5173"/>
                  </a:lnTo>
                  <a:lnTo>
                    <a:pt x="107980" y="19896"/>
                  </a:lnTo>
                  <a:lnTo>
                    <a:pt x="72135" y="42977"/>
                  </a:lnTo>
                  <a:lnTo>
                    <a:pt x="42279" y="73222"/>
                  </a:lnTo>
                  <a:lnTo>
                    <a:pt x="19547" y="109438"/>
                  </a:lnTo>
                  <a:lnTo>
                    <a:pt x="5076" y="150431"/>
                  </a:lnTo>
                  <a:lnTo>
                    <a:pt x="0" y="195008"/>
                  </a:lnTo>
                  <a:lnTo>
                    <a:pt x="5076" y="238984"/>
                  </a:lnTo>
                  <a:lnTo>
                    <a:pt x="19547" y="279548"/>
                  </a:lnTo>
                  <a:lnTo>
                    <a:pt x="42279" y="315478"/>
                  </a:lnTo>
                  <a:lnTo>
                    <a:pt x="72135" y="345552"/>
                  </a:lnTo>
                  <a:lnTo>
                    <a:pt x="107980" y="368547"/>
                  </a:lnTo>
                  <a:lnTo>
                    <a:pt x="148680" y="383241"/>
                  </a:lnTo>
                  <a:lnTo>
                    <a:pt x="193097" y="388410"/>
                  </a:lnTo>
                  <a:lnTo>
                    <a:pt x="224080" y="385059"/>
                  </a:lnTo>
                  <a:lnTo>
                    <a:pt x="253541" y="377440"/>
                  </a:lnTo>
                  <a:lnTo>
                    <a:pt x="281175" y="365555"/>
                  </a:lnTo>
                  <a:lnTo>
                    <a:pt x="296414" y="355905"/>
                  </a:lnTo>
                  <a:lnTo>
                    <a:pt x="193097" y="355905"/>
                  </a:lnTo>
                  <a:lnTo>
                    <a:pt x="150090" y="350081"/>
                  </a:lnTo>
                  <a:lnTo>
                    <a:pt x="111365" y="333694"/>
                  </a:lnTo>
                  <a:lnTo>
                    <a:pt x="78498" y="308368"/>
                  </a:lnTo>
                  <a:lnTo>
                    <a:pt x="53069" y="275728"/>
                  </a:lnTo>
                  <a:lnTo>
                    <a:pt x="36654" y="237400"/>
                  </a:lnTo>
                  <a:lnTo>
                    <a:pt x="30832" y="195008"/>
                  </a:lnTo>
                  <a:lnTo>
                    <a:pt x="36654" y="151930"/>
                  </a:lnTo>
                  <a:lnTo>
                    <a:pt x="53069" y="113140"/>
                  </a:lnTo>
                  <a:lnTo>
                    <a:pt x="78498" y="80218"/>
                  </a:lnTo>
                  <a:lnTo>
                    <a:pt x="111365" y="54746"/>
                  </a:lnTo>
                  <a:lnTo>
                    <a:pt x="150090" y="38304"/>
                  </a:lnTo>
                  <a:lnTo>
                    <a:pt x="193097" y="32472"/>
                  </a:lnTo>
                  <a:lnTo>
                    <a:pt x="326658" y="32472"/>
                  </a:lnTo>
                  <a:lnTo>
                    <a:pt x="324531" y="30881"/>
                  </a:lnTo>
                  <a:lnTo>
                    <a:pt x="295325" y="30881"/>
                  </a:lnTo>
                  <a:lnTo>
                    <a:pt x="271365" y="17818"/>
                  </a:lnTo>
                  <a:lnTo>
                    <a:pt x="246035" y="8118"/>
                  </a:lnTo>
                  <a:lnTo>
                    <a:pt x="219794" y="2079"/>
                  </a:lnTo>
                  <a:lnTo>
                    <a:pt x="193097" y="0"/>
                  </a:lnTo>
                  <a:close/>
                </a:path>
                <a:path w="386079" h="388619">
                  <a:moveTo>
                    <a:pt x="376453" y="162503"/>
                  </a:moveTo>
                  <a:lnTo>
                    <a:pt x="363474" y="162503"/>
                  </a:lnTo>
                  <a:lnTo>
                    <a:pt x="353737" y="172256"/>
                  </a:lnTo>
                  <a:lnTo>
                    <a:pt x="353737" y="180379"/>
                  </a:lnTo>
                  <a:lnTo>
                    <a:pt x="354356" y="190562"/>
                  </a:lnTo>
                  <a:lnTo>
                    <a:pt x="354305" y="202930"/>
                  </a:lnTo>
                  <a:lnTo>
                    <a:pt x="340756" y="257985"/>
                  </a:lnTo>
                  <a:lnTo>
                    <a:pt x="318042" y="295771"/>
                  </a:lnTo>
                  <a:lnTo>
                    <a:pt x="270907" y="335338"/>
                  </a:lnTo>
                  <a:lnTo>
                    <a:pt x="220657" y="353518"/>
                  </a:lnTo>
                  <a:lnTo>
                    <a:pt x="193097" y="355905"/>
                  </a:lnTo>
                  <a:lnTo>
                    <a:pt x="296414" y="355905"/>
                  </a:lnTo>
                  <a:lnTo>
                    <a:pt x="334268" y="325023"/>
                  </a:lnTo>
                  <a:lnTo>
                    <a:pt x="367937" y="275658"/>
                  </a:lnTo>
                  <a:lnTo>
                    <a:pt x="384569" y="217761"/>
                  </a:lnTo>
                  <a:lnTo>
                    <a:pt x="385937" y="190562"/>
                  </a:lnTo>
                  <a:lnTo>
                    <a:pt x="384569" y="177127"/>
                  </a:lnTo>
                  <a:lnTo>
                    <a:pt x="384569" y="172256"/>
                  </a:lnTo>
                  <a:lnTo>
                    <a:pt x="382948" y="169003"/>
                  </a:lnTo>
                  <a:lnTo>
                    <a:pt x="376453" y="162503"/>
                  </a:lnTo>
                  <a:close/>
                </a:path>
                <a:path w="386079" h="388619">
                  <a:moveTo>
                    <a:pt x="326658" y="32472"/>
                  </a:moveTo>
                  <a:lnTo>
                    <a:pt x="193097" y="32472"/>
                  </a:lnTo>
                  <a:lnTo>
                    <a:pt x="214952" y="33998"/>
                  </a:lnTo>
                  <a:lnTo>
                    <a:pt x="236503" y="38573"/>
                  </a:lnTo>
                  <a:lnTo>
                    <a:pt x="257445" y="46196"/>
                  </a:lnTo>
                  <a:lnTo>
                    <a:pt x="277472" y="56864"/>
                  </a:lnTo>
                  <a:lnTo>
                    <a:pt x="277472" y="58488"/>
                  </a:lnTo>
                  <a:lnTo>
                    <a:pt x="279780" y="71108"/>
                  </a:lnTo>
                  <a:lnTo>
                    <a:pt x="286196" y="81444"/>
                  </a:lnTo>
                  <a:lnTo>
                    <a:pt x="295958" y="88428"/>
                  </a:lnTo>
                  <a:lnTo>
                    <a:pt x="308305" y="90993"/>
                  </a:lnTo>
                  <a:lnTo>
                    <a:pt x="320905" y="88428"/>
                  </a:lnTo>
                  <a:lnTo>
                    <a:pt x="331224" y="81444"/>
                  </a:lnTo>
                  <a:lnTo>
                    <a:pt x="338197" y="71108"/>
                  </a:lnTo>
                  <a:lnTo>
                    <a:pt x="340758" y="58488"/>
                  </a:lnTo>
                  <a:lnTo>
                    <a:pt x="340758" y="50359"/>
                  </a:lnTo>
                  <a:lnTo>
                    <a:pt x="337510" y="42235"/>
                  </a:lnTo>
                  <a:lnTo>
                    <a:pt x="331021" y="35735"/>
                  </a:lnTo>
                  <a:lnTo>
                    <a:pt x="326658" y="32472"/>
                  </a:lnTo>
                  <a:close/>
                </a:path>
                <a:path w="386079" h="388619">
                  <a:moveTo>
                    <a:pt x="316415" y="27590"/>
                  </a:moveTo>
                  <a:lnTo>
                    <a:pt x="298567" y="27590"/>
                  </a:lnTo>
                  <a:lnTo>
                    <a:pt x="295325" y="30881"/>
                  </a:lnTo>
                  <a:lnTo>
                    <a:pt x="324531" y="30881"/>
                  </a:lnTo>
                  <a:lnTo>
                    <a:pt x="316415" y="27590"/>
                  </a:lnTo>
                  <a:close/>
                </a:path>
              </a:pathLst>
            </a:custGeom>
            <a:solidFill>
              <a:srgbClr val="1D70B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Номер слайда 13"/>
          <p:cNvSpPr>
            <a:spLocks noGrp="1"/>
          </p:cNvSpPr>
          <p:nvPr>
            <p:ph type="sldNum" sz="quarter" idx="12"/>
          </p:nvPr>
        </p:nvSpPr>
        <p:spPr>
          <a:xfrm>
            <a:off x="11240769" y="6397751"/>
            <a:ext cx="304800" cy="274955"/>
          </a:xfrm>
        </p:spPr>
        <p:txBody>
          <a:bodyPr/>
          <a:lstStyle/>
          <a:p>
            <a:pPr marL="38100">
              <a:lnSpc>
                <a:spcPts val="2145"/>
              </a:lnSpc>
            </a:pPr>
            <a:fld id="{81D60167-4931-47E6-BA6A-407CBD079E47}" type="slidenum">
              <a:rPr lang="ru-RU" sz="2400" b="0" smtClean="0"/>
            </a:fld>
            <a:endParaRPr lang="ru-RU" sz="2400" b="0" dirty="0"/>
          </a:p>
        </p:txBody>
      </p:sp>
      <p:sp>
        <p:nvSpPr>
          <p:cNvPr id="31746" name="AutoShape 2" descr="Антибиотикорезистентность бактерий - проблема, механизмы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ru-RU"/>
          </a:p>
        </p:txBody>
      </p:sp>
      <p:sp>
        <p:nvSpPr>
          <p:cNvPr id="31748" name="AutoShape 4" descr="Антибиотикорезистентность бактерий - проблема, механизмы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ru-RU"/>
          </a:p>
        </p:txBody>
      </p:sp>
      <p:sp>
        <p:nvSpPr>
          <p:cNvPr id="31750" name="AutoShape 6" descr="Антибиотикорезистентность бактерий - проблема, механизмы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ru-RU"/>
          </a:p>
        </p:txBody>
      </p:sp>
      <p:sp>
        <p:nvSpPr>
          <p:cNvPr id="31752" name="AutoShape 8" descr="Антибиотикорезистентность бактерий - проблема, механизмы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ru-RU"/>
          </a:p>
        </p:txBody>
      </p:sp>
      <p:sp>
        <p:nvSpPr>
          <p:cNvPr id="31754" name="AutoShape 10" descr="Антибиотикорезистентность: гонка на выживание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ru-RU"/>
          </a:p>
        </p:txBody>
      </p:sp>
      <p:sp>
        <p:nvSpPr>
          <p:cNvPr id="31756" name="AutoShape 12" descr="Почему антибиотики не работают?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ru-RU"/>
          </a:p>
        </p:txBody>
      </p:sp>
      <p:sp>
        <p:nvSpPr>
          <p:cNvPr id="31758" name="AutoShape 14" descr="Почему антибиотики не работают?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ru-RU"/>
          </a:p>
        </p:txBody>
      </p:sp>
      <p:sp>
        <p:nvSpPr>
          <p:cNvPr id="31760" name="AutoShape 16" descr="blob:https://web.telegram.org/05e1840f-ed40-4ca3-a595-63ed11eb38a3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ru-RU"/>
          </a:p>
        </p:txBody>
      </p:sp>
      <p:sp>
        <p:nvSpPr>
          <p:cNvPr id="31762" name="AutoShape 18" descr="blob:https://web.telegram.org/05e1840f-ed40-4ca3-a595-63ed11eb38a3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ru-RU"/>
          </a:p>
        </p:txBody>
      </p:sp>
      <p:sp>
        <p:nvSpPr>
          <p:cNvPr id="31764" name="AutoShape 20" descr="blob:https://web.telegram.org/05e1840f-ed40-4ca3-a595-63ed11eb38a3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ru-RU"/>
          </a:p>
        </p:txBody>
      </p:sp>
      <p:sp>
        <p:nvSpPr>
          <p:cNvPr id="31766" name="AutoShape 22" descr="blob:https://web.telegram.org/05e1840f-ed40-4ca3-a595-63ed11eb38a3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ru-RU"/>
          </a:p>
        </p:txBody>
      </p:sp>
      <p:sp>
        <p:nvSpPr>
          <p:cNvPr id="31768" name="AutoShape 24" descr="blob:https://web.telegram.org/05e1840f-ed40-4ca3-a595-63ed11eb38a3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ru-RU"/>
          </a:p>
        </p:txBody>
      </p:sp>
      <p:sp>
        <p:nvSpPr>
          <p:cNvPr id="31770" name="AutoShape 26" descr="blob:https://web.telegram.org/05e1840f-ed40-4ca3-a595-63ed11eb38a3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ru-RU"/>
          </a:p>
        </p:txBody>
      </p:sp>
      <p:sp>
        <p:nvSpPr>
          <p:cNvPr id="31772" name="AutoShape 28" descr="blob:https://web.telegram.org/05e1840f-ed40-4ca3-a595-63ed11eb38a3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ru-RU"/>
          </a:p>
        </p:txBody>
      </p:sp>
      <p:sp>
        <p:nvSpPr>
          <p:cNvPr id="28" name="object 3"/>
          <p:cNvSpPr/>
          <p:nvPr/>
        </p:nvSpPr>
        <p:spPr>
          <a:xfrm flipV="1">
            <a:off x="738150" y="652778"/>
            <a:ext cx="9701631" cy="45719"/>
          </a:xfrm>
          <a:custGeom>
            <a:avLst/>
            <a:gdLst/>
            <a:ahLst/>
            <a:cxnLst/>
            <a:rect l="l" t="t" r="r" b="b"/>
            <a:pathLst>
              <a:path w="9946005">
                <a:moveTo>
                  <a:pt x="0" y="0"/>
                </a:moveTo>
                <a:lnTo>
                  <a:pt x="9946005" y="0"/>
                </a:lnTo>
              </a:path>
            </a:pathLst>
          </a:custGeom>
          <a:ln w="6096">
            <a:solidFill>
              <a:srgbClr val="5B9B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Текстовое поле 1"/>
          <p:cNvSpPr txBox="1"/>
          <p:nvPr/>
        </p:nvSpPr>
        <p:spPr>
          <a:xfrm>
            <a:off x="551180" y="238125"/>
            <a:ext cx="78987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Синтез праймеров фосфорамидитным методом</a:t>
            </a:r>
            <a:endParaRPr lang="ru-RU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Изображение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7625" y="764540"/>
            <a:ext cx="6830060" cy="5970270"/>
          </a:xfrm>
          <a:prstGeom prst="rect">
            <a:avLst/>
          </a:prstGeom>
        </p:spPr>
      </p:pic>
      <p:sp>
        <p:nvSpPr>
          <p:cNvPr id="11" name="Текстовое поле 10"/>
          <p:cNvSpPr txBox="1"/>
          <p:nvPr/>
        </p:nvSpPr>
        <p:spPr>
          <a:xfrm>
            <a:off x="6816090" y="6212840"/>
            <a:ext cx="47294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Источник: </a:t>
            </a:r>
            <a:r>
              <a:rPr lang="en-US" altLang="ru-RU" sz="1400">
                <a:latin typeface="Times New Roman" panose="02020603050405020304" pitchFamily="18" charset="0"/>
                <a:cs typeface="Times New Roman" panose="02020603050405020304" pitchFamily="18" charset="0"/>
              </a:rPr>
              <a:t>https://atdbio.com/nucleic-acids-book/Solid-phase-oligonucleotide-synthesis</a:t>
            </a:r>
            <a:endParaRPr lang="ru-RU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Текстовое поле 11"/>
          <p:cNvSpPr txBox="1"/>
          <p:nvPr/>
        </p:nvSpPr>
        <p:spPr>
          <a:xfrm>
            <a:off x="6339840" y="1089977"/>
            <a:ext cx="5080000" cy="4799965"/>
          </a:xfrm>
          <a:prstGeom prst="rect">
            <a:avLst/>
          </a:prstGeom>
        </p:spPr>
        <p:txBody>
          <a:bodyPr>
            <a:spAutoFit/>
          </a:bodyPr>
          <a:p>
            <a:pPr>
              <a:spcBef>
                <a:spcPct val="0"/>
              </a:spcBef>
            </a:pPr>
            <a:r>
              <a:rPr b="1"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Детрилирование:</a:t>
            </a:r>
            <a:r>
              <a:rPr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 Удаление защитной диметокситритильной (DMTO) группы кислотой (</a:t>
            </a:r>
            <a:r>
              <a:rPr i="1"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Cl3CCOOH</a:t>
            </a:r>
            <a:r>
              <a:rPr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) для освобождения реакционноспособной 5'-OH группы.</a:t>
            </a:r>
            <a:endParaRPr>
              <a:latin typeface="Times New Roman" panose="02020603050405020304" pitchFamily="18" charset="0"/>
              <a:ea typeface="Google Sans Text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</a:pPr>
            <a:r>
              <a:rPr b="1"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Активация и связывание (конденсация):</a:t>
            </a:r>
            <a:r>
              <a:rPr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 Взаимодействие свободной 5'-OH группы с входящим фосфорамидитным мономером в присутствии активатора с образованием нестабильного фосфитриэфирного звена (</a:t>
            </a:r>
            <a:r>
              <a:rPr i="1"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P</a:t>
            </a:r>
            <a:r>
              <a:rPr i="1" baseline="30000"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III</a:t>
            </a:r>
            <a:r>
              <a:rPr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).</a:t>
            </a:r>
            <a:endParaRPr>
              <a:latin typeface="Times New Roman" panose="02020603050405020304" pitchFamily="18" charset="0"/>
              <a:ea typeface="Google Sans Text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</a:pPr>
            <a:r>
              <a:rPr b="1"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Кэппинг (блокирование):</a:t>
            </a:r>
            <a:r>
              <a:rPr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 Ацетилирование нерезонировавших 5'-OH групп для предотвращения образования дефектных последовательностей (с делециями) в последующих циклах.</a:t>
            </a:r>
            <a:endParaRPr>
              <a:latin typeface="Times New Roman" panose="02020603050405020304" pitchFamily="18" charset="0"/>
              <a:ea typeface="Google Sans Text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</a:pPr>
            <a:r>
              <a:rPr b="1"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Окисление:</a:t>
            </a:r>
            <a:r>
              <a:rPr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 Перевод фосфитриэфирной связи (</a:t>
            </a:r>
            <a:r>
              <a:rPr i="1"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P</a:t>
            </a:r>
            <a:r>
              <a:rPr i="1" baseline="30000"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III</a:t>
            </a:r>
            <a:r>
              <a:rPr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) в стабильную фосфатриэфирную структуру (</a:t>
            </a:r>
            <a:r>
              <a:rPr i="1"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P</a:t>
            </a:r>
            <a:r>
              <a:rPr i="1" baseline="30000"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V</a:t>
            </a:r>
            <a:r>
              <a:rPr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) под действием йода (</a:t>
            </a:r>
            <a:r>
              <a:rPr i="1"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I</a:t>
            </a:r>
            <a:r>
              <a:rPr i="1" baseline="-25000"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2</a:t>
            </a:r>
            <a:r>
              <a:rPr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) в присутствии воды.</a:t>
            </a:r>
            <a:endParaRPr>
              <a:latin typeface="Times New Roman" panose="02020603050405020304" pitchFamily="18" charset="0"/>
              <a:ea typeface="Google Sans Text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 flipV="1">
            <a:off x="738150" y="1043938"/>
            <a:ext cx="9701631" cy="45719"/>
          </a:xfrm>
          <a:custGeom>
            <a:avLst/>
            <a:gdLst/>
            <a:ahLst/>
            <a:cxnLst/>
            <a:rect l="l" t="t" r="r" b="b"/>
            <a:pathLst>
              <a:path w="9946005">
                <a:moveTo>
                  <a:pt x="0" y="0"/>
                </a:moveTo>
                <a:lnTo>
                  <a:pt x="9946005" y="0"/>
                </a:lnTo>
              </a:path>
            </a:pathLst>
          </a:custGeom>
          <a:ln w="6096">
            <a:solidFill>
              <a:srgbClr val="5B9BD4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10913388" y="236043"/>
            <a:ext cx="668655" cy="1195070"/>
            <a:chOff x="10913388" y="236043"/>
            <a:chExt cx="668655" cy="1195070"/>
          </a:xfrm>
        </p:grpSpPr>
        <p:sp>
          <p:nvSpPr>
            <p:cNvPr id="5" name="object 5"/>
            <p:cNvSpPr/>
            <p:nvPr/>
          </p:nvSpPr>
          <p:spPr>
            <a:xfrm>
              <a:off x="10913388" y="601685"/>
              <a:ext cx="668655" cy="829310"/>
            </a:xfrm>
            <a:custGeom>
              <a:avLst/>
              <a:gdLst/>
              <a:ahLst/>
              <a:cxnLst/>
              <a:rect l="l" t="t" r="r" b="b"/>
              <a:pathLst>
                <a:path w="668654" h="829310">
                  <a:moveTo>
                    <a:pt x="126245" y="651742"/>
                  </a:moveTo>
                  <a:lnTo>
                    <a:pt x="61660" y="651742"/>
                  </a:lnTo>
                  <a:lnTo>
                    <a:pt x="293695" y="785010"/>
                  </a:lnTo>
                  <a:lnTo>
                    <a:pt x="293695" y="788261"/>
                  </a:lnTo>
                  <a:lnTo>
                    <a:pt x="296840" y="803522"/>
                  </a:lnTo>
                  <a:lnTo>
                    <a:pt x="305461" y="816499"/>
                  </a:lnTo>
                  <a:lnTo>
                    <a:pt x="318342" y="825514"/>
                  </a:lnTo>
                  <a:lnTo>
                    <a:pt x="334264" y="828892"/>
                  </a:lnTo>
                  <a:lnTo>
                    <a:pt x="350186" y="825514"/>
                  </a:lnTo>
                  <a:lnTo>
                    <a:pt x="363065" y="816499"/>
                  </a:lnTo>
                  <a:lnTo>
                    <a:pt x="371685" y="803522"/>
                  </a:lnTo>
                  <a:lnTo>
                    <a:pt x="374828" y="788261"/>
                  </a:lnTo>
                  <a:lnTo>
                    <a:pt x="374828" y="785010"/>
                  </a:lnTo>
                  <a:lnTo>
                    <a:pt x="425403" y="755758"/>
                  </a:lnTo>
                  <a:lnTo>
                    <a:pt x="306680" y="755758"/>
                  </a:lnTo>
                  <a:lnTo>
                    <a:pt x="126245" y="651742"/>
                  </a:lnTo>
                  <a:close/>
                </a:path>
                <a:path w="668654" h="829310">
                  <a:moveTo>
                    <a:pt x="334061" y="747226"/>
                  </a:moveTo>
                  <a:lnTo>
                    <a:pt x="319838" y="749359"/>
                  </a:lnTo>
                  <a:lnTo>
                    <a:pt x="306680" y="755758"/>
                  </a:lnTo>
                  <a:lnTo>
                    <a:pt x="360223" y="755758"/>
                  </a:lnTo>
                  <a:lnTo>
                    <a:pt x="347979" y="749359"/>
                  </a:lnTo>
                  <a:lnTo>
                    <a:pt x="334061" y="747226"/>
                  </a:lnTo>
                  <a:close/>
                </a:path>
                <a:path w="668654" h="829310">
                  <a:moveTo>
                    <a:pt x="481925" y="0"/>
                  </a:moveTo>
                  <a:lnTo>
                    <a:pt x="466002" y="3149"/>
                  </a:lnTo>
                  <a:lnTo>
                    <a:pt x="453122" y="11786"/>
                  </a:lnTo>
                  <a:lnTo>
                    <a:pt x="444500" y="24690"/>
                  </a:lnTo>
                  <a:lnTo>
                    <a:pt x="441355" y="40645"/>
                  </a:lnTo>
                  <a:lnTo>
                    <a:pt x="443105" y="52421"/>
                  </a:lnTo>
                  <a:lnTo>
                    <a:pt x="448050" y="62990"/>
                  </a:lnTo>
                  <a:lnTo>
                    <a:pt x="455733" y="71738"/>
                  </a:lnTo>
                  <a:lnTo>
                    <a:pt x="465698" y="78054"/>
                  </a:lnTo>
                  <a:lnTo>
                    <a:pt x="465698" y="206407"/>
                  </a:lnTo>
                  <a:lnTo>
                    <a:pt x="587384" y="271461"/>
                  </a:lnTo>
                  <a:lnTo>
                    <a:pt x="587384" y="274697"/>
                  </a:lnTo>
                  <a:lnTo>
                    <a:pt x="585796" y="276288"/>
                  </a:lnTo>
                  <a:lnTo>
                    <a:pt x="585796" y="277933"/>
                  </a:lnTo>
                  <a:lnTo>
                    <a:pt x="587846" y="290887"/>
                  </a:lnTo>
                  <a:lnTo>
                    <a:pt x="593695" y="302316"/>
                  </a:lnTo>
                  <a:lnTo>
                    <a:pt x="602892" y="311306"/>
                  </a:lnTo>
                  <a:lnTo>
                    <a:pt x="614985" y="316944"/>
                  </a:lnTo>
                  <a:lnTo>
                    <a:pt x="614985" y="578603"/>
                  </a:lnTo>
                  <a:lnTo>
                    <a:pt x="602892" y="584928"/>
                  </a:lnTo>
                  <a:lnTo>
                    <a:pt x="593695" y="593842"/>
                  </a:lnTo>
                  <a:lnTo>
                    <a:pt x="587846" y="604889"/>
                  </a:lnTo>
                  <a:lnTo>
                    <a:pt x="585796" y="617614"/>
                  </a:lnTo>
                  <a:lnTo>
                    <a:pt x="585796" y="620861"/>
                  </a:lnTo>
                  <a:lnTo>
                    <a:pt x="587384" y="622484"/>
                  </a:lnTo>
                  <a:lnTo>
                    <a:pt x="587384" y="625737"/>
                  </a:lnTo>
                  <a:lnTo>
                    <a:pt x="360223" y="755758"/>
                  </a:lnTo>
                  <a:lnTo>
                    <a:pt x="425403" y="755758"/>
                  </a:lnTo>
                  <a:lnTo>
                    <a:pt x="605237" y="651742"/>
                  </a:lnTo>
                  <a:lnTo>
                    <a:pt x="648894" y="651742"/>
                  </a:lnTo>
                  <a:lnTo>
                    <a:pt x="656777" y="646460"/>
                  </a:lnTo>
                  <a:lnTo>
                    <a:pt x="665399" y="633561"/>
                  </a:lnTo>
                  <a:lnTo>
                    <a:pt x="668544" y="617614"/>
                  </a:lnTo>
                  <a:lnTo>
                    <a:pt x="667074" y="606997"/>
                  </a:lnTo>
                  <a:lnTo>
                    <a:pt x="662862" y="597295"/>
                  </a:lnTo>
                  <a:lnTo>
                    <a:pt x="656207" y="588813"/>
                  </a:lnTo>
                  <a:lnTo>
                    <a:pt x="647405" y="581856"/>
                  </a:lnTo>
                  <a:lnTo>
                    <a:pt x="647405" y="313691"/>
                  </a:lnTo>
                  <a:lnTo>
                    <a:pt x="656207" y="307648"/>
                  </a:lnTo>
                  <a:lnTo>
                    <a:pt x="662862" y="299471"/>
                  </a:lnTo>
                  <a:lnTo>
                    <a:pt x="667074" y="289465"/>
                  </a:lnTo>
                  <a:lnTo>
                    <a:pt x="668544" y="277933"/>
                  </a:lnTo>
                  <a:lnTo>
                    <a:pt x="665399" y="261979"/>
                  </a:lnTo>
                  <a:lnTo>
                    <a:pt x="656777" y="249074"/>
                  </a:lnTo>
                  <a:lnTo>
                    <a:pt x="648931" y="243815"/>
                  </a:lnTo>
                  <a:lnTo>
                    <a:pt x="605237" y="243815"/>
                  </a:lnTo>
                  <a:lnTo>
                    <a:pt x="498151" y="186934"/>
                  </a:lnTo>
                  <a:lnTo>
                    <a:pt x="498151" y="78054"/>
                  </a:lnTo>
                  <a:lnTo>
                    <a:pt x="508113" y="71738"/>
                  </a:lnTo>
                  <a:lnTo>
                    <a:pt x="515795" y="62990"/>
                  </a:lnTo>
                  <a:lnTo>
                    <a:pt x="520739" y="52421"/>
                  </a:lnTo>
                  <a:lnTo>
                    <a:pt x="522488" y="40645"/>
                  </a:lnTo>
                  <a:lnTo>
                    <a:pt x="519345" y="24690"/>
                  </a:lnTo>
                  <a:lnTo>
                    <a:pt x="510725" y="11786"/>
                  </a:lnTo>
                  <a:lnTo>
                    <a:pt x="497846" y="3149"/>
                  </a:lnTo>
                  <a:lnTo>
                    <a:pt x="481925" y="0"/>
                  </a:lnTo>
                  <a:close/>
                </a:path>
                <a:path w="668654" h="829310">
                  <a:moveTo>
                    <a:pt x="48679" y="237288"/>
                  </a:moveTo>
                  <a:lnTo>
                    <a:pt x="40566" y="237288"/>
                  </a:lnTo>
                  <a:lnTo>
                    <a:pt x="24644" y="240438"/>
                  </a:lnTo>
                  <a:lnTo>
                    <a:pt x="11764" y="249074"/>
                  </a:lnTo>
                  <a:lnTo>
                    <a:pt x="3143" y="261979"/>
                  </a:lnTo>
                  <a:lnTo>
                    <a:pt x="0" y="277933"/>
                  </a:lnTo>
                  <a:lnTo>
                    <a:pt x="1470" y="289491"/>
                  </a:lnTo>
                  <a:lnTo>
                    <a:pt x="5679" y="299674"/>
                  </a:lnTo>
                  <a:lnTo>
                    <a:pt x="12322" y="308333"/>
                  </a:lnTo>
                  <a:lnTo>
                    <a:pt x="21095" y="315315"/>
                  </a:lnTo>
                  <a:lnTo>
                    <a:pt x="21095" y="581856"/>
                  </a:lnTo>
                  <a:lnTo>
                    <a:pt x="12322" y="588128"/>
                  </a:lnTo>
                  <a:lnTo>
                    <a:pt x="5679" y="596686"/>
                  </a:lnTo>
                  <a:lnTo>
                    <a:pt x="1470" y="606769"/>
                  </a:lnTo>
                  <a:lnTo>
                    <a:pt x="0" y="617614"/>
                  </a:lnTo>
                  <a:lnTo>
                    <a:pt x="3143" y="633561"/>
                  </a:lnTo>
                  <a:lnTo>
                    <a:pt x="11764" y="646460"/>
                  </a:lnTo>
                  <a:lnTo>
                    <a:pt x="24644" y="655094"/>
                  </a:lnTo>
                  <a:lnTo>
                    <a:pt x="40566" y="658242"/>
                  </a:lnTo>
                  <a:lnTo>
                    <a:pt x="48679" y="658242"/>
                  </a:lnTo>
                  <a:lnTo>
                    <a:pt x="55171" y="656619"/>
                  </a:lnTo>
                  <a:lnTo>
                    <a:pt x="61660" y="651742"/>
                  </a:lnTo>
                  <a:lnTo>
                    <a:pt x="126245" y="651742"/>
                  </a:lnTo>
                  <a:lnTo>
                    <a:pt x="81134" y="625737"/>
                  </a:lnTo>
                  <a:lnTo>
                    <a:pt x="81134" y="617614"/>
                  </a:lnTo>
                  <a:lnTo>
                    <a:pt x="79106" y="604889"/>
                  </a:lnTo>
                  <a:lnTo>
                    <a:pt x="73426" y="593842"/>
                  </a:lnTo>
                  <a:lnTo>
                    <a:pt x="64703" y="584928"/>
                  </a:lnTo>
                  <a:lnTo>
                    <a:pt x="53544" y="578603"/>
                  </a:lnTo>
                  <a:lnTo>
                    <a:pt x="53544" y="316944"/>
                  </a:lnTo>
                  <a:lnTo>
                    <a:pt x="64703" y="310621"/>
                  </a:lnTo>
                  <a:lnTo>
                    <a:pt x="73426" y="301707"/>
                  </a:lnTo>
                  <a:lnTo>
                    <a:pt x="79106" y="290658"/>
                  </a:lnTo>
                  <a:lnTo>
                    <a:pt x="81134" y="277933"/>
                  </a:lnTo>
                  <a:lnTo>
                    <a:pt x="81134" y="276288"/>
                  </a:lnTo>
                  <a:lnTo>
                    <a:pt x="79508" y="274697"/>
                  </a:lnTo>
                  <a:lnTo>
                    <a:pt x="79508" y="271461"/>
                  </a:lnTo>
                  <a:lnTo>
                    <a:pt x="130664" y="243815"/>
                  </a:lnTo>
                  <a:lnTo>
                    <a:pt x="61660" y="243815"/>
                  </a:lnTo>
                  <a:lnTo>
                    <a:pt x="48679" y="237288"/>
                  </a:lnTo>
                  <a:close/>
                </a:path>
                <a:path w="668654" h="829310">
                  <a:moveTo>
                    <a:pt x="648894" y="651742"/>
                  </a:moveTo>
                  <a:lnTo>
                    <a:pt x="605237" y="651742"/>
                  </a:lnTo>
                  <a:lnTo>
                    <a:pt x="611754" y="656619"/>
                  </a:lnTo>
                  <a:lnTo>
                    <a:pt x="619859" y="658242"/>
                  </a:lnTo>
                  <a:lnTo>
                    <a:pt x="627964" y="658242"/>
                  </a:lnTo>
                  <a:lnTo>
                    <a:pt x="643893" y="655094"/>
                  </a:lnTo>
                  <a:lnTo>
                    <a:pt x="648894" y="651742"/>
                  </a:lnTo>
                  <a:close/>
                </a:path>
                <a:path w="668654" h="829310">
                  <a:moveTo>
                    <a:pt x="186604" y="0"/>
                  </a:moveTo>
                  <a:lnTo>
                    <a:pt x="170682" y="3149"/>
                  </a:lnTo>
                  <a:lnTo>
                    <a:pt x="157801" y="11786"/>
                  </a:lnTo>
                  <a:lnTo>
                    <a:pt x="149179" y="24690"/>
                  </a:lnTo>
                  <a:lnTo>
                    <a:pt x="146035" y="40645"/>
                  </a:lnTo>
                  <a:lnTo>
                    <a:pt x="147785" y="52421"/>
                  </a:lnTo>
                  <a:lnTo>
                    <a:pt x="152729" y="62990"/>
                  </a:lnTo>
                  <a:lnTo>
                    <a:pt x="160412" y="71738"/>
                  </a:lnTo>
                  <a:lnTo>
                    <a:pt x="170378" y="78054"/>
                  </a:lnTo>
                  <a:lnTo>
                    <a:pt x="170378" y="185289"/>
                  </a:lnTo>
                  <a:lnTo>
                    <a:pt x="61660" y="243815"/>
                  </a:lnTo>
                  <a:lnTo>
                    <a:pt x="130664" y="243815"/>
                  </a:lnTo>
                  <a:lnTo>
                    <a:pt x="202831" y="204816"/>
                  </a:lnTo>
                  <a:lnTo>
                    <a:pt x="202831" y="78054"/>
                  </a:lnTo>
                  <a:lnTo>
                    <a:pt x="212795" y="71738"/>
                  </a:lnTo>
                  <a:lnTo>
                    <a:pt x="220476" y="62990"/>
                  </a:lnTo>
                  <a:lnTo>
                    <a:pt x="225419" y="52421"/>
                  </a:lnTo>
                  <a:lnTo>
                    <a:pt x="227168" y="40645"/>
                  </a:lnTo>
                  <a:lnTo>
                    <a:pt x="224024" y="24690"/>
                  </a:lnTo>
                  <a:lnTo>
                    <a:pt x="215405" y="11786"/>
                  </a:lnTo>
                  <a:lnTo>
                    <a:pt x="202526" y="3149"/>
                  </a:lnTo>
                  <a:lnTo>
                    <a:pt x="186604" y="0"/>
                  </a:lnTo>
                  <a:close/>
                </a:path>
                <a:path w="668654" h="829310">
                  <a:moveTo>
                    <a:pt x="627964" y="237288"/>
                  </a:moveTo>
                  <a:lnTo>
                    <a:pt x="619859" y="237288"/>
                  </a:lnTo>
                  <a:lnTo>
                    <a:pt x="611754" y="240579"/>
                  </a:lnTo>
                  <a:lnTo>
                    <a:pt x="605237" y="243815"/>
                  </a:lnTo>
                  <a:lnTo>
                    <a:pt x="648931" y="243815"/>
                  </a:lnTo>
                  <a:lnTo>
                    <a:pt x="643893" y="240438"/>
                  </a:lnTo>
                  <a:lnTo>
                    <a:pt x="627964" y="237288"/>
                  </a:lnTo>
                  <a:close/>
                </a:path>
              </a:pathLst>
            </a:custGeom>
            <a:solidFill>
              <a:srgbClr val="1D70B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1164899" y="466804"/>
              <a:ext cx="115207" cy="11540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95725" y="236043"/>
              <a:ext cx="79511" cy="7964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293085" y="336806"/>
              <a:ext cx="95738" cy="9588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150293" y="954381"/>
              <a:ext cx="193092" cy="20315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1054555" y="855264"/>
              <a:ext cx="386080" cy="388620"/>
            </a:xfrm>
            <a:custGeom>
              <a:avLst/>
              <a:gdLst/>
              <a:ahLst/>
              <a:cxnLst/>
              <a:rect l="l" t="t" r="r" b="b"/>
              <a:pathLst>
                <a:path w="386079" h="388619">
                  <a:moveTo>
                    <a:pt x="193097" y="0"/>
                  </a:moveTo>
                  <a:lnTo>
                    <a:pt x="148680" y="5173"/>
                  </a:lnTo>
                  <a:lnTo>
                    <a:pt x="107980" y="19896"/>
                  </a:lnTo>
                  <a:lnTo>
                    <a:pt x="72135" y="42977"/>
                  </a:lnTo>
                  <a:lnTo>
                    <a:pt x="42279" y="73222"/>
                  </a:lnTo>
                  <a:lnTo>
                    <a:pt x="19547" y="109438"/>
                  </a:lnTo>
                  <a:lnTo>
                    <a:pt x="5076" y="150431"/>
                  </a:lnTo>
                  <a:lnTo>
                    <a:pt x="0" y="195008"/>
                  </a:lnTo>
                  <a:lnTo>
                    <a:pt x="5076" y="238984"/>
                  </a:lnTo>
                  <a:lnTo>
                    <a:pt x="19547" y="279548"/>
                  </a:lnTo>
                  <a:lnTo>
                    <a:pt x="42279" y="315478"/>
                  </a:lnTo>
                  <a:lnTo>
                    <a:pt x="72135" y="345552"/>
                  </a:lnTo>
                  <a:lnTo>
                    <a:pt x="107980" y="368547"/>
                  </a:lnTo>
                  <a:lnTo>
                    <a:pt x="148680" y="383241"/>
                  </a:lnTo>
                  <a:lnTo>
                    <a:pt x="193097" y="388410"/>
                  </a:lnTo>
                  <a:lnTo>
                    <a:pt x="224080" y="385059"/>
                  </a:lnTo>
                  <a:lnTo>
                    <a:pt x="253541" y="377440"/>
                  </a:lnTo>
                  <a:lnTo>
                    <a:pt x="281175" y="365555"/>
                  </a:lnTo>
                  <a:lnTo>
                    <a:pt x="296414" y="355905"/>
                  </a:lnTo>
                  <a:lnTo>
                    <a:pt x="193097" y="355905"/>
                  </a:lnTo>
                  <a:lnTo>
                    <a:pt x="150090" y="350081"/>
                  </a:lnTo>
                  <a:lnTo>
                    <a:pt x="111365" y="333694"/>
                  </a:lnTo>
                  <a:lnTo>
                    <a:pt x="78498" y="308368"/>
                  </a:lnTo>
                  <a:lnTo>
                    <a:pt x="53069" y="275728"/>
                  </a:lnTo>
                  <a:lnTo>
                    <a:pt x="36654" y="237400"/>
                  </a:lnTo>
                  <a:lnTo>
                    <a:pt x="30832" y="195008"/>
                  </a:lnTo>
                  <a:lnTo>
                    <a:pt x="36654" y="151930"/>
                  </a:lnTo>
                  <a:lnTo>
                    <a:pt x="53069" y="113140"/>
                  </a:lnTo>
                  <a:lnTo>
                    <a:pt x="78498" y="80218"/>
                  </a:lnTo>
                  <a:lnTo>
                    <a:pt x="111365" y="54746"/>
                  </a:lnTo>
                  <a:lnTo>
                    <a:pt x="150090" y="38304"/>
                  </a:lnTo>
                  <a:lnTo>
                    <a:pt x="193097" y="32472"/>
                  </a:lnTo>
                  <a:lnTo>
                    <a:pt x="326658" y="32472"/>
                  </a:lnTo>
                  <a:lnTo>
                    <a:pt x="324531" y="30881"/>
                  </a:lnTo>
                  <a:lnTo>
                    <a:pt x="295325" y="30881"/>
                  </a:lnTo>
                  <a:lnTo>
                    <a:pt x="271365" y="17818"/>
                  </a:lnTo>
                  <a:lnTo>
                    <a:pt x="246035" y="8118"/>
                  </a:lnTo>
                  <a:lnTo>
                    <a:pt x="219794" y="2079"/>
                  </a:lnTo>
                  <a:lnTo>
                    <a:pt x="193097" y="0"/>
                  </a:lnTo>
                  <a:close/>
                </a:path>
                <a:path w="386079" h="388619">
                  <a:moveTo>
                    <a:pt x="376453" y="162503"/>
                  </a:moveTo>
                  <a:lnTo>
                    <a:pt x="363474" y="162503"/>
                  </a:lnTo>
                  <a:lnTo>
                    <a:pt x="353737" y="172256"/>
                  </a:lnTo>
                  <a:lnTo>
                    <a:pt x="353737" y="180379"/>
                  </a:lnTo>
                  <a:lnTo>
                    <a:pt x="354356" y="190562"/>
                  </a:lnTo>
                  <a:lnTo>
                    <a:pt x="354305" y="202930"/>
                  </a:lnTo>
                  <a:lnTo>
                    <a:pt x="340756" y="257985"/>
                  </a:lnTo>
                  <a:lnTo>
                    <a:pt x="318042" y="295771"/>
                  </a:lnTo>
                  <a:lnTo>
                    <a:pt x="270907" y="335338"/>
                  </a:lnTo>
                  <a:lnTo>
                    <a:pt x="220657" y="353518"/>
                  </a:lnTo>
                  <a:lnTo>
                    <a:pt x="193097" y="355905"/>
                  </a:lnTo>
                  <a:lnTo>
                    <a:pt x="296414" y="355905"/>
                  </a:lnTo>
                  <a:lnTo>
                    <a:pt x="334268" y="325023"/>
                  </a:lnTo>
                  <a:lnTo>
                    <a:pt x="367937" y="275658"/>
                  </a:lnTo>
                  <a:lnTo>
                    <a:pt x="384569" y="217761"/>
                  </a:lnTo>
                  <a:lnTo>
                    <a:pt x="385937" y="190562"/>
                  </a:lnTo>
                  <a:lnTo>
                    <a:pt x="384569" y="177127"/>
                  </a:lnTo>
                  <a:lnTo>
                    <a:pt x="384569" y="172256"/>
                  </a:lnTo>
                  <a:lnTo>
                    <a:pt x="382948" y="169003"/>
                  </a:lnTo>
                  <a:lnTo>
                    <a:pt x="376453" y="162503"/>
                  </a:lnTo>
                  <a:close/>
                </a:path>
                <a:path w="386079" h="388619">
                  <a:moveTo>
                    <a:pt x="326658" y="32472"/>
                  </a:moveTo>
                  <a:lnTo>
                    <a:pt x="193097" y="32472"/>
                  </a:lnTo>
                  <a:lnTo>
                    <a:pt x="214952" y="33998"/>
                  </a:lnTo>
                  <a:lnTo>
                    <a:pt x="236503" y="38573"/>
                  </a:lnTo>
                  <a:lnTo>
                    <a:pt x="257445" y="46196"/>
                  </a:lnTo>
                  <a:lnTo>
                    <a:pt x="277472" y="56864"/>
                  </a:lnTo>
                  <a:lnTo>
                    <a:pt x="277472" y="58488"/>
                  </a:lnTo>
                  <a:lnTo>
                    <a:pt x="279780" y="71108"/>
                  </a:lnTo>
                  <a:lnTo>
                    <a:pt x="286196" y="81444"/>
                  </a:lnTo>
                  <a:lnTo>
                    <a:pt x="295958" y="88428"/>
                  </a:lnTo>
                  <a:lnTo>
                    <a:pt x="308305" y="90993"/>
                  </a:lnTo>
                  <a:lnTo>
                    <a:pt x="320905" y="88428"/>
                  </a:lnTo>
                  <a:lnTo>
                    <a:pt x="331224" y="81444"/>
                  </a:lnTo>
                  <a:lnTo>
                    <a:pt x="338197" y="71108"/>
                  </a:lnTo>
                  <a:lnTo>
                    <a:pt x="340758" y="58488"/>
                  </a:lnTo>
                  <a:lnTo>
                    <a:pt x="340758" y="50359"/>
                  </a:lnTo>
                  <a:lnTo>
                    <a:pt x="337510" y="42235"/>
                  </a:lnTo>
                  <a:lnTo>
                    <a:pt x="331021" y="35735"/>
                  </a:lnTo>
                  <a:lnTo>
                    <a:pt x="326658" y="32472"/>
                  </a:lnTo>
                  <a:close/>
                </a:path>
                <a:path w="386079" h="388619">
                  <a:moveTo>
                    <a:pt x="316415" y="27590"/>
                  </a:moveTo>
                  <a:lnTo>
                    <a:pt x="298567" y="27590"/>
                  </a:lnTo>
                  <a:lnTo>
                    <a:pt x="295325" y="30881"/>
                  </a:lnTo>
                  <a:lnTo>
                    <a:pt x="324531" y="30881"/>
                  </a:lnTo>
                  <a:lnTo>
                    <a:pt x="316415" y="27590"/>
                  </a:lnTo>
                  <a:close/>
                </a:path>
              </a:pathLst>
            </a:custGeom>
            <a:solidFill>
              <a:srgbClr val="1D70B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Номер слайда 11"/>
          <p:cNvSpPr>
            <a:spLocks noGrp="1"/>
          </p:cNvSpPr>
          <p:nvPr>
            <p:ph type="sldNum" sz="quarter" idx="12"/>
          </p:nvPr>
        </p:nvSpPr>
        <p:spPr>
          <a:xfrm>
            <a:off x="11240769" y="6397751"/>
            <a:ext cx="450944" cy="274955"/>
          </a:xfrm>
        </p:spPr>
        <p:txBody>
          <a:bodyPr/>
          <a:lstStyle/>
          <a:p>
            <a:pPr marL="38100">
              <a:lnSpc>
                <a:spcPts val="2145"/>
              </a:lnSpc>
            </a:pPr>
            <a:fld id="{81D60167-4931-47E6-BA6A-407CBD079E47}" type="slidenum">
              <a:rPr lang="ru-RU" sz="2400" b="0" smtClean="0"/>
            </a:fld>
            <a:endParaRPr lang="ru-RU" sz="2400" b="0" dirty="0"/>
          </a:p>
        </p:txBody>
      </p:sp>
      <p:sp>
        <p:nvSpPr>
          <p:cNvPr id="19" name="Rectangle 4"/>
          <p:cNvSpPr>
            <a:spLocks noChangeArrowheads="1"/>
          </p:cNvSpPr>
          <p:nvPr/>
        </p:nvSpPr>
        <p:spPr bwMode="auto">
          <a:xfrm>
            <a:off x="717027" y="148478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ru-RU"/>
          </a:p>
        </p:txBody>
      </p:sp>
      <p:pic>
        <p:nvPicPr>
          <p:cNvPr id="13" name="Изображение 12"/>
          <p:cNvPicPr>
            <a:picLocks noChangeAspect="1"/>
          </p:cNvPicPr>
          <p:nvPr/>
        </p:nvPicPr>
        <p:blipFill>
          <a:blip r:embed="rId5"/>
          <a:srcRect b="13839"/>
          <a:stretch>
            <a:fillRect/>
          </a:stretch>
        </p:blipFill>
        <p:spPr>
          <a:xfrm>
            <a:off x="737870" y="1124585"/>
            <a:ext cx="9954895" cy="3640455"/>
          </a:xfrm>
          <a:prstGeom prst="rect">
            <a:avLst/>
          </a:prstGeom>
        </p:spPr>
      </p:pic>
      <p:sp>
        <p:nvSpPr>
          <p:cNvPr id="14" name="Текстовое поле 13"/>
          <p:cNvSpPr txBox="1"/>
          <p:nvPr/>
        </p:nvSpPr>
        <p:spPr>
          <a:xfrm>
            <a:off x="767715" y="706438"/>
            <a:ext cx="5080000" cy="460375"/>
          </a:xfrm>
          <a:prstGeom prst="rect">
            <a:avLst/>
          </a:prstGeom>
        </p:spPr>
        <p:txBody>
          <a:bodyPr>
            <a:spAutoFit/>
          </a:bodyPr>
          <a:p>
            <a:pPr marL="0" indent="0" algn="l">
              <a:spcBef>
                <a:spcPct val="0"/>
              </a:spcBef>
              <a:spcAft>
                <a:spcPts val="2400"/>
              </a:spcAft>
            </a:pPr>
            <a:r>
              <a:rPr sz="2400" b="1" i="0">
                <a:solidFill>
                  <a:schemeClr val="tx1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</a:rPr>
              <a:t>Механизм детрилирования</a:t>
            </a:r>
            <a:endParaRPr sz="2400" b="1" i="0">
              <a:solidFill>
                <a:schemeClr val="tx1"/>
              </a:solidFill>
              <a:latin typeface="Times New Roman" panose="02020603050405020304" pitchFamily="18" charset="0"/>
              <a:ea typeface="Merriweather"/>
              <a:cs typeface="Times New Roman" panose="02020603050405020304" pitchFamily="18" charset="0"/>
            </a:endParaRPr>
          </a:p>
        </p:txBody>
      </p:sp>
      <p:sp>
        <p:nvSpPr>
          <p:cNvPr id="15" name="Текстовое поле 14"/>
          <p:cNvSpPr txBox="1"/>
          <p:nvPr/>
        </p:nvSpPr>
        <p:spPr>
          <a:xfrm>
            <a:off x="839470" y="5445125"/>
            <a:ext cx="9783445" cy="64516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/>
            <a:r>
              <a:rPr b="0" i="0">
                <a:solidFill>
                  <a:schemeClr val="tx1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</a:rPr>
              <a:t>Первая стадия цикла — удаление защитной DMT-группы (4,4'-диметокситритил) для активации 5'-OH конца.</a:t>
            </a:r>
            <a:endParaRPr b="0" i="0">
              <a:solidFill>
                <a:schemeClr val="tx1"/>
              </a:solidFill>
              <a:latin typeface="Times New Roman" panose="02020603050405020304" pitchFamily="18" charset="0"/>
              <a:ea typeface="DM Sans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493776" y="1043939"/>
            <a:ext cx="9946005" cy="0"/>
          </a:xfrm>
          <a:custGeom>
            <a:avLst/>
            <a:gdLst/>
            <a:ahLst/>
            <a:cxnLst/>
            <a:rect l="l" t="t" r="r" b="b"/>
            <a:pathLst>
              <a:path w="9946005">
                <a:moveTo>
                  <a:pt x="0" y="0"/>
                </a:moveTo>
                <a:lnTo>
                  <a:pt x="9946005" y="0"/>
                </a:lnTo>
              </a:path>
            </a:pathLst>
          </a:custGeom>
          <a:ln w="6096">
            <a:solidFill>
              <a:srgbClr val="5B9BD4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10913388" y="236043"/>
            <a:ext cx="668655" cy="1195070"/>
            <a:chOff x="10913388" y="236043"/>
            <a:chExt cx="668655" cy="1195070"/>
          </a:xfrm>
        </p:grpSpPr>
        <p:sp>
          <p:nvSpPr>
            <p:cNvPr id="5" name="object 5"/>
            <p:cNvSpPr/>
            <p:nvPr/>
          </p:nvSpPr>
          <p:spPr>
            <a:xfrm>
              <a:off x="10913388" y="601685"/>
              <a:ext cx="668655" cy="829310"/>
            </a:xfrm>
            <a:custGeom>
              <a:avLst/>
              <a:gdLst/>
              <a:ahLst/>
              <a:cxnLst/>
              <a:rect l="l" t="t" r="r" b="b"/>
              <a:pathLst>
                <a:path w="668654" h="829310">
                  <a:moveTo>
                    <a:pt x="126245" y="651742"/>
                  </a:moveTo>
                  <a:lnTo>
                    <a:pt x="61660" y="651742"/>
                  </a:lnTo>
                  <a:lnTo>
                    <a:pt x="293695" y="785010"/>
                  </a:lnTo>
                  <a:lnTo>
                    <a:pt x="293695" y="788261"/>
                  </a:lnTo>
                  <a:lnTo>
                    <a:pt x="296840" y="803522"/>
                  </a:lnTo>
                  <a:lnTo>
                    <a:pt x="305461" y="816499"/>
                  </a:lnTo>
                  <a:lnTo>
                    <a:pt x="318342" y="825514"/>
                  </a:lnTo>
                  <a:lnTo>
                    <a:pt x="334264" y="828892"/>
                  </a:lnTo>
                  <a:lnTo>
                    <a:pt x="350186" y="825514"/>
                  </a:lnTo>
                  <a:lnTo>
                    <a:pt x="363065" y="816499"/>
                  </a:lnTo>
                  <a:lnTo>
                    <a:pt x="371685" y="803522"/>
                  </a:lnTo>
                  <a:lnTo>
                    <a:pt x="374828" y="788261"/>
                  </a:lnTo>
                  <a:lnTo>
                    <a:pt x="374828" y="785010"/>
                  </a:lnTo>
                  <a:lnTo>
                    <a:pt x="425403" y="755758"/>
                  </a:lnTo>
                  <a:lnTo>
                    <a:pt x="306680" y="755758"/>
                  </a:lnTo>
                  <a:lnTo>
                    <a:pt x="126245" y="651742"/>
                  </a:lnTo>
                  <a:close/>
                </a:path>
                <a:path w="668654" h="829310">
                  <a:moveTo>
                    <a:pt x="334061" y="747226"/>
                  </a:moveTo>
                  <a:lnTo>
                    <a:pt x="319838" y="749359"/>
                  </a:lnTo>
                  <a:lnTo>
                    <a:pt x="306680" y="755758"/>
                  </a:lnTo>
                  <a:lnTo>
                    <a:pt x="360223" y="755758"/>
                  </a:lnTo>
                  <a:lnTo>
                    <a:pt x="347979" y="749359"/>
                  </a:lnTo>
                  <a:lnTo>
                    <a:pt x="334061" y="747226"/>
                  </a:lnTo>
                  <a:close/>
                </a:path>
                <a:path w="668654" h="829310">
                  <a:moveTo>
                    <a:pt x="481925" y="0"/>
                  </a:moveTo>
                  <a:lnTo>
                    <a:pt x="466002" y="3149"/>
                  </a:lnTo>
                  <a:lnTo>
                    <a:pt x="453122" y="11786"/>
                  </a:lnTo>
                  <a:lnTo>
                    <a:pt x="444500" y="24690"/>
                  </a:lnTo>
                  <a:lnTo>
                    <a:pt x="441355" y="40645"/>
                  </a:lnTo>
                  <a:lnTo>
                    <a:pt x="443105" y="52421"/>
                  </a:lnTo>
                  <a:lnTo>
                    <a:pt x="448050" y="62990"/>
                  </a:lnTo>
                  <a:lnTo>
                    <a:pt x="455733" y="71738"/>
                  </a:lnTo>
                  <a:lnTo>
                    <a:pt x="465698" y="78054"/>
                  </a:lnTo>
                  <a:lnTo>
                    <a:pt x="465698" y="206407"/>
                  </a:lnTo>
                  <a:lnTo>
                    <a:pt x="587384" y="271461"/>
                  </a:lnTo>
                  <a:lnTo>
                    <a:pt x="587384" y="274697"/>
                  </a:lnTo>
                  <a:lnTo>
                    <a:pt x="585796" y="276288"/>
                  </a:lnTo>
                  <a:lnTo>
                    <a:pt x="585796" y="277933"/>
                  </a:lnTo>
                  <a:lnTo>
                    <a:pt x="587846" y="290887"/>
                  </a:lnTo>
                  <a:lnTo>
                    <a:pt x="593695" y="302316"/>
                  </a:lnTo>
                  <a:lnTo>
                    <a:pt x="602892" y="311306"/>
                  </a:lnTo>
                  <a:lnTo>
                    <a:pt x="614985" y="316944"/>
                  </a:lnTo>
                  <a:lnTo>
                    <a:pt x="614985" y="578603"/>
                  </a:lnTo>
                  <a:lnTo>
                    <a:pt x="602892" y="584928"/>
                  </a:lnTo>
                  <a:lnTo>
                    <a:pt x="593695" y="593842"/>
                  </a:lnTo>
                  <a:lnTo>
                    <a:pt x="587846" y="604889"/>
                  </a:lnTo>
                  <a:lnTo>
                    <a:pt x="585796" y="617614"/>
                  </a:lnTo>
                  <a:lnTo>
                    <a:pt x="585796" y="620861"/>
                  </a:lnTo>
                  <a:lnTo>
                    <a:pt x="587384" y="622484"/>
                  </a:lnTo>
                  <a:lnTo>
                    <a:pt x="587384" y="625737"/>
                  </a:lnTo>
                  <a:lnTo>
                    <a:pt x="360223" y="755758"/>
                  </a:lnTo>
                  <a:lnTo>
                    <a:pt x="425403" y="755758"/>
                  </a:lnTo>
                  <a:lnTo>
                    <a:pt x="605237" y="651742"/>
                  </a:lnTo>
                  <a:lnTo>
                    <a:pt x="648894" y="651742"/>
                  </a:lnTo>
                  <a:lnTo>
                    <a:pt x="656777" y="646460"/>
                  </a:lnTo>
                  <a:lnTo>
                    <a:pt x="665399" y="633561"/>
                  </a:lnTo>
                  <a:lnTo>
                    <a:pt x="668544" y="617614"/>
                  </a:lnTo>
                  <a:lnTo>
                    <a:pt x="667074" y="606997"/>
                  </a:lnTo>
                  <a:lnTo>
                    <a:pt x="662862" y="597295"/>
                  </a:lnTo>
                  <a:lnTo>
                    <a:pt x="656207" y="588813"/>
                  </a:lnTo>
                  <a:lnTo>
                    <a:pt x="647405" y="581856"/>
                  </a:lnTo>
                  <a:lnTo>
                    <a:pt x="647405" y="313691"/>
                  </a:lnTo>
                  <a:lnTo>
                    <a:pt x="656207" y="307648"/>
                  </a:lnTo>
                  <a:lnTo>
                    <a:pt x="662862" y="299471"/>
                  </a:lnTo>
                  <a:lnTo>
                    <a:pt x="667074" y="289465"/>
                  </a:lnTo>
                  <a:lnTo>
                    <a:pt x="668544" y="277933"/>
                  </a:lnTo>
                  <a:lnTo>
                    <a:pt x="665399" y="261979"/>
                  </a:lnTo>
                  <a:lnTo>
                    <a:pt x="656777" y="249074"/>
                  </a:lnTo>
                  <a:lnTo>
                    <a:pt x="648931" y="243815"/>
                  </a:lnTo>
                  <a:lnTo>
                    <a:pt x="605237" y="243815"/>
                  </a:lnTo>
                  <a:lnTo>
                    <a:pt x="498151" y="186934"/>
                  </a:lnTo>
                  <a:lnTo>
                    <a:pt x="498151" y="78054"/>
                  </a:lnTo>
                  <a:lnTo>
                    <a:pt x="508113" y="71738"/>
                  </a:lnTo>
                  <a:lnTo>
                    <a:pt x="515795" y="62990"/>
                  </a:lnTo>
                  <a:lnTo>
                    <a:pt x="520739" y="52421"/>
                  </a:lnTo>
                  <a:lnTo>
                    <a:pt x="522488" y="40645"/>
                  </a:lnTo>
                  <a:lnTo>
                    <a:pt x="519345" y="24690"/>
                  </a:lnTo>
                  <a:lnTo>
                    <a:pt x="510725" y="11786"/>
                  </a:lnTo>
                  <a:lnTo>
                    <a:pt x="497846" y="3149"/>
                  </a:lnTo>
                  <a:lnTo>
                    <a:pt x="481925" y="0"/>
                  </a:lnTo>
                  <a:close/>
                </a:path>
                <a:path w="668654" h="829310">
                  <a:moveTo>
                    <a:pt x="48679" y="237288"/>
                  </a:moveTo>
                  <a:lnTo>
                    <a:pt x="40566" y="237288"/>
                  </a:lnTo>
                  <a:lnTo>
                    <a:pt x="24644" y="240438"/>
                  </a:lnTo>
                  <a:lnTo>
                    <a:pt x="11764" y="249074"/>
                  </a:lnTo>
                  <a:lnTo>
                    <a:pt x="3143" y="261979"/>
                  </a:lnTo>
                  <a:lnTo>
                    <a:pt x="0" y="277933"/>
                  </a:lnTo>
                  <a:lnTo>
                    <a:pt x="1470" y="289491"/>
                  </a:lnTo>
                  <a:lnTo>
                    <a:pt x="5679" y="299674"/>
                  </a:lnTo>
                  <a:lnTo>
                    <a:pt x="12322" y="308333"/>
                  </a:lnTo>
                  <a:lnTo>
                    <a:pt x="21095" y="315315"/>
                  </a:lnTo>
                  <a:lnTo>
                    <a:pt x="21095" y="581856"/>
                  </a:lnTo>
                  <a:lnTo>
                    <a:pt x="12322" y="588128"/>
                  </a:lnTo>
                  <a:lnTo>
                    <a:pt x="5679" y="596686"/>
                  </a:lnTo>
                  <a:lnTo>
                    <a:pt x="1470" y="606769"/>
                  </a:lnTo>
                  <a:lnTo>
                    <a:pt x="0" y="617614"/>
                  </a:lnTo>
                  <a:lnTo>
                    <a:pt x="3143" y="633561"/>
                  </a:lnTo>
                  <a:lnTo>
                    <a:pt x="11764" y="646460"/>
                  </a:lnTo>
                  <a:lnTo>
                    <a:pt x="24644" y="655094"/>
                  </a:lnTo>
                  <a:lnTo>
                    <a:pt x="40566" y="658242"/>
                  </a:lnTo>
                  <a:lnTo>
                    <a:pt x="48679" y="658242"/>
                  </a:lnTo>
                  <a:lnTo>
                    <a:pt x="55171" y="656619"/>
                  </a:lnTo>
                  <a:lnTo>
                    <a:pt x="61660" y="651742"/>
                  </a:lnTo>
                  <a:lnTo>
                    <a:pt x="126245" y="651742"/>
                  </a:lnTo>
                  <a:lnTo>
                    <a:pt x="81134" y="625737"/>
                  </a:lnTo>
                  <a:lnTo>
                    <a:pt x="81134" y="617614"/>
                  </a:lnTo>
                  <a:lnTo>
                    <a:pt x="79106" y="604889"/>
                  </a:lnTo>
                  <a:lnTo>
                    <a:pt x="73426" y="593842"/>
                  </a:lnTo>
                  <a:lnTo>
                    <a:pt x="64703" y="584928"/>
                  </a:lnTo>
                  <a:lnTo>
                    <a:pt x="53544" y="578603"/>
                  </a:lnTo>
                  <a:lnTo>
                    <a:pt x="53544" y="316944"/>
                  </a:lnTo>
                  <a:lnTo>
                    <a:pt x="64703" y="310621"/>
                  </a:lnTo>
                  <a:lnTo>
                    <a:pt x="73426" y="301707"/>
                  </a:lnTo>
                  <a:lnTo>
                    <a:pt x="79106" y="290658"/>
                  </a:lnTo>
                  <a:lnTo>
                    <a:pt x="81134" y="277933"/>
                  </a:lnTo>
                  <a:lnTo>
                    <a:pt x="81134" y="276288"/>
                  </a:lnTo>
                  <a:lnTo>
                    <a:pt x="79508" y="274697"/>
                  </a:lnTo>
                  <a:lnTo>
                    <a:pt x="79508" y="271461"/>
                  </a:lnTo>
                  <a:lnTo>
                    <a:pt x="130664" y="243815"/>
                  </a:lnTo>
                  <a:lnTo>
                    <a:pt x="61660" y="243815"/>
                  </a:lnTo>
                  <a:lnTo>
                    <a:pt x="48679" y="237288"/>
                  </a:lnTo>
                  <a:close/>
                </a:path>
                <a:path w="668654" h="829310">
                  <a:moveTo>
                    <a:pt x="648894" y="651742"/>
                  </a:moveTo>
                  <a:lnTo>
                    <a:pt x="605237" y="651742"/>
                  </a:lnTo>
                  <a:lnTo>
                    <a:pt x="611754" y="656619"/>
                  </a:lnTo>
                  <a:lnTo>
                    <a:pt x="619859" y="658242"/>
                  </a:lnTo>
                  <a:lnTo>
                    <a:pt x="627964" y="658242"/>
                  </a:lnTo>
                  <a:lnTo>
                    <a:pt x="643893" y="655094"/>
                  </a:lnTo>
                  <a:lnTo>
                    <a:pt x="648894" y="651742"/>
                  </a:lnTo>
                  <a:close/>
                </a:path>
                <a:path w="668654" h="829310">
                  <a:moveTo>
                    <a:pt x="186604" y="0"/>
                  </a:moveTo>
                  <a:lnTo>
                    <a:pt x="170682" y="3149"/>
                  </a:lnTo>
                  <a:lnTo>
                    <a:pt x="157801" y="11786"/>
                  </a:lnTo>
                  <a:lnTo>
                    <a:pt x="149179" y="24690"/>
                  </a:lnTo>
                  <a:lnTo>
                    <a:pt x="146035" y="40645"/>
                  </a:lnTo>
                  <a:lnTo>
                    <a:pt x="147785" y="52421"/>
                  </a:lnTo>
                  <a:lnTo>
                    <a:pt x="152729" y="62990"/>
                  </a:lnTo>
                  <a:lnTo>
                    <a:pt x="160412" y="71738"/>
                  </a:lnTo>
                  <a:lnTo>
                    <a:pt x="170378" y="78054"/>
                  </a:lnTo>
                  <a:lnTo>
                    <a:pt x="170378" y="185289"/>
                  </a:lnTo>
                  <a:lnTo>
                    <a:pt x="61660" y="243815"/>
                  </a:lnTo>
                  <a:lnTo>
                    <a:pt x="130664" y="243815"/>
                  </a:lnTo>
                  <a:lnTo>
                    <a:pt x="202831" y="204816"/>
                  </a:lnTo>
                  <a:lnTo>
                    <a:pt x="202831" y="78054"/>
                  </a:lnTo>
                  <a:lnTo>
                    <a:pt x="212795" y="71738"/>
                  </a:lnTo>
                  <a:lnTo>
                    <a:pt x="220476" y="62990"/>
                  </a:lnTo>
                  <a:lnTo>
                    <a:pt x="225419" y="52421"/>
                  </a:lnTo>
                  <a:lnTo>
                    <a:pt x="227168" y="40645"/>
                  </a:lnTo>
                  <a:lnTo>
                    <a:pt x="224024" y="24690"/>
                  </a:lnTo>
                  <a:lnTo>
                    <a:pt x="215405" y="11786"/>
                  </a:lnTo>
                  <a:lnTo>
                    <a:pt x="202526" y="3149"/>
                  </a:lnTo>
                  <a:lnTo>
                    <a:pt x="186604" y="0"/>
                  </a:lnTo>
                  <a:close/>
                </a:path>
                <a:path w="668654" h="829310">
                  <a:moveTo>
                    <a:pt x="627964" y="237288"/>
                  </a:moveTo>
                  <a:lnTo>
                    <a:pt x="619859" y="237288"/>
                  </a:lnTo>
                  <a:lnTo>
                    <a:pt x="611754" y="240579"/>
                  </a:lnTo>
                  <a:lnTo>
                    <a:pt x="605237" y="243815"/>
                  </a:lnTo>
                  <a:lnTo>
                    <a:pt x="648931" y="243815"/>
                  </a:lnTo>
                  <a:lnTo>
                    <a:pt x="643893" y="240438"/>
                  </a:lnTo>
                  <a:lnTo>
                    <a:pt x="627964" y="237288"/>
                  </a:lnTo>
                  <a:close/>
                </a:path>
              </a:pathLst>
            </a:custGeom>
            <a:solidFill>
              <a:srgbClr val="1D70B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1164899" y="466804"/>
              <a:ext cx="115207" cy="11540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95725" y="236043"/>
              <a:ext cx="79511" cy="7964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293085" y="336806"/>
              <a:ext cx="95738" cy="9588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150293" y="954381"/>
              <a:ext cx="193092" cy="20315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1054555" y="855264"/>
              <a:ext cx="386080" cy="388620"/>
            </a:xfrm>
            <a:custGeom>
              <a:avLst/>
              <a:gdLst/>
              <a:ahLst/>
              <a:cxnLst/>
              <a:rect l="l" t="t" r="r" b="b"/>
              <a:pathLst>
                <a:path w="386079" h="388619">
                  <a:moveTo>
                    <a:pt x="193097" y="0"/>
                  </a:moveTo>
                  <a:lnTo>
                    <a:pt x="148680" y="5173"/>
                  </a:lnTo>
                  <a:lnTo>
                    <a:pt x="107980" y="19896"/>
                  </a:lnTo>
                  <a:lnTo>
                    <a:pt x="72135" y="42977"/>
                  </a:lnTo>
                  <a:lnTo>
                    <a:pt x="42279" y="73222"/>
                  </a:lnTo>
                  <a:lnTo>
                    <a:pt x="19547" y="109438"/>
                  </a:lnTo>
                  <a:lnTo>
                    <a:pt x="5076" y="150431"/>
                  </a:lnTo>
                  <a:lnTo>
                    <a:pt x="0" y="195008"/>
                  </a:lnTo>
                  <a:lnTo>
                    <a:pt x="5076" y="238984"/>
                  </a:lnTo>
                  <a:lnTo>
                    <a:pt x="19547" y="279548"/>
                  </a:lnTo>
                  <a:lnTo>
                    <a:pt x="42279" y="315478"/>
                  </a:lnTo>
                  <a:lnTo>
                    <a:pt x="72135" y="345552"/>
                  </a:lnTo>
                  <a:lnTo>
                    <a:pt x="107980" y="368547"/>
                  </a:lnTo>
                  <a:lnTo>
                    <a:pt x="148680" y="383241"/>
                  </a:lnTo>
                  <a:lnTo>
                    <a:pt x="193097" y="388410"/>
                  </a:lnTo>
                  <a:lnTo>
                    <a:pt x="224080" y="385059"/>
                  </a:lnTo>
                  <a:lnTo>
                    <a:pt x="253541" y="377440"/>
                  </a:lnTo>
                  <a:lnTo>
                    <a:pt x="281175" y="365555"/>
                  </a:lnTo>
                  <a:lnTo>
                    <a:pt x="296414" y="355905"/>
                  </a:lnTo>
                  <a:lnTo>
                    <a:pt x="193097" y="355905"/>
                  </a:lnTo>
                  <a:lnTo>
                    <a:pt x="150090" y="350081"/>
                  </a:lnTo>
                  <a:lnTo>
                    <a:pt x="111365" y="333694"/>
                  </a:lnTo>
                  <a:lnTo>
                    <a:pt x="78498" y="308368"/>
                  </a:lnTo>
                  <a:lnTo>
                    <a:pt x="53069" y="275728"/>
                  </a:lnTo>
                  <a:lnTo>
                    <a:pt x="36654" y="237400"/>
                  </a:lnTo>
                  <a:lnTo>
                    <a:pt x="30832" y="195008"/>
                  </a:lnTo>
                  <a:lnTo>
                    <a:pt x="36654" y="151930"/>
                  </a:lnTo>
                  <a:lnTo>
                    <a:pt x="53069" y="113140"/>
                  </a:lnTo>
                  <a:lnTo>
                    <a:pt x="78498" y="80218"/>
                  </a:lnTo>
                  <a:lnTo>
                    <a:pt x="111365" y="54746"/>
                  </a:lnTo>
                  <a:lnTo>
                    <a:pt x="150090" y="38304"/>
                  </a:lnTo>
                  <a:lnTo>
                    <a:pt x="193097" y="32472"/>
                  </a:lnTo>
                  <a:lnTo>
                    <a:pt x="326658" y="32472"/>
                  </a:lnTo>
                  <a:lnTo>
                    <a:pt x="324531" y="30881"/>
                  </a:lnTo>
                  <a:lnTo>
                    <a:pt x="295325" y="30881"/>
                  </a:lnTo>
                  <a:lnTo>
                    <a:pt x="271365" y="17818"/>
                  </a:lnTo>
                  <a:lnTo>
                    <a:pt x="246035" y="8118"/>
                  </a:lnTo>
                  <a:lnTo>
                    <a:pt x="219794" y="2079"/>
                  </a:lnTo>
                  <a:lnTo>
                    <a:pt x="193097" y="0"/>
                  </a:lnTo>
                  <a:close/>
                </a:path>
                <a:path w="386079" h="388619">
                  <a:moveTo>
                    <a:pt x="376453" y="162503"/>
                  </a:moveTo>
                  <a:lnTo>
                    <a:pt x="363474" y="162503"/>
                  </a:lnTo>
                  <a:lnTo>
                    <a:pt x="353737" y="172256"/>
                  </a:lnTo>
                  <a:lnTo>
                    <a:pt x="353737" y="180379"/>
                  </a:lnTo>
                  <a:lnTo>
                    <a:pt x="354356" y="190562"/>
                  </a:lnTo>
                  <a:lnTo>
                    <a:pt x="354305" y="202930"/>
                  </a:lnTo>
                  <a:lnTo>
                    <a:pt x="340756" y="257985"/>
                  </a:lnTo>
                  <a:lnTo>
                    <a:pt x="318042" y="295771"/>
                  </a:lnTo>
                  <a:lnTo>
                    <a:pt x="270907" y="335338"/>
                  </a:lnTo>
                  <a:lnTo>
                    <a:pt x="220657" y="353518"/>
                  </a:lnTo>
                  <a:lnTo>
                    <a:pt x="193097" y="355905"/>
                  </a:lnTo>
                  <a:lnTo>
                    <a:pt x="296414" y="355905"/>
                  </a:lnTo>
                  <a:lnTo>
                    <a:pt x="334268" y="325023"/>
                  </a:lnTo>
                  <a:lnTo>
                    <a:pt x="367937" y="275658"/>
                  </a:lnTo>
                  <a:lnTo>
                    <a:pt x="384569" y="217761"/>
                  </a:lnTo>
                  <a:lnTo>
                    <a:pt x="385937" y="190562"/>
                  </a:lnTo>
                  <a:lnTo>
                    <a:pt x="384569" y="177127"/>
                  </a:lnTo>
                  <a:lnTo>
                    <a:pt x="384569" y="172256"/>
                  </a:lnTo>
                  <a:lnTo>
                    <a:pt x="382948" y="169003"/>
                  </a:lnTo>
                  <a:lnTo>
                    <a:pt x="376453" y="162503"/>
                  </a:lnTo>
                  <a:close/>
                </a:path>
                <a:path w="386079" h="388619">
                  <a:moveTo>
                    <a:pt x="326658" y="32472"/>
                  </a:moveTo>
                  <a:lnTo>
                    <a:pt x="193097" y="32472"/>
                  </a:lnTo>
                  <a:lnTo>
                    <a:pt x="214952" y="33998"/>
                  </a:lnTo>
                  <a:lnTo>
                    <a:pt x="236503" y="38573"/>
                  </a:lnTo>
                  <a:lnTo>
                    <a:pt x="257445" y="46196"/>
                  </a:lnTo>
                  <a:lnTo>
                    <a:pt x="277472" y="56864"/>
                  </a:lnTo>
                  <a:lnTo>
                    <a:pt x="277472" y="58488"/>
                  </a:lnTo>
                  <a:lnTo>
                    <a:pt x="279780" y="71108"/>
                  </a:lnTo>
                  <a:lnTo>
                    <a:pt x="286196" y="81444"/>
                  </a:lnTo>
                  <a:lnTo>
                    <a:pt x="295958" y="88428"/>
                  </a:lnTo>
                  <a:lnTo>
                    <a:pt x="308305" y="90993"/>
                  </a:lnTo>
                  <a:lnTo>
                    <a:pt x="320905" y="88428"/>
                  </a:lnTo>
                  <a:lnTo>
                    <a:pt x="331224" y="81444"/>
                  </a:lnTo>
                  <a:lnTo>
                    <a:pt x="338197" y="71108"/>
                  </a:lnTo>
                  <a:lnTo>
                    <a:pt x="340758" y="58488"/>
                  </a:lnTo>
                  <a:lnTo>
                    <a:pt x="340758" y="50359"/>
                  </a:lnTo>
                  <a:lnTo>
                    <a:pt x="337510" y="42235"/>
                  </a:lnTo>
                  <a:lnTo>
                    <a:pt x="331021" y="35735"/>
                  </a:lnTo>
                  <a:lnTo>
                    <a:pt x="326658" y="32472"/>
                  </a:lnTo>
                  <a:close/>
                </a:path>
                <a:path w="386079" h="388619">
                  <a:moveTo>
                    <a:pt x="316415" y="27590"/>
                  </a:moveTo>
                  <a:lnTo>
                    <a:pt x="298567" y="27590"/>
                  </a:lnTo>
                  <a:lnTo>
                    <a:pt x="295325" y="30881"/>
                  </a:lnTo>
                  <a:lnTo>
                    <a:pt x="324531" y="30881"/>
                  </a:lnTo>
                  <a:lnTo>
                    <a:pt x="316415" y="27590"/>
                  </a:lnTo>
                  <a:close/>
                </a:path>
              </a:pathLst>
            </a:custGeom>
            <a:solidFill>
              <a:srgbClr val="1D70B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Номер слайда 13"/>
          <p:cNvSpPr>
            <a:spLocks noGrp="1"/>
          </p:cNvSpPr>
          <p:nvPr>
            <p:ph type="sldNum" sz="quarter" idx="12"/>
          </p:nvPr>
        </p:nvSpPr>
        <p:spPr>
          <a:xfrm>
            <a:off x="11240768" y="6397751"/>
            <a:ext cx="373931" cy="274955"/>
          </a:xfrm>
        </p:spPr>
        <p:txBody>
          <a:bodyPr/>
          <a:lstStyle/>
          <a:p>
            <a:pPr marL="38100">
              <a:lnSpc>
                <a:spcPts val="2145"/>
              </a:lnSpc>
            </a:pPr>
            <a:fld id="{81D60167-4931-47E6-BA6A-407CBD079E47}" type="slidenum">
              <a:rPr lang="ru-RU" sz="2400" b="0" smtClean="0"/>
            </a:fld>
            <a:endParaRPr lang="ru-RU" sz="2400" b="0" dirty="0"/>
          </a:p>
        </p:txBody>
      </p:sp>
      <p:sp>
        <p:nvSpPr>
          <p:cNvPr id="15" name="Rectangle 2"/>
          <p:cNvSpPr>
            <a:spLocks noChangeArrowheads="1"/>
          </p:cNvSpPr>
          <p:nvPr/>
        </p:nvSpPr>
        <p:spPr bwMode="auto">
          <a:xfrm>
            <a:off x="9732899" y="200941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ru-RU"/>
          </a:p>
        </p:txBody>
      </p:sp>
      <p:sp>
        <p:nvSpPr>
          <p:cNvPr id="17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ru-RU"/>
          </a:p>
        </p:txBody>
      </p:sp>
      <p:pic>
        <p:nvPicPr>
          <p:cNvPr id="2" name="Изображение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715" y="1052830"/>
            <a:ext cx="9969500" cy="4098925"/>
          </a:xfrm>
          <a:prstGeom prst="rect">
            <a:avLst/>
          </a:prstGeom>
        </p:spPr>
      </p:pic>
      <p:sp>
        <p:nvSpPr>
          <p:cNvPr id="11" name="Текстовое поле 10"/>
          <p:cNvSpPr txBox="1"/>
          <p:nvPr/>
        </p:nvSpPr>
        <p:spPr>
          <a:xfrm>
            <a:off x="551815" y="621030"/>
            <a:ext cx="74256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Стадия 1: Механизм активации и конденсации фосфорамидита</a:t>
            </a:r>
            <a:endParaRPr lang="ru-RU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493776" y="1043939"/>
            <a:ext cx="9946005" cy="0"/>
          </a:xfrm>
          <a:custGeom>
            <a:avLst/>
            <a:gdLst/>
            <a:ahLst/>
            <a:cxnLst/>
            <a:rect l="l" t="t" r="r" b="b"/>
            <a:pathLst>
              <a:path w="9946005">
                <a:moveTo>
                  <a:pt x="0" y="0"/>
                </a:moveTo>
                <a:lnTo>
                  <a:pt x="9946005" y="0"/>
                </a:lnTo>
              </a:path>
            </a:pathLst>
          </a:custGeom>
          <a:ln w="6096">
            <a:solidFill>
              <a:srgbClr val="5B9BD4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10913388" y="236043"/>
            <a:ext cx="668655" cy="1195070"/>
            <a:chOff x="10913388" y="236043"/>
            <a:chExt cx="668655" cy="1195070"/>
          </a:xfrm>
        </p:grpSpPr>
        <p:sp>
          <p:nvSpPr>
            <p:cNvPr id="5" name="object 5"/>
            <p:cNvSpPr/>
            <p:nvPr/>
          </p:nvSpPr>
          <p:spPr>
            <a:xfrm>
              <a:off x="10913388" y="601685"/>
              <a:ext cx="668655" cy="829310"/>
            </a:xfrm>
            <a:custGeom>
              <a:avLst/>
              <a:gdLst/>
              <a:ahLst/>
              <a:cxnLst/>
              <a:rect l="l" t="t" r="r" b="b"/>
              <a:pathLst>
                <a:path w="668654" h="829310">
                  <a:moveTo>
                    <a:pt x="126245" y="651742"/>
                  </a:moveTo>
                  <a:lnTo>
                    <a:pt x="61660" y="651742"/>
                  </a:lnTo>
                  <a:lnTo>
                    <a:pt x="293695" y="785010"/>
                  </a:lnTo>
                  <a:lnTo>
                    <a:pt x="293695" y="788261"/>
                  </a:lnTo>
                  <a:lnTo>
                    <a:pt x="296840" y="803522"/>
                  </a:lnTo>
                  <a:lnTo>
                    <a:pt x="305461" y="816499"/>
                  </a:lnTo>
                  <a:lnTo>
                    <a:pt x="318342" y="825514"/>
                  </a:lnTo>
                  <a:lnTo>
                    <a:pt x="334264" y="828892"/>
                  </a:lnTo>
                  <a:lnTo>
                    <a:pt x="350186" y="825514"/>
                  </a:lnTo>
                  <a:lnTo>
                    <a:pt x="363065" y="816499"/>
                  </a:lnTo>
                  <a:lnTo>
                    <a:pt x="371685" y="803522"/>
                  </a:lnTo>
                  <a:lnTo>
                    <a:pt x="374828" y="788261"/>
                  </a:lnTo>
                  <a:lnTo>
                    <a:pt x="374828" y="785010"/>
                  </a:lnTo>
                  <a:lnTo>
                    <a:pt x="425403" y="755758"/>
                  </a:lnTo>
                  <a:lnTo>
                    <a:pt x="306680" y="755758"/>
                  </a:lnTo>
                  <a:lnTo>
                    <a:pt x="126245" y="651742"/>
                  </a:lnTo>
                  <a:close/>
                </a:path>
                <a:path w="668654" h="829310">
                  <a:moveTo>
                    <a:pt x="334061" y="747226"/>
                  </a:moveTo>
                  <a:lnTo>
                    <a:pt x="319838" y="749359"/>
                  </a:lnTo>
                  <a:lnTo>
                    <a:pt x="306680" y="755758"/>
                  </a:lnTo>
                  <a:lnTo>
                    <a:pt x="360223" y="755758"/>
                  </a:lnTo>
                  <a:lnTo>
                    <a:pt x="347979" y="749359"/>
                  </a:lnTo>
                  <a:lnTo>
                    <a:pt x="334061" y="747226"/>
                  </a:lnTo>
                  <a:close/>
                </a:path>
                <a:path w="668654" h="829310">
                  <a:moveTo>
                    <a:pt x="481925" y="0"/>
                  </a:moveTo>
                  <a:lnTo>
                    <a:pt x="466002" y="3149"/>
                  </a:lnTo>
                  <a:lnTo>
                    <a:pt x="453122" y="11786"/>
                  </a:lnTo>
                  <a:lnTo>
                    <a:pt x="444500" y="24690"/>
                  </a:lnTo>
                  <a:lnTo>
                    <a:pt x="441355" y="40645"/>
                  </a:lnTo>
                  <a:lnTo>
                    <a:pt x="443105" y="52421"/>
                  </a:lnTo>
                  <a:lnTo>
                    <a:pt x="448050" y="62990"/>
                  </a:lnTo>
                  <a:lnTo>
                    <a:pt x="455733" y="71738"/>
                  </a:lnTo>
                  <a:lnTo>
                    <a:pt x="465698" y="78054"/>
                  </a:lnTo>
                  <a:lnTo>
                    <a:pt x="465698" y="206407"/>
                  </a:lnTo>
                  <a:lnTo>
                    <a:pt x="587384" y="271461"/>
                  </a:lnTo>
                  <a:lnTo>
                    <a:pt x="587384" y="274697"/>
                  </a:lnTo>
                  <a:lnTo>
                    <a:pt x="585796" y="276288"/>
                  </a:lnTo>
                  <a:lnTo>
                    <a:pt x="585796" y="277933"/>
                  </a:lnTo>
                  <a:lnTo>
                    <a:pt x="587846" y="290887"/>
                  </a:lnTo>
                  <a:lnTo>
                    <a:pt x="593695" y="302316"/>
                  </a:lnTo>
                  <a:lnTo>
                    <a:pt x="602892" y="311306"/>
                  </a:lnTo>
                  <a:lnTo>
                    <a:pt x="614985" y="316944"/>
                  </a:lnTo>
                  <a:lnTo>
                    <a:pt x="614985" y="578603"/>
                  </a:lnTo>
                  <a:lnTo>
                    <a:pt x="602892" y="584928"/>
                  </a:lnTo>
                  <a:lnTo>
                    <a:pt x="593695" y="593842"/>
                  </a:lnTo>
                  <a:lnTo>
                    <a:pt x="587846" y="604889"/>
                  </a:lnTo>
                  <a:lnTo>
                    <a:pt x="585796" y="617614"/>
                  </a:lnTo>
                  <a:lnTo>
                    <a:pt x="585796" y="620861"/>
                  </a:lnTo>
                  <a:lnTo>
                    <a:pt x="587384" y="622484"/>
                  </a:lnTo>
                  <a:lnTo>
                    <a:pt x="587384" y="625737"/>
                  </a:lnTo>
                  <a:lnTo>
                    <a:pt x="360223" y="755758"/>
                  </a:lnTo>
                  <a:lnTo>
                    <a:pt x="425403" y="755758"/>
                  </a:lnTo>
                  <a:lnTo>
                    <a:pt x="605237" y="651742"/>
                  </a:lnTo>
                  <a:lnTo>
                    <a:pt x="648894" y="651742"/>
                  </a:lnTo>
                  <a:lnTo>
                    <a:pt x="656777" y="646460"/>
                  </a:lnTo>
                  <a:lnTo>
                    <a:pt x="665399" y="633561"/>
                  </a:lnTo>
                  <a:lnTo>
                    <a:pt x="668544" y="617614"/>
                  </a:lnTo>
                  <a:lnTo>
                    <a:pt x="667074" y="606997"/>
                  </a:lnTo>
                  <a:lnTo>
                    <a:pt x="662862" y="597295"/>
                  </a:lnTo>
                  <a:lnTo>
                    <a:pt x="656207" y="588813"/>
                  </a:lnTo>
                  <a:lnTo>
                    <a:pt x="647405" y="581856"/>
                  </a:lnTo>
                  <a:lnTo>
                    <a:pt x="647405" y="313691"/>
                  </a:lnTo>
                  <a:lnTo>
                    <a:pt x="656207" y="307648"/>
                  </a:lnTo>
                  <a:lnTo>
                    <a:pt x="662862" y="299471"/>
                  </a:lnTo>
                  <a:lnTo>
                    <a:pt x="667074" y="289465"/>
                  </a:lnTo>
                  <a:lnTo>
                    <a:pt x="668544" y="277933"/>
                  </a:lnTo>
                  <a:lnTo>
                    <a:pt x="665399" y="261979"/>
                  </a:lnTo>
                  <a:lnTo>
                    <a:pt x="656777" y="249074"/>
                  </a:lnTo>
                  <a:lnTo>
                    <a:pt x="648931" y="243815"/>
                  </a:lnTo>
                  <a:lnTo>
                    <a:pt x="605237" y="243815"/>
                  </a:lnTo>
                  <a:lnTo>
                    <a:pt x="498151" y="186934"/>
                  </a:lnTo>
                  <a:lnTo>
                    <a:pt x="498151" y="78054"/>
                  </a:lnTo>
                  <a:lnTo>
                    <a:pt x="508113" y="71738"/>
                  </a:lnTo>
                  <a:lnTo>
                    <a:pt x="515795" y="62990"/>
                  </a:lnTo>
                  <a:lnTo>
                    <a:pt x="520739" y="52421"/>
                  </a:lnTo>
                  <a:lnTo>
                    <a:pt x="522488" y="40645"/>
                  </a:lnTo>
                  <a:lnTo>
                    <a:pt x="519345" y="24690"/>
                  </a:lnTo>
                  <a:lnTo>
                    <a:pt x="510725" y="11786"/>
                  </a:lnTo>
                  <a:lnTo>
                    <a:pt x="497846" y="3149"/>
                  </a:lnTo>
                  <a:lnTo>
                    <a:pt x="481925" y="0"/>
                  </a:lnTo>
                  <a:close/>
                </a:path>
                <a:path w="668654" h="829310">
                  <a:moveTo>
                    <a:pt x="48679" y="237288"/>
                  </a:moveTo>
                  <a:lnTo>
                    <a:pt x="40566" y="237288"/>
                  </a:lnTo>
                  <a:lnTo>
                    <a:pt x="24644" y="240438"/>
                  </a:lnTo>
                  <a:lnTo>
                    <a:pt x="11764" y="249074"/>
                  </a:lnTo>
                  <a:lnTo>
                    <a:pt x="3143" y="261979"/>
                  </a:lnTo>
                  <a:lnTo>
                    <a:pt x="0" y="277933"/>
                  </a:lnTo>
                  <a:lnTo>
                    <a:pt x="1470" y="289491"/>
                  </a:lnTo>
                  <a:lnTo>
                    <a:pt x="5679" y="299674"/>
                  </a:lnTo>
                  <a:lnTo>
                    <a:pt x="12322" y="308333"/>
                  </a:lnTo>
                  <a:lnTo>
                    <a:pt x="21095" y="315315"/>
                  </a:lnTo>
                  <a:lnTo>
                    <a:pt x="21095" y="581856"/>
                  </a:lnTo>
                  <a:lnTo>
                    <a:pt x="12322" y="588128"/>
                  </a:lnTo>
                  <a:lnTo>
                    <a:pt x="5679" y="596686"/>
                  </a:lnTo>
                  <a:lnTo>
                    <a:pt x="1470" y="606769"/>
                  </a:lnTo>
                  <a:lnTo>
                    <a:pt x="0" y="617614"/>
                  </a:lnTo>
                  <a:lnTo>
                    <a:pt x="3143" y="633561"/>
                  </a:lnTo>
                  <a:lnTo>
                    <a:pt x="11764" y="646460"/>
                  </a:lnTo>
                  <a:lnTo>
                    <a:pt x="24644" y="655094"/>
                  </a:lnTo>
                  <a:lnTo>
                    <a:pt x="40566" y="658242"/>
                  </a:lnTo>
                  <a:lnTo>
                    <a:pt x="48679" y="658242"/>
                  </a:lnTo>
                  <a:lnTo>
                    <a:pt x="55171" y="656619"/>
                  </a:lnTo>
                  <a:lnTo>
                    <a:pt x="61660" y="651742"/>
                  </a:lnTo>
                  <a:lnTo>
                    <a:pt x="126245" y="651742"/>
                  </a:lnTo>
                  <a:lnTo>
                    <a:pt x="81134" y="625737"/>
                  </a:lnTo>
                  <a:lnTo>
                    <a:pt x="81134" y="617614"/>
                  </a:lnTo>
                  <a:lnTo>
                    <a:pt x="79106" y="604889"/>
                  </a:lnTo>
                  <a:lnTo>
                    <a:pt x="73426" y="593842"/>
                  </a:lnTo>
                  <a:lnTo>
                    <a:pt x="64703" y="584928"/>
                  </a:lnTo>
                  <a:lnTo>
                    <a:pt x="53544" y="578603"/>
                  </a:lnTo>
                  <a:lnTo>
                    <a:pt x="53544" y="316944"/>
                  </a:lnTo>
                  <a:lnTo>
                    <a:pt x="64703" y="310621"/>
                  </a:lnTo>
                  <a:lnTo>
                    <a:pt x="73426" y="301707"/>
                  </a:lnTo>
                  <a:lnTo>
                    <a:pt x="79106" y="290658"/>
                  </a:lnTo>
                  <a:lnTo>
                    <a:pt x="81134" y="277933"/>
                  </a:lnTo>
                  <a:lnTo>
                    <a:pt x="81134" y="276288"/>
                  </a:lnTo>
                  <a:lnTo>
                    <a:pt x="79508" y="274697"/>
                  </a:lnTo>
                  <a:lnTo>
                    <a:pt x="79508" y="271461"/>
                  </a:lnTo>
                  <a:lnTo>
                    <a:pt x="130664" y="243815"/>
                  </a:lnTo>
                  <a:lnTo>
                    <a:pt x="61660" y="243815"/>
                  </a:lnTo>
                  <a:lnTo>
                    <a:pt x="48679" y="237288"/>
                  </a:lnTo>
                  <a:close/>
                </a:path>
                <a:path w="668654" h="829310">
                  <a:moveTo>
                    <a:pt x="648894" y="651742"/>
                  </a:moveTo>
                  <a:lnTo>
                    <a:pt x="605237" y="651742"/>
                  </a:lnTo>
                  <a:lnTo>
                    <a:pt x="611754" y="656619"/>
                  </a:lnTo>
                  <a:lnTo>
                    <a:pt x="619859" y="658242"/>
                  </a:lnTo>
                  <a:lnTo>
                    <a:pt x="627964" y="658242"/>
                  </a:lnTo>
                  <a:lnTo>
                    <a:pt x="643893" y="655094"/>
                  </a:lnTo>
                  <a:lnTo>
                    <a:pt x="648894" y="651742"/>
                  </a:lnTo>
                  <a:close/>
                </a:path>
                <a:path w="668654" h="829310">
                  <a:moveTo>
                    <a:pt x="186604" y="0"/>
                  </a:moveTo>
                  <a:lnTo>
                    <a:pt x="170682" y="3149"/>
                  </a:lnTo>
                  <a:lnTo>
                    <a:pt x="157801" y="11786"/>
                  </a:lnTo>
                  <a:lnTo>
                    <a:pt x="149179" y="24690"/>
                  </a:lnTo>
                  <a:lnTo>
                    <a:pt x="146035" y="40645"/>
                  </a:lnTo>
                  <a:lnTo>
                    <a:pt x="147785" y="52421"/>
                  </a:lnTo>
                  <a:lnTo>
                    <a:pt x="152729" y="62990"/>
                  </a:lnTo>
                  <a:lnTo>
                    <a:pt x="160412" y="71738"/>
                  </a:lnTo>
                  <a:lnTo>
                    <a:pt x="170378" y="78054"/>
                  </a:lnTo>
                  <a:lnTo>
                    <a:pt x="170378" y="185289"/>
                  </a:lnTo>
                  <a:lnTo>
                    <a:pt x="61660" y="243815"/>
                  </a:lnTo>
                  <a:lnTo>
                    <a:pt x="130664" y="243815"/>
                  </a:lnTo>
                  <a:lnTo>
                    <a:pt x="202831" y="204816"/>
                  </a:lnTo>
                  <a:lnTo>
                    <a:pt x="202831" y="78054"/>
                  </a:lnTo>
                  <a:lnTo>
                    <a:pt x="212795" y="71738"/>
                  </a:lnTo>
                  <a:lnTo>
                    <a:pt x="220476" y="62990"/>
                  </a:lnTo>
                  <a:lnTo>
                    <a:pt x="225419" y="52421"/>
                  </a:lnTo>
                  <a:lnTo>
                    <a:pt x="227168" y="40645"/>
                  </a:lnTo>
                  <a:lnTo>
                    <a:pt x="224024" y="24690"/>
                  </a:lnTo>
                  <a:lnTo>
                    <a:pt x="215405" y="11786"/>
                  </a:lnTo>
                  <a:lnTo>
                    <a:pt x="202526" y="3149"/>
                  </a:lnTo>
                  <a:lnTo>
                    <a:pt x="186604" y="0"/>
                  </a:lnTo>
                  <a:close/>
                </a:path>
                <a:path w="668654" h="829310">
                  <a:moveTo>
                    <a:pt x="627964" y="237288"/>
                  </a:moveTo>
                  <a:lnTo>
                    <a:pt x="619859" y="237288"/>
                  </a:lnTo>
                  <a:lnTo>
                    <a:pt x="611754" y="240579"/>
                  </a:lnTo>
                  <a:lnTo>
                    <a:pt x="605237" y="243815"/>
                  </a:lnTo>
                  <a:lnTo>
                    <a:pt x="648931" y="243815"/>
                  </a:lnTo>
                  <a:lnTo>
                    <a:pt x="643893" y="240438"/>
                  </a:lnTo>
                  <a:lnTo>
                    <a:pt x="627964" y="237288"/>
                  </a:lnTo>
                  <a:close/>
                </a:path>
              </a:pathLst>
            </a:custGeom>
            <a:solidFill>
              <a:srgbClr val="1D70B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1164899" y="466804"/>
              <a:ext cx="115207" cy="11540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95725" y="236043"/>
              <a:ext cx="79511" cy="7964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293085" y="336806"/>
              <a:ext cx="95738" cy="9588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150293" y="954381"/>
              <a:ext cx="193092" cy="20315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1054555" y="855264"/>
              <a:ext cx="386080" cy="388620"/>
            </a:xfrm>
            <a:custGeom>
              <a:avLst/>
              <a:gdLst/>
              <a:ahLst/>
              <a:cxnLst/>
              <a:rect l="l" t="t" r="r" b="b"/>
              <a:pathLst>
                <a:path w="386079" h="388619">
                  <a:moveTo>
                    <a:pt x="193097" y="0"/>
                  </a:moveTo>
                  <a:lnTo>
                    <a:pt x="148680" y="5173"/>
                  </a:lnTo>
                  <a:lnTo>
                    <a:pt x="107980" y="19896"/>
                  </a:lnTo>
                  <a:lnTo>
                    <a:pt x="72135" y="42977"/>
                  </a:lnTo>
                  <a:lnTo>
                    <a:pt x="42279" y="73222"/>
                  </a:lnTo>
                  <a:lnTo>
                    <a:pt x="19547" y="109438"/>
                  </a:lnTo>
                  <a:lnTo>
                    <a:pt x="5076" y="150431"/>
                  </a:lnTo>
                  <a:lnTo>
                    <a:pt x="0" y="195008"/>
                  </a:lnTo>
                  <a:lnTo>
                    <a:pt x="5076" y="238984"/>
                  </a:lnTo>
                  <a:lnTo>
                    <a:pt x="19547" y="279548"/>
                  </a:lnTo>
                  <a:lnTo>
                    <a:pt x="42279" y="315478"/>
                  </a:lnTo>
                  <a:lnTo>
                    <a:pt x="72135" y="345552"/>
                  </a:lnTo>
                  <a:lnTo>
                    <a:pt x="107980" y="368547"/>
                  </a:lnTo>
                  <a:lnTo>
                    <a:pt x="148680" y="383241"/>
                  </a:lnTo>
                  <a:lnTo>
                    <a:pt x="193097" y="388410"/>
                  </a:lnTo>
                  <a:lnTo>
                    <a:pt x="224080" y="385059"/>
                  </a:lnTo>
                  <a:lnTo>
                    <a:pt x="253541" y="377440"/>
                  </a:lnTo>
                  <a:lnTo>
                    <a:pt x="281175" y="365555"/>
                  </a:lnTo>
                  <a:lnTo>
                    <a:pt x="296414" y="355905"/>
                  </a:lnTo>
                  <a:lnTo>
                    <a:pt x="193097" y="355905"/>
                  </a:lnTo>
                  <a:lnTo>
                    <a:pt x="150090" y="350081"/>
                  </a:lnTo>
                  <a:lnTo>
                    <a:pt x="111365" y="333694"/>
                  </a:lnTo>
                  <a:lnTo>
                    <a:pt x="78498" y="308368"/>
                  </a:lnTo>
                  <a:lnTo>
                    <a:pt x="53069" y="275728"/>
                  </a:lnTo>
                  <a:lnTo>
                    <a:pt x="36654" y="237400"/>
                  </a:lnTo>
                  <a:lnTo>
                    <a:pt x="30832" y="195008"/>
                  </a:lnTo>
                  <a:lnTo>
                    <a:pt x="36654" y="151930"/>
                  </a:lnTo>
                  <a:lnTo>
                    <a:pt x="53069" y="113140"/>
                  </a:lnTo>
                  <a:lnTo>
                    <a:pt x="78498" y="80218"/>
                  </a:lnTo>
                  <a:lnTo>
                    <a:pt x="111365" y="54746"/>
                  </a:lnTo>
                  <a:lnTo>
                    <a:pt x="150090" y="38304"/>
                  </a:lnTo>
                  <a:lnTo>
                    <a:pt x="193097" y="32472"/>
                  </a:lnTo>
                  <a:lnTo>
                    <a:pt x="326658" y="32472"/>
                  </a:lnTo>
                  <a:lnTo>
                    <a:pt x="324531" y="30881"/>
                  </a:lnTo>
                  <a:lnTo>
                    <a:pt x="295325" y="30881"/>
                  </a:lnTo>
                  <a:lnTo>
                    <a:pt x="271365" y="17818"/>
                  </a:lnTo>
                  <a:lnTo>
                    <a:pt x="246035" y="8118"/>
                  </a:lnTo>
                  <a:lnTo>
                    <a:pt x="219794" y="2079"/>
                  </a:lnTo>
                  <a:lnTo>
                    <a:pt x="193097" y="0"/>
                  </a:lnTo>
                  <a:close/>
                </a:path>
                <a:path w="386079" h="388619">
                  <a:moveTo>
                    <a:pt x="376453" y="162503"/>
                  </a:moveTo>
                  <a:lnTo>
                    <a:pt x="363474" y="162503"/>
                  </a:lnTo>
                  <a:lnTo>
                    <a:pt x="353737" y="172256"/>
                  </a:lnTo>
                  <a:lnTo>
                    <a:pt x="353737" y="180379"/>
                  </a:lnTo>
                  <a:lnTo>
                    <a:pt x="354356" y="190562"/>
                  </a:lnTo>
                  <a:lnTo>
                    <a:pt x="354305" y="202930"/>
                  </a:lnTo>
                  <a:lnTo>
                    <a:pt x="340756" y="257985"/>
                  </a:lnTo>
                  <a:lnTo>
                    <a:pt x="318042" y="295771"/>
                  </a:lnTo>
                  <a:lnTo>
                    <a:pt x="270907" y="335338"/>
                  </a:lnTo>
                  <a:lnTo>
                    <a:pt x="220657" y="353518"/>
                  </a:lnTo>
                  <a:lnTo>
                    <a:pt x="193097" y="355905"/>
                  </a:lnTo>
                  <a:lnTo>
                    <a:pt x="296414" y="355905"/>
                  </a:lnTo>
                  <a:lnTo>
                    <a:pt x="334268" y="325023"/>
                  </a:lnTo>
                  <a:lnTo>
                    <a:pt x="367937" y="275658"/>
                  </a:lnTo>
                  <a:lnTo>
                    <a:pt x="384569" y="217761"/>
                  </a:lnTo>
                  <a:lnTo>
                    <a:pt x="385937" y="190562"/>
                  </a:lnTo>
                  <a:lnTo>
                    <a:pt x="384569" y="177127"/>
                  </a:lnTo>
                  <a:lnTo>
                    <a:pt x="384569" y="172256"/>
                  </a:lnTo>
                  <a:lnTo>
                    <a:pt x="382948" y="169003"/>
                  </a:lnTo>
                  <a:lnTo>
                    <a:pt x="376453" y="162503"/>
                  </a:lnTo>
                  <a:close/>
                </a:path>
                <a:path w="386079" h="388619">
                  <a:moveTo>
                    <a:pt x="326658" y="32472"/>
                  </a:moveTo>
                  <a:lnTo>
                    <a:pt x="193097" y="32472"/>
                  </a:lnTo>
                  <a:lnTo>
                    <a:pt x="214952" y="33998"/>
                  </a:lnTo>
                  <a:lnTo>
                    <a:pt x="236503" y="38573"/>
                  </a:lnTo>
                  <a:lnTo>
                    <a:pt x="257445" y="46196"/>
                  </a:lnTo>
                  <a:lnTo>
                    <a:pt x="277472" y="56864"/>
                  </a:lnTo>
                  <a:lnTo>
                    <a:pt x="277472" y="58488"/>
                  </a:lnTo>
                  <a:lnTo>
                    <a:pt x="279780" y="71108"/>
                  </a:lnTo>
                  <a:lnTo>
                    <a:pt x="286196" y="81444"/>
                  </a:lnTo>
                  <a:lnTo>
                    <a:pt x="295958" y="88428"/>
                  </a:lnTo>
                  <a:lnTo>
                    <a:pt x="308305" y="90993"/>
                  </a:lnTo>
                  <a:lnTo>
                    <a:pt x="320905" y="88428"/>
                  </a:lnTo>
                  <a:lnTo>
                    <a:pt x="331224" y="81444"/>
                  </a:lnTo>
                  <a:lnTo>
                    <a:pt x="338197" y="71108"/>
                  </a:lnTo>
                  <a:lnTo>
                    <a:pt x="340758" y="58488"/>
                  </a:lnTo>
                  <a:lnTo>
                    <a:pt x="340758" y="50359"/>
                  </a:lnTo>
                  <a:lnTo>
                    <a:pt x="337510" y="42235"/>
                  </a:lnTo>
                  <a:lnTo>
                    <a:pt x="331021" y="35735"/>
                  </a:lnTo>
                  <a:lnTo>
                    <a:pt x="326658" y="32472"/>
                  </a:lnTo>
                  <a:close/>
                </a:path>
                <a:path w="386079" h="388619">
                  <a:moveTo>
                    <a:pt x="316415" y="27590"/>
                  </a:moveTo>
                  <a:lnTo>
                    <a:pt x="298567" y="27590"/>
                  </a:lnTo>
                  <a:lnTo>
                    <a:pt x="295325" y="30881"/>
                  </a:lnTo>
                  <a:lnTo>
                    <a:pt x="324531" y="30881"/>
                  </a:lnTo>
                  <a:lnTo>
                    <a:pt x="316415" y="27590"/>
                  </a:lnTo>
                  <a:close/>
                </a:path>
              </a:pathLst>
            </a:custGeom>
            <a:solidFill>
              <a:srgbClr val="1D70B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Номер слайда 13"/>
          <p:cNvSpPr>
            <a:spLocks noGrp="1"/>
          </p:cNvSpPr>
          <p:nvPr>
            <p:ph type="sldNum" sz="quarter" idx="12"/>
          </p:nvPr>
        </p:nvSpPr>
        <p:spPr>
          <a:xfrm>
            <a:off x="11240770" y="6397625"/>
            <a:ext cx="626745" cy="274955"/>
          </a:xfrm>
        </p:spPr>
        <p:txBody>
          <a:bodyPr/>
          <a:lstStyle/>
          <a:p>
            <a:pPr marL="38100">
              <a:lnSpc>
                <a:spcPts val="2145"/>
              </a:lnSpc>
            </a:pPr>
            <a:fld id="{81D60167-4931-47E6-BA6A-407CBD079E47}" type="slidenum">
              <a:rPr lang="ru-RU" sz="2400" b="0" smtClean="0"/>
            </a:fld>
            <a:endParaRPr lang="ru-RU" sz="2400" b="0" dirty="0"/>
          </a:p>
        </p:txBody>
      </p:sp>
      <p:pic>
        <p:nvPicPr>
          <p:cNvPr id="11" name="Изображение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690" y="1043940"/>
            <a:ext cx="9999980" cy="4217035"/>
          </a:xfrm>
          <a:prstGeom prst="rect">
            <a:avLst/>
          </a:prstGeom>
        </p:spPr>
      </p:pic>
      <p:sp>
        <p:nvSpPr>
          <p:cNvPr id="12" name="Текстовое поле 11"/>
          <p:cNvSpPr txBox="1"/>
          <p:nvPr/>
        </p:nvSpPr>
        <p:spPr>
          <a:xfrm>
            <a:off x="479425" y="675640"/>
            <a:ext cx="91516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Стадия </a:t>
            </a:r>
            <a:r>
              <a:rPr lang="ru-RU" altLang="en-US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: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Механизм кэпирования при фосфорамидитном синтезе олигонуклеотидов.</a:t>
            </a:r>
            <a:endParaRPr lang="ru-RU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493776" y="1043939"/>
            <a:ext cx="9946005" cy="0"/>
          </a:xfrm>
          <a:custGeom>
            <a:avLst/>
            <a:gdLst/>
            <a:ahLst/>
            <a:cxnLst/>
            <a:rect l="l" t="t" r="r" b="b"/>
            <a:pathLst>
              <a:path w="9946005">
                <a:moveTo>
                  <a:pt x="0" y="0"/>
                </a:moveTo>
                <a:lnTo>
                  <a:pt x="9946005" y="0"/>
                </a:lnTo>
              </a:path>
            </a:pathLst>
          </a:custGeom>
          <a:ln w="6096">
            <a:solidFill>
              <a:srgbClr val="5B9BD4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10913388" y="236043"/>
            <a:ext cx="668655" cy="1195070"/>
            <a:chOff x="10913388" y="236043"/>
            <a:chExt cx="668655" cy="1195070"/>
          </a:xfrm>
        </p:grpSpPr>
        <p:sp>
          <p:nvSpPr>
            <p:cNvPr id="5" name="object 5"/>
            <p:cNvSpPr/>
            <p:nvPr/>
          </p:nvSpPr>
          <p:spPr>
            <a:xfrm>
              <a:off x="10913388" y="601685"/>
              <a:ext cx="668655" cy="829310"/>
            </a:xfrm>
            <a:custGeom>
              <a:avLst/>
              <a:gdLst/>
              <a:ahLst/>
              <a:cxnLst/>
              <a:rect l="l" t="t" r="r" b="b"/>
              <a:pathLst>
                <a:path w="668654" h="829310">
                  <a:moveTo>
                    <a:pt x="126245" y="651742"/>
                  </a:moveTo>
                  <a:lnTo>
                    <a:pt x="61660" y="651742"/>
                  </a:lnTo>
                  <a:lnTo>
                    <a:pt x="293695" y="785010"/>
                  </a:lnTo>
                  <a:lnTo>
                    <a:pt x="293695" y="788261"/>
                  </a:lnTo>
                  <a:lnTo>
                    <a:pt x="296840" y="803522"/>
                  </a:lnTo>
                  <a:lnTo>
                    <a:pt x="305461" y="816499"/>
                  </a:lnTo>
                  <a:lnTo>
                    <a:pt x="318342" y="825514"/>
                  </a:lnTo>
                  <a:lnTo>
                    <a:pt x="334264" y="828892"/>
                  </a:lnTo>
                  <a:lnTo>
                    <a:pt x="350186" y="825514"/>
                  </a:lnTo>
                  <a:lnTo>
                    <a:pt x="363065" y="816499"/>
                  </a:lnTo>
                  <a:lnTo>
                    <a:pt x="371685" y="803522"/>
                  </a:lnTo>
                  <a:lnTo>
                    <a:pt x="374828" y="788261"/>
                  </a:lnTo>
                  <a:lnTo>
                    <a:pt x="374828" y="785010"/>
                  </a:lnTo>
                  <a:lnTo>
                    <a:pt x="425403" y="755758"/>
                  </a:lnTo>
                  <a:lnTo>
                    <a:pt x="306680" y="755758"/>
                  </a:lnTo>
                  <a:lnTo>
                    <a:pt x="126245" y="651742"/>
                  </a:lnTo>
                  <a:close/>
                </a:path>
                <a:path w="668654" h="829310">
                  <a:moveTo>
                    <a:pt x="334061" y="747226"/>
                  </a:moveTo>
                  <a:lnTo>
                    <a:pt x="319838" y="749359"/>
                  </a:lnTo>
                  <a:lnTo>
                    <a:pt x="306680" y="755758"/>
                  </a:lnTo>
                  <a:lnTo>
                    <a:pt x="360223" y="755758"/>
                  </a:lnTo>
                  <a:lnTo>
                    <a:pt x="347979" y="749359"/>
                  </a:lnTo>
                  <a:lnTo>
                    <a:pt x="334061" y="747226"/>
                  </a:lnTo>
                  <a:close/>
                </a:path>
                <a:path w="668654" h="829310">
                  <a:moveTo>
                    <a:pt x="481925" y="0"/>
                  </a:moveTo>
                  <a:lnTo>
                    <a:pt x="466002" y="3149"/>
                  </a:lnTo>
                  <a:lnTo>
                    <a:pt x="453122" y="11786"/>
                  </a:lnTo>
                  <a:lnTo>
                    <a:pt x="444500" y="24690"/>
                  </a:lnTo>
                  <a:lnTo>
                    <a:pt x="441355" y="40645"/>
                  </a:lnTo>
                  <a:lnTo>
                    <a:pt x="443105" y="52421"/>
                  </a:lnTo>
                  <a:lnTo>
                    <a:pt x="448050" y="62990"/>
                  </a:lnTo>
                  <a:lnTo>
                    <a:pt x="455733" y="71738"/>
                  </a:lnTo>
                  <a:lnTo>
                    <a:pt x="465698" y="78054"/>
                  </a:lnTo>
                  <a:lnTo>
                    <a:pt x="465698" y="206407"/>
                  </a:lnTo>
                  <a:lnTo>
                    <a:pt x="587384" y="271461"/>
                  </a:lnTo>
                  <a:lnTo>
                    <a:pt x="587384" y="274697"/>
                  </a:lnTo>
                  <a:lnTo>
                    <a:pt x="585796" y="276288"/>
                  </a:lnTo>
                  <a:lnTo>
                    <a:pt x="585796" y="277933"/>
                  </a:lnTo>
                  <a:lnTo>
                    <a:pt x="587846" y="290887"/>
                  </a:lnTo>
                  <a:lnTo>
                    <a:pt x="593695" y="302316"/>
                  </a:lnTo>
                  <a:lnTo>
                    <a:pt x="602892" y="311306"/>
                  </a:lnTo>
                  <a:lnTo>
                    <a:pt x="614985" y="316944"/>
                  </a:lnTo>
                  <a:lnTo>
                    <a:pt x="614985" y="578603"/>
                  </a:lnTo>
                  <a:lnTo>
                    <a:pt x="602892" y="584928"/>
                  </a:lnTo>
                  <a:lnTo>
                    <a:pt x="593695" y="593842"/>
                  </a:lnTo>
                  <a:lnTo>
                    <a:pt x="587846" y="604889"/>
                  </a:lnTo>
                  <a:lnTo>
                    <a:pt x="585796" y="617614"/>
                  </a:lnTo>
                  <a:lnTo>
                    <a:pt x="585796" y="620861"/>
                  </a:lnTo>
                  <a:lnTo>
                    <a:pt x="587384" y="622484"/>
                  </a:lnTo>
                  <a:lnTo>
                    <a:pt x="587384" y="625737"/>
                  </a:lnTo>
                  <a:lnTo>
                    <a:pt x="360223" y="755758"/>
                  </a:lnTo>
                  <a:lnTo>
                    <a:pt x="425403" y="755758"/>
                  </a:lnTo>
                  <a:lnTo>
                    <a:pt x="605237" y="651742"/>
                  </a:lnTo>
                  <a:lnTo>
                    <a:pt x="648894" y="651742"/>
                  </a:lnTo>
                  <a:lnTo>
                    <a:pt x="656777" y="646460"/>
                  </a:lnTo>
                  <a:lnTo>
                    <a:pt x="665399" y="633561"/>
                  </a:lnTo>
                  <a:lnTo>
                    <a:pt x="668544" y="617614"/>
                  </a:lnTo>
                  <a:lnTo>
                    <a:pt x="667074" y="606997"/>
                  </a:lnTo>
                  <a:lnTo>
                    <a:pt x="662862" y="597295"/>
                  </a:lnTo>
                  <a:lnTo>
                    <a:pt x="656207" y="588813"/>
                  </a:lnTo>
                  <a:lnTo>
                    <a:pt x="647405" y="581856"/>
                  </a:lnTo>
                  <a:lnTo>
                    <a:pt x="647405" y="313691"/>
                  </a:lnTo>
                  <a:lnTo>
                    <a:pt x="656207" y="307648"/>
                  </a:lnTo>
                  <a:lnTo>
                    <a:pt x="662862" y="299471"/>
                  </a:lnTo>
                  <a:lnTo>
                    <a:pt x="667074" y="289465"/>
                  </a:lnTo>
                  <a:lnTo>
                    <a:pt x="668544" y="277933"/>
                  </a:lnTo>
                  <a:lnTo>
                    <a:pt x="665399" y="261979"/>
                  </a:lnTo>
                  <a:lnTo>
                    <a:pt x="656777" y="249074"/>
                  </a:lnTo>
                  <a:lnTo>
                    <a:pt x="648931" y="243815"/>
                  </a:lnTo>
                  <a:lnTo>
                    <a:pt x="605237" y="243815"/>
                  </a:lnTo>
                  <a:lnTo>
                    <a:pt x="498151" y="186934"/>
                  </a:lnTo>
                  <a:lnTo>
                    <a:pt x="498151" y="78054"/>
                  </a:lnTo>
                  <a:lnTo>
                    <a:pt x="508113" y="71738"/>
                  </a:lnTo>
                  <a:lnTo>
                    <a:pt x="515795" y="62990"/>
                  </a:lnTo>
                  <a:lnTo>
                    <a:pt x="520739" y="52421"/>
                  </a:lnTo>
                  <a:lnTo>
                    <a:pt x="522488" y="40645"/>
                  </a:lnTo>
                  <a:lnTo>
                    <a:pt x="519345" y="24690"/>
                  </a:lnTo>
                  <a:lnTo>
                    <a:pt x="510725" y="11786"/>
                  </a:lnTo>
                  <a:lnTo>
                    <a:pt x="497846" y="3149"/>
                  </a:lnTo>
                  <a:lnTo>
                    <a:pt x="481925" y="0"/>
                  </a:lnTo>
                  <a:close/>
                </a:path>
                <a:path w="668654" h="829310">
                  <a:moveTo>
                    <a:pt x="48679" y="237288"/>
                  </a:moveTo>
                  <a:lnTo>
                    <a:pt x="40566" y="237288"/>
                  </a:lnTo>
                  <a:lnTo>
                    <a:pt x="24644" y="240438"/>
                  </a:lnTo>
                  <a:lnTo>
                    <a:pt x="11764" y="249074"/>
                  </a:lnTo>
                  <a:lnTo>
                    <a:pt x="3143" y="261979"/>
                  </a:lnTo>
                  <a:lnTo>
                    <a:pt x="0" y="277933"/>
                  </a:lnTo>
                  <a:lnTo>
                    <a:pt x="1470" y="289491"/>
                  </a:lnTo>
                  <a:lnTo>
                    <a:pt x="5679" y="299674"/>
                  </a:lnTo>
                  <a:lnTo>
                    <a:pt x="12322" y="308333"/>
                  </a:lnTo>
                  <a:lnTo>
                    <a:pt x="21095" y="315315"/>
                  </a:lnTo>
                  <a:lnTo>
                    <a:pt x="21095" y="581856"/>
                  </a:lnTo>
                  <a:lnTo>
                    <a:pt x="12322" y="588128"/>
                  </a:lnTo>
                  <a:lnTo>
                    <a:pt x="5679" y="596686"/>
                  </a:lnTo>
                  <a:lnTo>
                    <a:pt x="1470" y="606769"/>
                  </a:lnTo>
                  <a:lnTo>
                    <a:pt x="0" y="617614"/>
                  </a:lnTo>
                  <a:lnTo>
                    <a:pt x="3143" y="633561"/>
                  </a:lnTo>
                  <a:lnTo>
                    <a:pt x="11764" y="646460"/>
                  </a:lnTo>
                  <a:lnTo>
                    <a:pt x="24644" y="655094"/>
                  </a:lnTo>
                  <a:lnTo>
                    <a:pt x="40566" y="658242"/>
                  </a:lnTo>
                  <a:lnTo>
                    <a:pt x="48679" y="658242"/>
                  </a:lnTo>
                  <a:lnTo>
                    <a:pt x="55171" y="656619"/>
                  </a:lnTo>
                  <a:lnTo>
                    <a:pt x="61660" y="651742"/>
                  </a:lnTo>
                  <a:lnTo>
                    <a:pt x="126245" y="651742"/>
                  </a:lnTo>
                  <a:lnTo>
                    <a:pt x="81134" y="625737"/>
                  </a:lnTo>
                  <a:lnTo>
                    <a:pt x="81134" y="617614"/>
                  </a:lnTo>
                  <a:lnTo>
                    <a:pt x="79106" y="604889"/>
                  </a:lnTo>
                  <a:lnTo>
                    <a:pt x="73426" y="593842"/>
                  </a:lnTo>
                  <a:lnTo>
                    <a:pt x="64703" y="584928"/>
                  </a:lnTo>
                  <a:lnTo>
                    <a:pt x="53544" y="578603"/>
                  </a:lnTo>
                  <a:lnTo>
                    <a:pt x="53544" y="316944"/>
                  </a:lnTo>
                  <a:lnTo>
                    <a:pt x="64703" y="310621"/>
                  </a:lnTo>
                  <a:lnTo>
                    <a:pt x="73426" y="301707"/>
                  </a:lnTo>
                  <a:lnTo>
                    <a:pt x="79106" y="290658"/>
                  </a:lnTo>
                  <a:lnTo>
                    <a:pt x="81134" y="277933"/>
                  </a:lnTo>
                  <a:lnTo>
                    <a:pt x="81134" y="276288"/>
                  </a:lnTo>
                  <a:lnTo>
                    <a:pt x="79508" y="274697"/>
                  </a:lnTo>
                  <a:lnTo>
                    <a:pt x="79508" y="271461"/>
                  </a:lnTo>
                  <a:lnTo>
                    <a:pt x="130664" y="243815"/>
                  </a:lnTo>
                  <a:lnTo>
                    <a:pt x="61660" y="243815"/>
                  </a:lnTo>
                  <a:lnTo>
                    <a:pt x="48679" y="237288"/>
                  </a:lnTo>
                  <a:close/>
                </a:path>
                <a:path w="668654" h="829310">
                  <a:moveTo>
                    <a:pt x="648894" y="651742"/>
                  </a:moveTo>
                  <a:lnTo>
                    <a:pt x="605237" y="651742"/>
                  </a:lnTo>
                  <a:lnTo>
                    <a:pt x="611754" y="656619"/>
                  </a:lnTo>
                  <a:lnTo>
                    <a:pt x="619859" y="658242"/>
                  </a:lnTo>
                  <a:lnTo>
                    <a:pt x="627964" y="658242"/>
                  </a:lnTo>
                  <a:lnTo>
                    <a:pt x="643893" y="655094"/>
                  </a:lnTo>
                  <a:lnTo>
                    <a:pt x="648894" y="651742"/>
                  </a:lnTo>
                  <a:close/>
                </a:path>
                <a:path w="668654" h="829310">
                  <a:moveTo>
                    <a:pt x="186604" y="0"/>
                  </a:moveTo>
                  <a:lnTo>
                    <a:pt x="170682" y="3149"/>
                  </a:lnTo>
                  <a:lnTo>
                    <a:pt x="157801" y="11786"/>
                  </a:lnTo>
                  <a:lnTo>
                    <a:pt x="149179" y="24690"/>
                  </a:lnTo>
                  <a:lnTo>
                    <a:pt x="146035" y="40645"/>
                  </a:lnTo>
                  <a:lnTo>
                    <a:pt x="147785" y="52421"/>
                  </a:lnTo>
                  <a:lnTo>
                    <a:pt x="152729" y="62990"/>
                  </a:lnTo>
                  <a:lnTo>
                    <a:pt x="160412" y="71738"/>
                  </a:lnTo>
                  <a:lnTo>
                    <a:pt x="170378" y="78054"/>
                  </a:lnTo>
                  <a:lnTo>
                    <a:pt x="170378" y="185289"/>
                  </a:lnTo>
                  <a:lnTo>
                    <a:pt x="61660" y="243815"/>
                  </a:lnTo>
                  <a:lnTo>
                    <a:pt x="130664" y="243815"/>
                  </a:lnTo>
                  <a:lnTo>
                    <a:pt x="202831" y="204816"/>
                  </a:lnTo>
                  <a:lnTo>
                    <a:pt x="202831" y="78054"/>
                  </a:lnTo>
                  <a:lnTo>
                    <a:pt x="212795" y="71738"/>
                  </a:lnTo>
                  <a:lnTo>
                    <a:pt x="220476" y="62990"/>
                  </a:lnTo>
                  <a:lnTo>
                    <a:pt x="225419" y="52421"/>
                  </a:lnTo>
                  <a:lnTo>
                    <a:pt x="227168" y="40645"/>
                  </a:lnTo>
                  <a:lnTo>
                    <a:pt x="224024" y="24690"/>
                  </a:lnTo>
                  <a:lnTo>
                    <a:pt x="215405" y="11786"/>
                  </a:lnTo>
                  <a:lnTo>
                    <a:pt x="202526" y="3149"/>
                  </a:lnTo>
                  <a:lnTo>
                    <a:pt x="186604" y="0"/>
                  </a:lnTo>
                  <a:close/>
                </a:path>
                <a:path w="668654" h="829310">
                  <a:moveTo>
                    <a:pt x="627964" y="237288"/>
                  </a:moveTo>
                  <a:lnTo>
                    <a:pt x="619859" y="237288"/>
                  </a:lnTo>
                  <a:lnTo>
                    <a:pt x="611754" y="240579"/>
                  </a:lnTo>
                  <a:lnTo>
                    <a:pt x="605237" y="243815"/>
                  </a:lnTo>
                  <a:lnTo>
                    <a:pt x="648931" y="243815"/>
                  </a:lnTo>
                  <a:lnTo>
                    <a:pt x="643893" y="240438"/>
                  </a:lnTo>
                  <a:lnTo>
                    <a:pt x="627964" y="237288"/>
                  </a:lnTo>
                  <a:close/>
                </a:path>
              </a:pathLst>
            </a:custGeom>
            <a:solidFill>
              <a:srgbClr val="1D70B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1164899" y="466804"/>
              <a:ext cx="115207" cy="11540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95725" y="236043"/>
              <a:ext cx="79511" cy="7964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293085" y="336806"/>
              <a:ext cx="95738" cy="9588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150293" y="954381"/>
              <a:ext cx="193092" cy="20315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1054555" y="855264"/>
              <a:ext cx="386080" cy="388620"/>
            </a:xfrm>
            <a:custGeom>
              <a:avLst/>
              <a:gdLst/>
              <a:ahLst/>
              <a:cxnLst/>
              <a:rect l="l" t="t" r="r" b="b"/>
              <a:pathLst>
                <a:path w="386079" h="388619">
                  <a:moveTo>
                    <a:pt x="193097" y="0"/>
                  </a:moveTo>
                  <a:lnTo>
                    <a:pt x="148680" y="5173"/>
                  </a:lnTo>
                  <a:lnTo>
                    <a:pt x="107980" y="19896"/>
                  </a:lnTo>
                  <a:lnTo>
                    <a:pt x="72135" y="42977"/>
                  </a:lnTo>
                  <a:lnTo>
                    <a:pt x="42279" y="73222"/>
                  </a:lnTo>
                  <a:lnTo>
                    <a:pt x="19547" y="109438"/>
                  </a:lnTo>
                  <a:lnTo>
                    <a:pt x="5076" y="150431"/>
                  </a:lnTo>
                  <a:lnTo>
                    <a:pt x="0" y="195008"/>
                  </a:lnTo>
                  <a:lnTo>
                    <a:pt x="5076" y="238984"/>
                  </a:lnTo>
                  <a:lnTo>
                    <a:pt x="19547" y="279548"/>
                  </a:lnTo>
                  <a:lnTo>
                    <a:pt x="42279" y="315478"/>
                  </a:lnTo>
                  <a:lnTo>
                    <a:pt x="72135" y="345552"/>
                  </a:lnTo>
                  <a:lnTo>
                    <a:pt x="107980" y="368547"/>
                  </a:lnTo>
                  <a:lnTo>
                    <a:pt x="148680" y="383241"/>
                  </a:lnTo>
                  <a:lnTo>
                    <a:pt x="193097" y="388410"/>
                  </a:lnTo>
                  <a:lnTo>
                    <a:pt x="224080" y="385059"/>
                  </a:lnTo>
                  <a:lnTo>
                    <a:pt x="253541" y="377440"/>
                  </a:lnTo>
                  <a:lnTo>
                    <a:pt x="281175" y="365555"/>
                  </a:lnTo>
                  <a:lnTo>
                    <a:pt x="296414" y="355905"/>
                  </a:lnTo>
                  <a:lnTo>
                    <a:pt x="193097" y="355905"/>
                  </a:lnTo>
                  <a:lnTo>
                    <a:pt x="150090" y="350081"/>
                  </a:lnTo>
                  <a:lnTo>
                    <a:pt x="111365" y="333694"/>
                  </a:lnTo>
                  <a:lnTo>
                    <a:pt x="78498" y="308368"/>
                  </a:lnTo>
                  <a:lnTo>
                    <a:pt x="53069" y="275728"/>
                  </a:lnTo>
                  <a:lnTo>
                    <a:pt x="36654" y="237400"/>
                  </a:lnTo>
                  <a:lnTo>
                    <a:pt x="30832" y="195008"/>
                  </a:lnTo>
                  <a:lnTo>
                    <a:pt x="36654" y="151930"/>
                  </a:lnTo>
                  <a:lnTo>
                    <a:pt x="53069" y="113140"/>
                  </a:lnTo>
                  <a:lnTo>
                    <a:pt x="78498" y="80218"/>
                  </a:lnTo>
                  <a:lnTo>
                    <a:pt x="111365" y="54746"/>
                  </a:lnTo>
                  <a:lnTo>
                    <a:pt x="150090" y="38304"/>
                  </a:lnTo>
                  <a:lnTo>
                    <a:pt x="193097" y="32472"/>
                  </a:lnTo>
                  <a:lnTo>
                    <a:pt x="326658" y="32472"/>
                  </a:lnTo>
                  <a:lnTo>
                    <a:pt x="324531" y="30881"/>
                  </a:lnTo>
                  <a:lnTo>
                    <a:pt x="295325" y="30881"/>
                  </a:lnTo>
                  <a:lnTo>
                    <a:pt x="271365" y="17818"/>
                  </a:lnTo>
                  <a:lnTo>
                    <a:pt x="246035" y="8118"/>
                  </a:lnTo>
                  <a:lnTo>
                    <a:pt x="219794" y="2079"/>
                  </a:lnTo>
                  <a:lnTo>
                    <a:pt x="193097" y="0"/>
                  </a:lnTo>
                  <a:close/>
                </a:path>
                <a:path w="386079" h="388619">
                  <a:moveTo>
                    <a:pt x="376453" y="162503"/>
                  </a:moveTo>
                  <a:lnTo>
                    <a:pt x="363474" y="162503"/>
                  </a:lnTo>
                  <a:lnTo>
                    <a:pt x="353737" y="172256"/>
                  </a:lnTo>
                  <a:lnTo>
                    <a:pt x="353737" y="180379"/>
                  </a:lnTo>
                  <a:lnTo>
                    <a:pt x="354356" y="190562"/>
                  </a:lnTo>
                  <a:lnTo>
                    <a:pt x="354305" y="202930"/>
                  </a:lnTo>
                  <a:lnTo>
                    <a:pt x="340756" y="257985"/>
                  </a:lnTo>
                  <a:lnTo>
                    <a:pt x="318042" y="295771"/>
                  </a:lnTo>
                  <a:lnTo>
                    <a:pt x="270907" y="335338"/>
                  </a:lnTo>
                  <a:lnTo>
                    <a:pt x="220657" y="353518"/>
                  </a:lnTo>
                  <a:lnTo>
                    <a:pt x="193097" y="355905"/>
                  </a:lnTo>
                  <a:lnTo>
                    <a:pt x="296414" y="355905"/>
                  </a:lnTo>
                  <a:lnTo>
                    <a:pt x="334268" y="325023"/>
                  </a:lnTo>
                  <a:lnTo>
                    <a:pt x="367937" y="275658"/>
                  </a:lnTo>
                  <a:lnTo>
                    <a:pt x="384569" y="217761"/>
                  </a:lnTo>
                  <a:lnTo>
                    <a:pt x="385937" y="190562"/>
                  </a:lnTo>
                  <a:lnTo>
                    <a:pt x="384569" y="177127"/>
                  </a:lnTo>
                  <a:lnTo>
                    <a:pt x="384569" y="172256"/>
                  </a:lnTo>
                  <a:lnTo>
                    <a:pt x="382948" y="169003"/>
                  </a:lnTo>
                  <a:lnTo>
                    <a:pt x="376453" y="162503"/>
                  </a:lnTo>
                  <a:close/>
                </a:path>
                <a:path w="386079" h="388619">
                  <a:moveTo>
                    <a:pt x="326658" y="32472"/>
                  </a:moveTo>
                  <a:lnTo>
                    <a:pt x="193097" y="32472"/>
                  </a:lnTo>
                  <a:lnTo>
                    <a:pt x="214952" y="33998"/>
                  </a:lnTo>
                  <a:lnTo>
                    <a:pt x="236503" y="38573"/>
                  </a:lnTo>
                  <a:lnTo>
                    <a:pt x="257445" y="46196"/>
                  </a:lnTo>
                  <a:lnTo>
                    <a:pt x="277472" y="56864"/>
                  </a:lnTo>
                  <a:lnTo>
                    <a:pt x="277472" y="58488"/>
                  </a:lnTo>
                  <a:lnTo>
                    <a:pt x="279780" y="71108"/>
                  </a:lnTo>
                  <a:lnTo>
                    <a:pt x="286196" y="81444"/>
                  </a:lnTo>
                  <a:lnTo>
                    <a:pt x="295958" y="88428"/>
                  </a:lnTo>
                  <a:lnTo>
                    <a:pt x="308305" y="90993"/>
                  </a:lnTo>
                  <a:lnTo>
                    <a:pt x="320905" y="88428"/>
                  </a:lnTo>
                  <a:lnTo>
                    <a:pt x="331224" y="81444"/>
                  </a:lnTo>
                  <a:lnTo>
                    <a:pt x="338197" y="71108"/>
                  </a:lnTo>
                  <a:lnTo>
                    <a:pt x="340758" y="58488"/>
                  </a:lnTo>
                  <a:lnTo>
                    <a:pt x="340758" y="50359"/>
                  </a:lnTo>
                  <a:lnTo>
                    <a:pt x="337510" y="42235"/>
                  </a:lnTo>
                  <a:lnTo>
                    <a:pt x="331021" y="35735"/>
                  </a:lnTo>
                  <a:lnTo>
                    <a:pt x="326658" y="32472"/>
                  </a:lnTo>
                  <a:close/>
                </a:path>
                <a:path w="386079" h="388619">
                  <a:moveTo>
                    <a:pt x="316415" y="27590"/>
                  </a:moveTo>
                  <a:lnTo>
                    <a:pt x="298567" y="27590"/>
                  </a:lnTo>
                  <a:lnTo>
                    <a:pt x="295325" y="30881"/>
                  </a:lnTo>
                  <a:lnTo>
                    <a:pt x="324531" y="30881"/>
                  </a:lnTo>
                  <a:lnTo>
                    <a:pt x="316415" y="27590"/>
                  </a:lnTo>
                  <a:close/>
                </a:path>
              </a:pathLst>
            </a:custGeom>
            <a:solidFill>
              <a:srgbClr val="1D70B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Номер слайда 13"/>
          <p:cNvSpPr>
            <a:spLocks noGrp="1"/>
          </p:cNvSpPr>
          <p:nvPr>
            <p:ph type="sldNum" sz="quarter" idx="12"/>
          </p:nvPr>
        </p:nvSpPr>
        <p:spPr>
          <a:xfrm>
            <a:off x="11240770" y="6397625"/>
            <a:ext cx="626745" cy="274955"/>
          </a:xfrm>
        </p:spPr>
        <p:txBody>
          <a:bodyPr/>
          <a:lstStyle/>
          <a:p>
            <a:pPr marL="38100">
              <a:lnSpc>
                <a:spcPts val="2145"/>
              </a:lnSpc>
            </a:pPr>
            <a:fld id="{81D60167-4931-47E6-BA6A-407CBD079E47}" type="slidenum">
              <a:rPr lang="ru-RU" sz="2400" b="0" smtClean="0"/>
            </a:fld>
            <a:endParaRPr lang="ru-RU" sz="2400" b="0" dirty="0"/>
          </a:p>
        </p:txBody>
      </p:sp>
      <p:sp>
        <p:nvSpPr>
          <p:cNvPr id="12" name="Текстовое поле 11"/>
          <p:cNvSpPr txBox="1"/>
          <p:nvPr/>
        </p:nvSpPr>
        <p:spPr>
          <a:xfrm>
            <a:off x="479425" y="675640"/>
            <a:ext cx="91516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Стадия </a:t>
            </a:r>
            <a:r>
              <a:rPr lang="ru-RU" altLang="en-US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3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: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Окисление фосфиттриэфира до фосфаттриэфира</a:t>
            </a:r>
            <a:endParaRPr lang="en-US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Изображение 1"/>
          <p:cNvPicPr>
            <a:picLocks noChangeAspect="1"/>
          </p:cNvPicPr>
          <p:nvPr/>
        </p:nvPicPr>
        <p:blipFill>
          <a:blip r:embed="rId5">
            <a:lum bright="12000"/>
          </a:blip>
          <a:stretch>
            <a:fillRect/>
          </a:stretch>
        </p:blipFill>
        <p:spPr>
          <a:xfrm>
            <a:off x="1485900" y="1104265"/>
            <a:ext cx="7933690" cy="575373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ru-RU" altLang="en-US"/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38100">
              <a:lnSpc>
                <a:spcPts val="2145"/>
              </a:lnSpc>
            </a:pPr>
            <a:fld id="{81D60167-4931-47E6-BA6A-407CBD079E47}" type="slidenum">
              <a:rPr lang="ru-RU" smtClean="0"/>
            </a:fld>
            <a:endParaRPr lang="ru-RU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493776" y="1043939"/>
            <a:ext cx="9946005" cy="0"/>
          </a:xfrm>
          <a:custGeom>
            <a:avLst/>
            <a:gdLst/>
            <a:ahLst/>
            <a:cxnLst/>
            <a:rect l="l" t="t" r="r" b="b"/>
            <a:pathLst>
              <a:path w="9946005">
                <a:moveTo>
                  <a:pt x="0" y="0"/>
                </a:moveTo>
                <a:lnTo>
                  <a:pt x="9946005" y="0"/>
                </a:lnTo>
              </a:path>
            </a:pathLst>
          </a:custGeom>
          <a:ln w="6096">
            <a:solidFill>
              <a:srgbClr val="5B9BD4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10913388" y="236043"/>
            <a:ext cx="668655" cy="1195070"/>
            <a:chOff x="10913388" y="236043"/>
            <a:chExt cx="668655" cy="1195070"/>
          </a:xfrm>
        </p:grpSpPr>
        <p:sp>
          <p:nvSpPr>
            <p:cNvPr id="5" name="object 5"/>
            <p:cNvSpPr/>
            <p:nvPr/>
          </p:nvSpPr>
          <p:spPr>
            <a:xfrm>
              <a:off x="10913388" y="601685"/>
              <a:ext cx="668655" cy="829310"/>
            </a:xfrm>
            <a:custGeom>
              <a:avLst/>
              <a:gdLst/>
              <a:ahLst/>
              <a:cxnLst/>
              <a:rect l="l" t="t" r="r" b="b"/>
              <a:pathLst>
                <a:path w="668654" h="829310">
                  <a:moveTo>
                    <a:pt x="126245" y="651742"/>
                  </a:moveTo>
                  <a:lnTo>
                    <a:pt x="61660" y="651742"/>
                  </a:lnTo>
                  <a:lnTo>
                    <a:pt x="293695" y="785010"/>
                  </a:lnTo>
                  <a:lnTo>
                    <a:pt x="293695" y="788261"/>
                  </a:lnTo>
                  <a:lnTo>
                    <a:pt x="296840" y="803522"/>
                  </a:lnTo>
                  <a:lnTo>
                    <a:pt x="305461" y="816499"/>
                  </a:lnTo>
                  <a:lnTo>
                    <a:pt x="318342" y="825514"/>
                  </a:lnTo>
                  <a:lnTo>
                    <a:pt x="334264" y="828892"/>
                  </a:lnTo>
                  <a:lnTo>
                    <a:pt x="350186" y="825514"/>
                  </a:lnTo>
                  <a:lnTo>
                    <a:pt x="363065" y="816499"/>
                  </a:lnTo>
                  <a:lnTo>
                    <a:pt x="371685" y="803522"/>
                  </a:lnTo>
                  <a:lnTo>
                    <a:pt x="374828" y="788261"/>
                  </a:lnTo>
                  <a:lnTo>
                    <a:pt x="374828" y="785010"/>
                  </a:lnTo>
                  <a:lnTo>
                    <a:pt x="425403" y="755758"/>
                  </a:lnTo>
                  <a:lnTo>
                    <a:pt x="306680" y="755758"/>
                  </a:lnTo>
                  <a:lnTo>
                    <a:pt x="126245" y="651742"/>
                  </a:lnTo>
                  <a:close/>
                </a:path>
                <a:path w="668654" h="829310">
                  <a:moveTo>
                    <a:pt x="334061" y="747226"/>
                  </a:moveTo>
                  <a:lnTo>
                    <a:pt x="319838" y="749359"/>
                  </a:lnTo>
                  <a:lnTo>
                    <a:pt x="306680" y="755758"/>
                  </a:lnTo>
                  <a:lnTo>
                    <a:pt x="360223" y="755758"/>
                  </a:lnTo>
                  <a:lnTo>
                    <a:pt x="347979" y="749359"/>
                  </a:lnTo>
                  <a:lnTo>
                    <a:pt x="334061" y="747226"/>
                  </a:lnTo>
                  <a:close/>
                </a:path>
                <a:path w="668654" h="829310">
                  <a:moveTo>
                    <a:pt x="481925" y="0"/>
                  </a:moveTo>
                  <a:lnTo>
                    <a:pt x="466002" y="3149"/>
                  </a:lnTo>
                  <a:lnTo>
                    <a:pt x="453122" y="11786"/>
                  </a:lnTo>
                  <a:lnTo>
                    <a:pt x="444500" y="24690"/>
                  </a:lnTo>
                  <a:lnTo>
                    <a:pt x="441355" y="40645"/>
                  </a:lnTo>
                  <a:lnTo>
                    <a:pt x="443105" y="52421"/>
                  </a:lnTo>
                  <a:lnTo>
                    <a:pt x="448050" y="62990"/>
                  </a:lnTo>
                  <a:lnTo>
                    <a:pt x="455733" y="71738"/>
                  </a:lnTo>
                  <a:lnTo>
                    <a:pt x="465698" y="78054"/>
                  </a:lnTo>
                  <a:lnTo>
                    <a:pt x="465698" y="206407"/>
                  </a:lnTo>
                  <a:lnTo>
                    <a:pt x="587384" y="271461"/>
                  </a:lnTo>
                  <a:lnTo>
                    <a:pt x="587384" y="274697"/>
                  </a:lnTo>
                  <a:lnTo>
                    <a:pt x="585796" y="276288"/>
                  </a:lnTo>
                  <a:lnTo>
                    <a:pt x="585796" y="277933"/>
                  </a:lnTo>
                  <a:lnTo>
                    <a:pt x="587846" y="290887"/>
                  </a:lnTo>
                  <a:lnTo>
                    <a:pt x="593695" y="302316"/>
                  </a:lnTo>
                  <a:lnTo>
                    <a:pt x="602892" y="311306"/>
                  </a:lnTo>
                  <a:lnTo>
                    <a:pt x="614985" y="316944"/>
                  </a:lnTo>
                  <a:lnTo>
                    <a:pt x="614985" y="578603"/>
                  </a:lnTo>
                  <a:lnTo>
                    <a:pt x="602892" y="584928"/>
                  </a:lnTo>
                  <a:lnTo>
                    <a:pt x="593695" y="593842"/>
                  </a:lnTo>
                  <a:lnTo>
                    <a:pt x="587846" y="604889"/>
                  </a:lnTo>
                  <a:lnTo>
                    <a:pt x="585796" y="617614"/>
                  </a:lnTo>
                  <a:lnTo>
                    <a:pt x="585796" y="620861"/>
                  </a:lnTo>
                  <a:lnTo>
                    <a:pt x="587384" y="622484"/>
                  </a:lnTo>
                  <a:lnTo>
                    <a:pt x="587384" y="625737"/>
                  </a:lnTo>
                  <a:lnTo>
                    <a:pt x="360223" y="755758"/>
                  </a:lnTo>
                  <a:lnTo>
                    <a:pt x="425403" y="755758"/>
                  </a:lnTo>
                  <a:lnTo>
                    <a:pt x="605237" y="651742"/>
                  </a:lnTo>
                  <a:lnTo>
                    <a:pt x="648894" y="651742"/>
                  </a:lnTo>
                  <a:lnTo>
                    <a:pt x="656777" y="646460"/>
                  </a:lnTo>
                  <a:lnTo>
                    <a:pt x="665399" y="633561"/>
                  </a:lnTo>
                  <a:lnTo>
                    <a:pt x="668544" y="617614"/>
                  </a:lnTo>
                  <a:lnTo>
                    <a:pt x="667074" y="606997"/>
                  </a:lnTo>
                  <a:lnTo>
                    <a:pt x="662862" y="597295"/>
                  </a:lnTo>
                  <a:lnTo>
                    <a:pt x="656207" y="588813"/>
                  </a:lnTo>
                  <a:lnTo>
                    <a:pt x="647405" y="581856"/>
                  </a:lnTo>
                  <a:lnTo>
                    <a:pt x="647405" y="313691"/>
                  </a:lnTo>
                  <a:lnTo>
                    <a:pt x="656207" y="307648"/>
                  </a:lnTo>
                  <a:lnTo>
                    <a:pt x="662862" y="299471"/>
                  </a:lnTo>
                  <a:lnTo>
                    <a:pt x="667074" y="289465"/>
                  </a:lnTo>
                  <a:lnTo>
                    <a:pt x="668544" y="277933"/>
                  </a:lnTo>
                  <a:lnTo>
                    <a:pt x="665399" y="261979"/>
                  </a:lnTo>
                  <a:lnTo>
                    <a:pt x="656777" y="249074"/>
                  </a:lnTo>
                  <a:lnTo>
                    <a:pt x="648931" y="243815"/>
                  </a:lnTo>
                  <a:lnTo>
                    <a:pt x="605237" y="243815"/>
                  </a:lnTo>
                  <a:lnTo>
                    <a:pt x="498151" y="186934"/>
                  </a:lnTo>
                  <a:lnTo>
                    <a:pt x="498151" y="78054"/>
                  </a:lnTo>
                  <a:lnTo>
                    <a:pt x="508113" y="71738"/>
                  </a:lnTo>
                  <a:lnTo>
                    <a:pt x="515795" y="62990"/>
                  </a:lnTo>
                  <a:lnTo>
                    <a:pt x="520739" y="52421"/>
                  </a:lnTo>
                  <a:lnTo>
                    <a:pt x="522488" y="40645"/>
                  </a:lnTo>
                  <a:lnTo>
                    <a:pt x="519345" y="24690"/>
                  </a:lnTo>
                  <a:lnTo>
                    <a:pt x="510725" y="11786"/>
                  </a:lnTo>
                  <a:lnTo>
                    <a:pt x="497846" y="3149"/>
                  </a:lnTo>
                  <a:lnTo>
                    <a:pt x="481925" y="0"/>
                  </a:lnTo>
                  <a:close/>
                </a:path>
                <a:path w="668654" h="829310">
                  <a:moveTo>
                    <a:pt x="48679" y="237288"/>
                  </a:moveTo>
                  <a:lnTo>
                    <a:pt x="40566" y="237288"/>
                  </a:lnTo>
                  <a:lnTo>
                    <a:pt x="24644" y="240438"/>
                  </a:lnTo>
                  <a:lnTo>
                    <a:pt x="11764" y="249074"/>
                  </a:lnTo>
                  <a:lnTo>
                    <a:pt x="3143" y="261979"/>
                  </a:lnTo>
                  <a:lnTo>
                    <a:pt x="0" y="277933"/>
                  </a:lnTo>
                  <a:lnTo>
                    <a:pt x="1470" y="289491"/>
                  </a:lnTo>
                  <a:lnTo>
                    <a:pt x="5679" y="299674"/>
                  </a:lnTo>
                  <a:lnTo>
                    <a:pt x="12322" y="308333"/>
                  </a:lnTo>
                  <a:lnTo>
                    <a:pt x="21095" y="315315"/>
                  </a:lnTo>
                  <a:lnTo>
                    <a:pt x="21095" y="581856"/>
                  </a:lnTo>
                  <a:lnTo>
                    <a:pt x="12322" y="588128"/>
                  </a:lnTo>
                  <a:lnTo>
                    <a:pt x="5679" y="596686"/>
                  </a:lnTo>
                  <a:lnTo>
                    <a:pt x="1470" y="606769"/>
                  </a:lnTo>
                  <a:lnTo>
                    <a:pt x="0" y="617614"/>
                  </a:lnTo>
                  <a:lnTo>
                    <a:pt x="3143" y="633561"/>
                  </a:lnTo>
                  <a:lnTo>
                    <a:pt x="11764" y="646460"/>
                  </a:lnTo>
                  <a:lnTo>
                    <a:pt x="24644" y="655094"/>
                  </a:lnTo>
                  <a:lnTo>
                    <a:pt x="40566" y="658242"/>
                  </a:lnTo>
                  <a:lnTo>
                    <a:pt x="48679" y="658242"/>
                  </a:lnTo>
                  <a:lnTo>
                    <a:pt x="55171" y="656619"/>
                  </a:lnTo>
                  <a:lnTo>
                    <a:pt x="61660" y="651742"/>
                  </a:lnTo>
                  <a:lnTo>
                    <a:pt x="126245" y="651742"/>
                  </a:lnTo>
                  <a:lnTo>
                    <a:pt x="81134" y="625737"/>
                  </a:lnTo>
                  <a:lnTo>
                    <a:pt x="81134" y="617614"/>
                  </a:lnTo>
                  <a:lnTo>
                    <a:pt x="79106" y="604889"/>
                  </a:lnTo>
                  <a:lnTo>
                    <a:pt x="73426" y="593842"/>
                  </a:lnTo>
                  <a:lnTo>
                    <a:pt x="64703" y="584928"/>
                  </a:lnTo>
                  <a:lnTo>
                    <a:pt x="53544" y="578603"/>
                  </a:lnTo>
                  <a:lnTo>
                    <a:pt x="53544" y="316944"/>
                  </a:lnTo>
                  <a:lnTo>
                    <a:pt x="64703" y="310621"/>
                  </a:lnTo>
                  <a:lnTo>
                    <a:pt x="73426" y="301707"/>
                  </a:lnTo>
                  <a:lnTo>
                    <a:pt x="79106" y="290658"/>
                  </a:lnTo>
                  <a:lnTo>
                    <a:pt x="81134" y="277933"/>
                  </a:lnTo>
                  <a:lnTo>
                    <a:pt x="81134" y="276288"/>
                  </a:lnTo>
                  <a:lnTo>
                    <a:pt x="79508" y="274697"/>
                  </a:lnTo>
                  <a:lnTo>
                    <a:pt x="79508" y="271461"/>
                  </a:lnTo>
                  <a:lnTo>
                    <a:pt x="130664" y="243815"/>
                  </a:lnTo>
                  <a:lnTo>
                    <a:pt x="61660" y="243815"/>
                  </a:lnTo>
                  <a:lnTo>
                    <a:pt x="48679" y="237288"/>
                  </a:lnTo>
                  <a:close/>
                </a:path>
                <a:path w="668654" h="829310">
                  <a:moveTo>
                    <a:pt x="648894" y="651742"/>
                  </a:moveTo>
                  <a:lnTo>
                    <a:pt x="605237" y="651742"/>
                  </a:lnTo>
                  <a:lnTo>
                    <a:pt x="611754" y="656619"/>
                  </a:lnTo>
                  <a:lnTo>
                    <a:pt x="619859" y="658242"/>
                  </a:lnTo>
                  <a:lnTo>
                    <a:pt x="627964" y="658242"/>
                  </a:lnTo>
                  <a:lnTo>
                    <a:pt x="643893" y="655094"/>
                  </a:lnTo>
                  <a:lnTo>
                    <a:pt x="648894" y="651742"/>
                  </a:lnTo>
                  <a:close/>
                </a:path>
                <a:path w="668654" h="829310">
                  <a:moveTo>
                    <a:pt x="186604" y="0"/>
                  </a:moveTo>
                  <a:lnTo>
                    <a:pt x="170682" y="3149"/>
                  </a:lnTo>
                  <a:lnTo>
                    <a:pt x="157801" y="11786"/>
                  </a:lnTo>
                  <a:lnTo>
                    <a:pt x="149179" y="24690"/>
                  </a:lnTo>
                  <a:lnTo>
                    <a:pt x="146035" y="40645"/>
                  </a:lnTo>
                  <a:lnTo>
                    <a:pt x="147785" y="52421"/>
                  </a:lnTo>
                  <a:lnTo>
                    <a:pt x="152729" y="62990"/>
                  </a:lnTo>
                  <a:lnTo>
                    <a:pt x="160412" y="71738"/>
                  </a:lnTo>
                  <a:lnTo>
                    <a:pt x="170378" y="78054"/>
                  </a:lnTo>
                  <a:lnTo>
                    <a:pt x="170378" y="185289"/>
                  </a:lnTo>
                  <a:lnTo>
                    <a:pt x="61660" y="243815"/>
                  </a:lnTo>
                  <a:lnTo>
                    <a:pt x="130664" y="243815"/>
                  </a:lnTo>
                  <a:lnTo>
                    <a:pt x="202831" y="204816"/>
                  </a:lnTo>
                  <a:lnTo>
                    <a:pt x="202831" y="78054"/>
                  </a:lnTo>
                  <a:lnTo>
                    <a:pt x="212795" y="71738"/>
                  </a:lnTo>
                  <a:lnTo>
                    <a:pt x="220476" y="62990"/>
                  </a:lnTo>
                  <a:lnTo>
                    <a:pt x="225419" y="52421"/>
                  </a:lnTo>
                  <a:lnTo>
                    <a:pt x="227168" y="40645"/>
                  </a:lnTo>
                  <a:lnTo>
                    <a:pt x="224024" y="24690"/>
                  </a:lnTo>
                  <a:lnTo>
                    <a:pt x="215405" y="11786"/>
                  </a:lnTo>
                  <a:lnTo>
                    <a:pt x="202526" y="3149"/>
                  </a:lnTo>
                  <a:lnTo>
                    <a:pt x="186604" y="0"/>
                  </a:lnTo>
                  <a:close/>
                </a:path>
                <a:path w="668654" h="829310">
                  <a:moveTo>
                    <a:pt x="627964" y="237288"/>
                  </a:moveTo>
                  <a:lnTo>
                    <a:pt x="619859" y="237288"/>
                  </a:lnTo>
                  <a:lnTo>
                    <a:pt x="611754" y="240579"/>
                  </a:lnTo>
                  <a:lnTo>
                    <a:pt x="605237" y="243815"/>
                  </a:lnTo>
                  <a:lnTo>
                    <a:pt x="648931" y="243815"/>
                  </a:lnTo>
                  <a:lnTo>
                    <a:pt x="643893" y="240438"/>
                  </a:lnTo>
                  <a:lnTo>
                    <a:pt x="627964" y="237288"/>
                  </a:lnTo>
                  <a:close/>
                </a:path>
              </a:pathLst>
            </a:custGeom>
            <a:solidFill>
              <a:srgbClr val="1D70B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1164899" y="466804"/>
              <a:ext cx="115207" cy="11540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95725" y="236043"/>
              <a:ext cx="79511" cy="7964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293085" y="336806"/>
              <a:ext cx="95738" cy="9588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150293" y="954381"/>
              <a:ext cx="193092" cy="20315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1054555" y="855264"/>
              <a:ext cx="386080" cy="388620"/>
            </a:xfrm>
            <a:custGeom>
              <a:avLst/>
              <a:gdLst/>
              <a:ahLst/>
              <a:cxnLst/>
              <a:rect l="l" t="t" r="r" b="b"/>
              <a:pathLst>
                <a:path w="386079" h="388619">
                  <a:moveTo>
                    <a:pt x="193097" y="0"/>
                  </a:moveTo>
                  <a:lnTo>
                    <a:pt x="148680" y="5173"/>
                  </a:lnTo>
                  <a:lnTo>
                    <a:pt x="107980" y="19896"/>
                  </a:lnTo>
                  <a:lnTo>
                    <a:pt x="72135" y="42977"/>
                  </a:lnTo>
                  <a:lnTo>
                    <a:pt x="42279" y="73222"/>
                  </a:lnTo>
                  <a:lnTo>
                    <a:pt x="19547" y="109438"/>
                  </a:lnTo>
                  <a:lnTo>
                    <a:pt x="5076" y="150431"/>
                  </a:lnTo>
                  <a:lnTo>
                    <a:pt x="0" y="195008"/>
                  </a:lnTo>
                  <a:lnTo>
                    <a:pt x="5076" y="238984"/>
                  </a:lnTo>
                  <a:lnTo>
                    <a:pt x="19547" y="279548"/>
                  </a:lnTo>
                  <a:lnTo>
                    <a:pt x="42279" y="315478"/>
                  </a:lnTo>
                  <a:lnTo>
                    <a:pt x="72135" y="345552"/>
                  </a:lnTo>
                  <a:lnTo>
                    <a:pt x="107980" y="368547"/>
                  </a:lnTo>
                  <a:lnTo>
                    <a:pt x="148680" y="383241"/>
                  </a:lnTo>
                  <a:lnTo>
                    <a:pt x="193097" y="388410"/>
                  </a:lnTo>
                  <a:lnTo>
                    <a:pt x="224080" y="385059"/>
                  </a:lnTo>
                  <a:lnTo>
                    <a:pt x="253541" y="377440"/>
                  </a:lnTo>
                  <a:lnTo>
                    <a:pt x="281175" y="365555"/>
                  </a:lnTo>
                  <a:lnTo>
                    <a:pt x="296414" y="355905"/>
                  </a:lnTo>
                  <a:lnTo>
                    <a:pt x="193097" y="355905"/>
                  </a:lnTo>
                  <a:lnTo>
                    <a:pt x="150090" y="350081"/>
                  </a:lnTo>
                  <a:lnTo>
                    <a:pt x="111365" y="333694"/>
                  </a:lnTo>
                  <a:lnTo>
                    <a:pt x="78498" y="308368"/>
                  </a:lnTo>
                  <a:lnTo>
                    <a:pt x="53069" y="275728"/>
                  </a:lnTo>
                  <a:lnTo>
                    <a:pt x="36654" y="237400"/>
                  </a:lnTo>
                  <a:lnTo>
                    <a:pt x="30832" y="195008"/>
                  </a:lnTo>
                  <a:lnTo>
                    <a:pt x="36654" y="151930"/>
                  </a:lnTo>
                  <a:lnTo>
                    <a:pt x="53069" y="113140"/>
                  </a:lnTo>
                  <a:lnTo>
                    <a:pt x="78498" y="80218"/>
                  </a:lnTo>
                  <a:lnTo>
                    <a:pt x="111365" y="54746"/>
                  </a:lnTo>
                  <a:lnTo>
                    <a:pt x="150090" y="38304"/>
                  </a:lnTo>
                  <a:lnTo>
                    <a:pt x="193097" y="32472"/>
                  </a:lnTo>
                  <a:lnTo>
                    <a:pt x="326658" y="32472"/>
                  </a:lnTo>
                  <a:lnTo>
                    <a:pt x="324531" y="30881"/>
                  </a:lnTo>
                  <a:lnTo>
                    <a:pt x="295325" y="30881"/>
                  </a:lnTo>
                  <a:lnTo>
                    <a:pt x="271365" y="17818"/>
                  </a:lnTo>
                  <a:lnTo>
                    <a:pt x="246035" y="8118"/>
                  </a:lnTo>
                  <a:lnTo>
                    <a:pt x="219794" y="2079"/>
                  </a:lnTo>
                  <a:lnTo>
                    <a:pt x="193097" y="0"/>
                  </a:lnTo>
                  <a:close/>
                </a:path>
                <a:path w="386079" h="388619">
                  <a:moveTo>
                    <a:pt x="376453" y="162503"/>
                  </a:moveTo>
                  <a:lnTo>
                    <a:pt x="363474" y="162503"/>
                  </a:lnTo>
                  <a:lnTo>
                    <a:pt x="353737" y="172256"/>
                  </a:lnTo>
                  <a:lnTo>
                    <a:pt x="353737" y="180379"/>
                  </a:lnTo>
                  <a:lnTo>
                    <a:pt x="354356" y="190562"/>
                  </a:lnTo>
                  <a:lnTo>
                    <a:pt x="354305" y="202930"/>
                  </a:lnTo>
                  <a:lnTo>
                    <a:pt x="340756" y="257985"/>
                  </a:lnTo>
                  <a:lnTo>
                    <a:pt x="318042" y="295771"/>
                  </a:lnTo>
                  <a:lnTo>
                    <a:pt x="270907" y="335338"/>
                  </a:lnTo>
                  <a:lnTo>
                    <a:pt x="220657" y="353518"/>
                  </a:lnTo>
                  <a:lnTo>
                    <a:pt x="193097" y="355905"/>
                  </a:lnTo>
                  <a:lnTo>
                    <a:pt x="296414" y="355905"/>
                  </a:lnTo>
                  <a:lnTo>
                    <a:pt x="334268" y="325023"/>
                  </a:lnTo>
                  <a:lnTo>
                    <a:pt x="367937" y="275658"/>
                  </a:lnTo>
                  <a:lnTo>
                    <a:pt x="384569" y="217761"/>
                  </a:lnTo>
                  <a:lnTo>
                    <a:pt x="385937" y="190562"/>
                  </a:lnTo>
                  <a:lnTo>
                    <a:pt x="384569" y="177127"/>
                  </a:lnTo>
                  <a:lnTo>
                    <a:pt x="384569" y="172256"/>
                  </a:lnTo>
                  <a:lnTo>
                    <a:pt x="382948" y="169003"/>
                  </a:lnTo>
                  <a:lnTo>
                    <a:pt x="376453" y="162503"/>
                  </a:lnTo>
                  <a:close/>
                </a:path>
                <a:path w="386079" h="388619">
                  <a:moveTo>
                    <a:pt x="326658" y="32472"/>
                  </a:moveTo>
                  <a:lnTo>
                    <a:pt x="193097" y="32472"/>
                  </a:lnTo>
                  <a:lnTo>
                    <a:pt x="214952" y="33998"/>
                  </a:lnTo>
                  <a:lnTo>
                    <a:pt x="236503" y="38573"/>
                  </a:lnTo>
                  <a:lnTo>
                    <a:pt x="257445" y="46196"/>
                  </a:lnTo>
                  <a:lnTo>
                    <a:pt x="277472" y="56864"/>
                  </a:lnTo>
                  <a:lnTo>
                    <a:pt x="277472" y="58488"/>
                  </a:lnTo>
                  <a:lnTo>
                    <a:pt x="279780" y="71108"/>
                  </a:lnTo>
                  <a:lnTo>
                    <a:pt x="286196" y="81444"/>
                  </a:lnTo>
                  <a:lnTo>
                    <a:pt x="295958" y="88428"/>
                  </a:lnTo>
                  <a:lnTo>
                    <a:pt x="308305" y="90993"/>
                  </a:lnTo>
                  <a:lnTo>
                    <a:pt x="320905" y="88428"/>
                  </a:lnTo>
                  <a:lnTo>
                    <a:pt x="331224" y="81444"/>
                  </a:lnTo>
                  <a:lnTo>
                    <a:pt x="338197" y="71108"/>
                  </a:lnTo>
                  <a:lnTo>
                    <a:pt x="340758" y="58488"/>
                  </a:lnTo>
                  <a:lnTo>
                    <a:pt x="340758" y="50359"/>
                  </a:lnTo>
                  <a:lnTo>
                    <a:pt x="337510" y="42235"/>
                  </a:lnTo>
                  <a:lnTo>
                    <a:pt x="331021" y="35735"/>
                  </a:lnTo>
                  <a:lnTo>
                    <a:pt x="326658" y="32472"/>
                  </a:lnTo>
                  <a:close/>
                </a:path>
                <a:path w="386079" h="388619">
                  <a:moveTo>
                    <a:pt x="316415" y="27590"/>
                  </a:moveTo>
                  <a:lnTo>
                    <a:pt x="298567" y="27590"/>
                  </a:lnTo>
                  <a:lnTo>
                    <a:pt x="295325" y="30881"/>
                  </a:lnTo>
                  <a:lnTo>
                    <a:pt x="324531" y="30881"/>
                  </a:lnTo>
                  <a:lnTo>
                    <a:pt x="316415" y="27590"/>
                  </a:lnTo>
                  <a:close/>
                </a:path>
              </a:pathLst>
            </a:custGeom>
            <a:solidFill>
              <a:srgbClr val="1D70B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Заголовок 10"/>
          <p:cNvSpPr>
            <a:spLocks noGrp="1"/>
          </p:cNvSpPr>
          <p:nvPr>
            <p:ph type="title"/>
          </p:nvPr>
        </p:nvSpPr>
        <p:spPr>
          <a:xfrm>
            <a:off x="551814" y="523824"/>
            <a:ext cx="9411335" cy="430530"/>
          </a:xfrm>
        </p:spPr>
        <p:txBody>
          <a:bodyPr>
            <a:normAutofit fontScale="90000"/>
          </a:bodyPr>
          <a:lstStyle/>
          <a:p>
            <a:r>
              <a:rPr lang="ru-RU" altLang="en-US" sz="2800" dirty="0">
                <a:solidFill>
                  <a:schemeClr val="tx2"/>
                </a:solidFill>
              </a:rPr>
              <a:t>Контроль качества синтеза</a:t>
            </a:r>
            <a:endParaRPr lang="ru-RU" altLang="en-US" sz="2800" dirty="0">
              <a:solidFill>
                <a:schemeClr val="tx2"/>
              </a:solidFill>
            </a:endParaRPr>
          </a:p>
        </p:txBody>
      </p:sp>
      <p:sp>
        <p:nvSpPr>
          <p:cNvPr id="14" name="Номер слайда 13"/>
          <p:cNvSpPr>
            <a:spLocks noGrp="1"/>
          </p:cNvSpPr>
          <p:nvPr>
            <p:ph type="sldNum" sz="quarter" idx="12"/>
          </p:nvPr>
        </p:nvSpPr>
        <p:spPr>
          <a:xfrm>
            <a:off x="11240768" y="6397751"/>
            <a:ext cx="373931" cy="274955"/>
          </a:xfrm>
        </p:spPr>
        <p:txBody>
          <a:bodyPr/>
          <a:lstStyle/>
          <a:p>
            <a:pPr marL="38100">
              <a:lnSpc>
                <a:spcPts val="2145"/>
              </a:lnSpc>
            </a:pPr>
            <a:fld id="{81D60167-4931-47E6-BA6A-407CBD079E47}" type="slidenum">
              <a:rPr lang="ru-RU" sz="2400" b="0" smtClean="0"/>
            </a:fld>
            <a:endParaRPr lang="ru-RU" sz="2400" b="0" dirty="0"/>
          </a:p>
        </p:txBody>
      </p:sp>
      <p:sp>
        <p:nvSpPr>
          <p:cNvPr id="15" name="Rectangle 2"/>
          <p:cNvSpPr>
            <a:spLocks noChangeArrowheads="1"/>
          </p:cNvSpPr>
          <p:nvPr/>
        </p:nvSpPr>
        <p:spPr bwMode="auto">
          <a:xfrm>
            <a:off x="9732899" y="200941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ru-RU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493776" y="1043939"/>
            <a:ext cx="9946005" cy="0"/>
          </a:xfrm>
          <a:custGeom>
            <a:avLst/>
            <a:gdLst/>
            <a:ahLst/>
            <a:cxnLst/>
            <a:rect l="l" t="t" r="r" b="b"/>
            <a:pathLst>
              <a:path w="9946005">
                <a:moveTo>
                  <a:pt x="0" y="0"/>
                </a:moveTo>
                <a:lnTo>
                  <a:pt x="9946005" y="0"/>
                </a:lnTo>
              </a:path>
            </a:pathLst>
          </a:custGeom>
          <a:ln w="6096">
            <a:solidFill>
              <a:srgbClr val="5B9BD4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10913388" y="236043"/>
            <a:ext cx="668655" cy="1195070"/>
            <a:chOff x="10913388" y="236043"/>
            <a:chExt cx="668655" cy="1195070"/>
          </a:xfrm>
        </p:grpSpPr>
        <p:sp>
          <p:nvSpPr>
            <p:cNvPr id="5" name="object 5"/>
            <p:cNvSpPr/>
            <p:nvPr/>
          </p:nvSpPr>
          <p:spPr>
            <a:xfrm>
              <a:off x="10913388" y="601685"/>
              <a:ext cx="668655" cy="829310"/>
            </a:xfrm>
            <a:custGeom>
              <a:avLst/>
              <a:gdLst/>
              <a:ahLst/>
              <a:cxnLst/>
              <a:rect l="l" t="t" r="r" b="b"/>
              <a:pathLst>
                <a:path w="668654" h="829310">
                  <a:moveTo>
                    <a:pt x="126245" y="651742"/>
                  </a:moveTo>
                  <a:lnTo>
                    <a:pt x="61660" y="651742"/>
                  </a:lnTo>
                  <a:lnTo>
                    <a:pt x="293695" y="785010"/>
                  </a:lnTo>
                  <a:lnTo>
                    <a:pt x="293695" y="788261"/>
                  </a:lnTo>
                  <a:lnTo>
                    <a:pt x="296840" y="803522"/>
                  </a:lnTo>
                  <a:lnTo>
                    <a:pt x="305461" y="816499"/>
                  </a:lnTo>
                  <a:lnTo>
                    <a:pt x="318342" y="825514"/>
                  </a:lnTo>
                  <a:lnTo>
                    <a:pt x="334264" y="828892"/>
                  </a:lnTo>
                  <a:lnTo>
                    <a:pt x="350186" y="825514"/>
                  </a:lnTo>
                  <a:lnTo>
                    <a:pt x="363065" y="816499"/>
                  </a:lnTo>
                  <a:lnTo>
                    <a:pt x="371685" y="803522"/>
                  </a:lnTo>
                  <a:lnTo>
                    <a:pt x="374828" y="788261"/>
                  </a:lnTo>
                  <a:lnTo>
                    <a:pt x="374828" y="785010"/>
                  </a:lnTo>
                  <a:lnTo>
                    <a:pt x="425403" y="755758"/>
                  </a:lnTo>
                  <a:lnTo>
                    <a:pt x="306680" y="755758"/>
                  </a:lnTo>
                  <a:lnTo>
                    <a:pt x="126245" y="651742"/>
                  </a:lnTo>
                  <a:close/>
                </a:path>
                <a:path w="668654" h="829310">
                  <a:moveTo>
                    <a:pt x="334061" y="747226"/>
                  </a:moveTo>
                  <a:lnTo>
                    <a:pt x="319838" y="749359"/>
                  </a:lnTo>
                  <a:lnTo>
                    <a:pt x="306680" y="755758"/>
                  </a:lnTo>
                  <a:lnTo>
                    <a:pt x="360223" y="755758"/>
                  </a:lnTo>
                  <a:lnTo>
                    <a:pt x="347979" y="749359"/>
                  </a:lnTo>
                  <a:lnTo>
                    <a:pt x="334061" y="747226"/>
                  </a:lnTo>
                  <a:close/>
                </a:path>
                <a:path w="668654" h="829310">
                  <a:moveTo>
                    <a:pt x="481925" y="0"/>
                  </a:moveTo>
                  <a:lnTo>
                    <a:pt x="466002" y="3149"/>
                  </a:lnTo>
                  <a:lnTo>
                    <a:pt x="453122" y="11786"/>
                  </a:lnTo>
                  <a:lnTo>
                    <a:pt x="444500" y="24690"/>
                  </a:lnTo>
                  <a:lnTo>
                    <a:pt x="441355" y="40645"/>
                  </a:lnTo>
                  <a:lnTo>
                    <a:pt x="443105" y="52421"/>
                  </a:lnTo>
                  <a:lnTo>
                    <a:pt x="448050" y="62990"/>
                  </a:lnTo>
                  <a:lnTo>
                    <a:pt x="455733" y="71738"/>
                  </a:lnTo>
                  <a:lnTo>
                    <a:pt x="465698" y="78054"/>
                  </a:lnTo>
                  <a:lnTo>
                    <a:pt x="465698" y="206407"/>
                  </a:lnTo>
                  <a:lnTo>
                    <a:pt x="587384" y="271461"/>
                  </a:lnTo>
                  <a:lnTo>
                    <a:pt x="587384" y="274697"/>
                  </a:lnTo>
                  <a:lnTo>
                    <a:pt x="585796" y="276288"/>
                  </a:lnTo>
                  <a:lnTo>
                    <a:pt x="585796" y="277933"/>
                  </a:lnTo>
                  <a:lnTo>
                    <a:pt x="587846" y="290887"/>
                  </a:lnTo>
                  <a:lnTo>
                    <a:pt x="593695" y="302316"/>
                  </a:lnTo>
                  <a:lnTo>
                    <a:pt x="602892" y="311306"/>
                  </a:lnTo>
                  <a:lnTo>
                    <a:pt x="614985" y="316944"/>
                  </a:lnTo>
                  <a:lnTo>
                    <a:pt x="614985" y="578603"/>
                  </a:lnTo>
                  <a:lnTo>
                    <a:pt x="602892" y="584928"/>
                  </a:lnTo>
                  <a:lnTo>
                    <a:pt x="593695" y="593842"/>
                  </a:lnTo>
                  <a:lnTo>
                    <a:pt x="587846" y="604889"/>
                  </a:lnTo>
                  <a:lnTo>
                    <a:pt x="585796" y="617614"/>
                  </a:lnTo>
                  <a:lnTo>
                    <a:pt x="585796" y="620861"/>
                  </a:lnTo>
                  <a:lnTo>
                    <a:pt x="587384" y="622484"/>
                  </a:lnTo>
                  <a:lnTo>
                    <a:pt x="587384" y="625737"/>
                  </a:lnTo>
                  <a:lnTo>
                    <a:pt x="360223" y="755758"/>
                  </a:lnTo>
                  <a:lnTo>
                    <a:pt x="425403" y="755758"/>
                  </a:lnTo>
                  <a:lnTo>
                    <a:pt x="605237" y="651742"/>
                  </a:lnTo>
                  <a:lnTo>
                    <a:pt x="648894" y="651742"/>
                  </a:lnTo>
                  <a:lnTo>
                    <a:pt x="656777" y="646460"/>
                  </a:lnTo>
                  <a:lnTo>
                    <a:pt x="665399" y="633561"/>
                  </a:lnTo>
                  <a:lnTo>
                    <a:pt x="668544" y="617614"/>
                  </a:lnTo>
                  <a:lnTo>
                    <a:pt x="667074" y="606997"/>
                  </a:lnTo>
                  <a:lnTo>
                    <a:pt x="662862" y="597295"/>
                  </a:lnTo>
                  <a:lnTo>
                    <a:pt x="656207" y="588813"/>
                  </a:lnTo>
                  <a:lnTo>
                    <a:pt x="647405" y="581856"/>
                  </a:lnTo>
                  <a:lnTo>
                    <a:pt x="647405" y="313691"/>
                  </a:lnTo>
                  <a:lnTo>
                    <a:pt x="656207" y="307648"/>
                  </a:lnTo>
                  <a:lnTo>
                    <a:pt x="662862" y="299471"/>
                  </a:lnTo>
                  <a:lnTo>
                    <a:pt x="667074" y="289465"/>
                  </a:lnTo>
                  <a:lnTo>
                    <a:pt x="668544" y="277933"/>
                  </a:lnTo>
                  <a:lnTo>
                    <a:pt x="665399" y="261979"/>
                  </a:lnTo>
                  <a:lnTo>
                    <a:pt x="656777" y="249074"/>
                  </a:lnTo>
                  <a:lnTo>
                    <a:pt x="648931" y="243815"/>
                  </a:lnTo>
                  <a:lnTo>
                    <a:pt x="605237" y="243815"/>
                  </a:lnTo>
                  <a:lnTo>
                    <a:pt x="498151" y="186934"/>
                  </a:lnTo>
                  <a:lnTo>
                    <a:pt x="498151" y="78054"/>
                  </a:lnTo>
                  <a:lnTo>
                    <a:pt x="508113" y="71738"/>
                  </a:lnTo>
                  <a:lnTo>
                    <a:pt x="515795" y="62990"/>
                  </a:lnTo>
                  <a:lnTo>
                    <a:pt x="520739" y="52421"/>
                  </a:lnTo>
                  <a:lnTo>
                    <a:pt x="522488" y="40645"/>
                  </a:lnTo>
                  <a:lnTo>
                    <a:pt x="519345" y="24690"/>
                  </a:lnTo>
                  <a:lnTo>
                    <a:pt x="510725" y="11786"/>
                  </a:lnTo>
                  <a:lnTo>
                    <a:pt x="497846" y="3149"/>
                  </a:lnTo>
                  <a:lnTo>
                    <a:pt x="481925" y="0"/>
                  </a:lnTo>
                  <a:close/>
                </a:path>
                <a:path w="668654" h="829310">
                  <a:moveTo>
                    <a:pt x="48679" y="237288"/>
                  </a:moveTo>
                  <a:lnTo>
                    <a:pt x="40566" y="237288"/>
                  </a:lnTo>
                  <a:lnTo>
                    <a:pt x="24644" y="240438"/>
                  </a:lnTo>
                  <a:lnTo>
                    <a:pt x="11764" y="249074"/>
                  </a:lnTo>
                  <a:lnTo>
                    <a:pt x="3143" y="261979"/>
                  </a:lnTo>
                  <a:lnTo>
                    <a:pt x="0" y="277933"/>
                  </a:lnTo>
                  <a:lnTo>
                    <a:pt x="1470" y="289491"/>
                  </a:lnTo>
                  <a:lnTo>
                    <a:pt x="5679" y="299674"/>
                  </a:lnTo>
                  <a:lnTo>
                    <a:pt x="12322" y="308333"/>
                  </a:lnTo>
                  <a:lnTo>
                    <a:pt x="21095" y="315315"/>
                  </a:lnTo>
                  <a:lnTo>
                    <a:pt x="21095" y="581856"/>
                  </a:lnTo>
                  <a:lnTo>
                    <a:pt x="12322" y="588128"/>
                  </a:lnTo>
                  <a:lnTo>
                    <a:pt x="5679" y="596686"/>
                  </a:lnTo>
                  <a:lnTo>
                    <a:pt x="1470" y="606769"/>
                  </a:lnTo>
                  <a:lnTo>
                    <a:pt x="0" y="617614"/>
                  </a:lnTo>
                  <a:lnTo>
                    <a:pt x="3143" y="633561"/>
                  </a:lnTo>
                  <a:lnTo>
                    <a:pt x="11764" y="646460"/>
                  </a:lnTo>
                  <a:lnTo>
                    <a:pt x="24644" y="655094"/>
                  </a:lnTo>
                  <a:lnTo>
                    <a:pt x="40566" y="658242"/>
                  </a:lnTo>
                  <a:lnTo>
                    <a:pt x="48679" y="658242"/>
                  </a:lnTo>
                  <a:lnTo>
                    <a:pt x="55171" y="656619"/>
                  </a:lnTo>
                  <a:lnTo>
                    <a:pt x="61660" y="651742"/>
                  </a:lnTo>
                  <a:lnTo>
                    <a:pt x="126245" y="651742"/>
                  </a:lnTo>
                  <a:lnTo>
                    <a:pt x="81134" y="625737"/>
                  </a:lnTo>
                  <a:lnTo>
                    <a:pt x="81134" y="617614"/>
                  </a:lnTo>
                  <a:lnTo>
                    <a:pt x="79106" y="604889"/>
                  </a:lnTo>
                  <a:lnTo>
                    <a:pt x="73426" y="593842"/>
                  </a:lnTo>
                  <a:lnTo>
                    <a:pt x="64703" y="584928"/>
                  </a:lnTo>
                  <a:lnTo>
                    <a:pt x="53544" y="578603"/>
                  </a:lnTo>
                  <a:lnTo>
                    <a:pt x="53544" y="316944"/>
                  </a:lnTo>
                  <a:lnTo>
                    <a:pt x="64703" y="310621"/>
                  </a:lnTo>
                  <a:lnTo>
                    <a:pt x="73426" y="301707"/>
                  </a:lnTo>
                  <a:lnTo>
                    <a:pt x="79106" y="290658"/>
                  </a:lnTo>
                  <a:lnTo>
                    <a:pt x="81134" y="277933"/>
                  </a:lnTo>
                  <a:lnTo>
                    <a:pt x="81134" y="276288"/>
                  </a:lnTo>
                  <a:lnTo>
                    <a:pt x="79508" y="274697"/>
                  </a:lnTo>
                  <a:lnTo>
                    <a:pt x="79508" y="271461"/>
                  </a:lnTo>
                  <a:lnTo>
                    <a:pt x="130664" y="243815"/>
                  </a:lnTo>
                  <a:lnTo>
                    <a:pt x="61660" y="243815"/>
                  </a:lnTo>
                  <a:lnTo>
                    <a:pt x="48679" y="237288"/>
                  </a:lnTo>
                  <a:close/>
                </a:path>
                <a:path w="668654" h="829310">
                  <a:moveTo>
                    <a:pt x="648894" y="651742"/>
                  </a:moveTo>
                  <a:lnTo>
                    <a:pt x="605237" y="651742"/>
                  </a:lnTo>
                  <a:lnTo>
                    <a:pt x="611754" y="656619"/>
                  </a:lnTo>
                  <a:lnTo>
                    <a:pt x="619859" y="658242"/>
                  </a:lnTo>
                  <a:lnTo>
                    <a:pt x="627964" y="658242"/>
                  </a:lnTo>
                  <a:lnTo>
                    <a:pt x="643893" y="655094"/>
                  </a:lnTo>
                  <a:lnTo>
                    <a:pt x="648894" y="651742"/>
                  </a:lnTo>
                  <a:close/>
                </a:path>
                <a:path w="668654" h="829310">
                  <a:moveTo>
                    <a:pt x="186604" y="0"/>
                  </a:moveTo>
                  <a:lnTo>
                    <a:pt x="170682" y="3149"/>
                  </a:lnTo>
                  <a:lnTo>
                    <a:pt x="157801" y="11786"/>
                  </a:lnTo>
                  <a:lnTo>
                    <a:pt x="149179" y="24690"/>
                  </a:lnTo>
                  <a:lnTo>
                    <a:pt x="146035" y="40645"/>
                  </a:lnTo>
                  <a:lnTo>
                    <a:pt x="147785" y="52421"/>
                  </a:lnTo>
                  <a:lnTo>
                    <a:pt x="152729" y="62990"/>
                  </a:lnTo>
                  <a:lnTo>
                    <a:pt x="160412" y="71738"/>
                  </a:lnTo>
                  <a:lnTo>
                    <a:pt x="170378" y="78054"/>
                  </a:lnTo>
                  <a:lnTo>
                    <a:pt x="170378" y="185289"/>
                  </a:lnTo>
                  <a:lnTo>
                    <a:pt x="61660" y="243815"/>
                  </a:lnTo>
                  <a:lnTo>
                    <a:pt x="130664" y="243815"/>
                  </a:lnTo>
                  <a:lnTo>
                    <a:pt x="202831" y="204816"/>
                  </a:lnTo>
                  <a:lnTo>
                    <a:pt x="202831" y="78054"/>
                  </a:lnTo>
                  <a:lnTo>
                    <a:pt x="212795" y="71738"/>
                  </a:lnTo>
                  <a:lnTo>
                    <a:pt x="220476" y="62990"/>
                  </a:lnTo>
                  <a:lnTo>
                    <a:pt x="225419" y="52421"/>
                  </a:lnTo>
                  <a:lnTo>
                    <a:pt x="227168" y="40645"/>
                  </a:lnTo>
                  <a:lnTo>
                    <a:pt x="224024" y="24690"/>
                  </a:lnTo>
                  <a:lnTo>
                    <a:pt x="215405" y="11786"/>
                  </a:lnTo>
                  <a:lnTo>
                    <a:pt x="202526" y="3149"/>
                  </a:lnTo>
                  <a:lnTo>
                    <a:pt x="186604" y="0"/>
                  </a:lnTo>
                  <a:close/>
                </a:path>
                <a:path w="668654" h="829310">
                  <a:moveTo>
                    <a:pt x="627964" y="237288"/>
                  </a:moveTo>
                  <a:lnTo>
                    <a:pt x="619859" y="237288"/>
                  </a:lnTo>
                  <a:lnTo>
                    <a:pt x="611754" y="240579"/>
                  </a:lnTo>
                  <a:lnTo>
                    <a:pt x="605237" y="243815"/>
                  </a:lnTo>
                  <a:lnTo>
                    <a:pt x="648931" y="243815"/>
                  </a:lnTo>
                  <a:lnTo>
                    <a:pt x="643893" y="240438"/>
                  </a:lnTo>
                  <a:lnTo>
                    <a:pt x="627964" y="237288"/>
                  </a:lnTo>
                  <a:close/>
                </a:path>
              </a:pathLst>
            </a:custGeom>
            <a:solidFill>
              <a:srgbClr val="1D70B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1164899" y="466804"/>
              <a:ext cx="115207" cy="11540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95725" y="236043"/>
              <a:ext cx="79511" cy="7964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293085" y="336806"/>
              <a:ext cx="95738" cy="9588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150293" y="954381"/>
              <a:ext cx="193092" cy="20315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1054555" y="855264"/>
              <a:ext cx="386080" cy="388620"/>
            </a:xfrm>
            <a:custGeom>
              <a:avLst/>
              <a:gdLst/>
              <a:ahLst/>
              <a:cxnLst/>
              <a:rect l="l" t="t" r="r" b="b"/>
              <a:pathLst>
                <a:path w="386079" h="388619">
                  <a:moveTo>
                    <a:pt x="193097" y="0"/>
                  </a:moveTo>
                  <a:lnTo>
                    <a:pt x="148680" y="5173"/>
                  </a:lnTo>
                  <a:lnTo>
                    <a:pt x="107980" y="19896"/>
                  </a:lnTo>
                  <a:lnTo>
                    <a:pt x="72135" y="42977"/>
                  </a:lnTo>
                  <a:lnTo>
                    <a:pt x="42279" y="73222"/>
                  </a:lnTo>
                  <a:lnTo>
                    <a:pt x="19547" y="109438"/>
                  </a:lnTo>
                  <a:lnTo>
                    <a:pt x="5076" y="150431"/>
                  </a:lnTo>
                  <a:lnTo>
                    <a:pt x="0" y="195008"/>
                  </a:lnTo>
                  <a:lnTo>
                    <a:pt x="5076" y="238984"/>
                  </a:lnTo>
                  <a:lnTo>
                    <a:pt x="19547" y="279548"/>
                  </a:lnTo>
                  <a:lnTo>
                    <a:pt x="42279" y="315478"/>
                  </a:lnTo>
                  <a:lnTo>
                    <a:pt x="72135" y="345552"/>
                  </a:lnTo>
                  <a:lnTo>
                    <a:pt x="107980" y="368547"/>
                  </a:lnTo>
                  <a:lnTo>
                    <a:pt x="148680" y="383241"/>
                  </a:lnTo>
                  <a:lnTo>
                    <a:pt x="193097" y="388410"/>
                  </a:lnTo>
                  <a:lnTo>
                    <a:pt x="224080" y="385059"/>
                  </a:lnTo>
                  <a:lnTo>
                    <a:pt x="253541" y="377440"/>
                  </a:lnTo>
                  <a:lnTo>
                    <a:pt x="281175" y="365555"/>
                  </a:lnTo>
                  <a:lnTo>
                    <a:pt x="296414" y="355905"/>
                  </a:lnTo>
                  <a:lnTo>
                    <a:pt x="193097" y="355905"/>
                  </a:lnTo>
                  <a:lnTo>
                    <a:pt x="150090" y="350081"/>
                  </a:lnTo>
                  <a:lnTo>
                    <a:pt x="111365" y="333694"/>
                  </a:lnTo>
                  <a:lnTo>
                    <a:pt x="78498" y="308368"/>
                  </a:lnTo>
                  <a:lnTo>
                    <a:pt x="53069" y="275728"/>
                  </a:lnTo>
                  <a:lnTo>
                    <a:pt x="36654" y="237400"/>
                  </a:lnTo>
                  <a:lnTo>
                    <a:pt x="30832" y="195008"/>
                  </a:lnTo>
                  <a:lnTo>
                    <a:pt x="36654" y="151930"/>
                  </a:lnTo>
                  <a:lnTo>
                    <a:pt x="53069" y="113140"/>
                  </a:lnTo>
                  <a:lnTo>
                    <a:pt x="78498" y="80218"/>
                  </a:lnTo>
                  <a:lnTo>
                    <a:pt x="111365" y="54746"/>
                  </a:lnTo>
                  <a:lnTo>
                    <a:pt x="150090" y="38304"/>
                  </a:lnTo>
                  <a:lnTo>
                    <a:pt x="193097" y="32472"/>
                  </a:lnTo>
                  <a:lnTo>
                    <a:pt x="326658" y="32472"/>
                  </a:lnTo>
                  <a:lnTo>
                    <a:pt x="324531" y="30881"/>
                  </a:lnTo>
                  <a:lnTo>
                    <a:pt x="295325" y="30881"/>
                  </a:lnTo>
                  <a:lnTo>
                    <a:pt x="271365" y="17818"/>
                  </a:lnTo>
                  <a:lnTo>
                    <a:pt x="246035" y="8118"/>
                  </a:lnTo>
                  <a:lnTo>
                    <a:pt x="219794" y="2079"/>
                  </a:lnTo>
                  <a:lnTo>
                    <a:pt x="193097" y="0"/>
                  </a:lnTo>
                  <a:close/>
                </a:path>
                <a:path w="386079" h="388619">
                  <a:moveTo>
                    <a:pt x="376453" y="162503"/>
                  </a:moveTo>
                  <a:lnTo>
                    <a:pt x="363474" y="162503"/>
                  </a:lnTo>
                  <a:lnTo>
                    <a:pt x="353737" y="172256"/>
                  </a:lnTo>
                  <a:lnTo>
                    <a:pt x="353737" y="180379"/>
                  </a:lnTo>
                  <a:lnTo>
                    <a:pt x="354356" y="190562"/>
                  </a:lnTo>
                  <a:lnTo>
                    <a:pt x="354305" y="202930"/>
                  </a:lnTo>
                  <a:lnTo>
                    <a:pt x="340756" y="257985"/>
                  </a:lnTo>
                  <a:lnTo>
                    <a:pt x="318042" y="295771"/>
                  </a:lnTo>
                  <a:lnTo>
                    <a:pt x="270907" y="335338"/>
                  </a:lnTo>
                  <a:lnTo>
                    <a:pt x="220657" y="353518"/>
                  </a:lnTo>
                  <a:lnTo>
                    <a:pt x="193097" y="355905"/>
                  </a:lnTo>
                  <a:lnTo>
                    <a:pt x="296414" y="355905"/>
                  </a:lnTo>
                  <a:lnTo>
                    <a:pt x="334268" y="325023"/>
                  </a:lnTo>
                  <a:lnTo>
                    <a:pt x="367937" y="275658"/>
                  </a:lnTo>
                  <a:lnTo>
                    <a:pt x="384569" y="217761"/>
                  </a:lnTo>
                  <a:lnTo>
                    <a:pt x="385937" y="190562"/>
                  </a:lnTo>
                  <a:lnTo>
                    <a:pt x="384569" y="177127"/>
                  </a:lnTo>
                  <a:lnTo>
                    <a:pt x="384569" y="172256"/>
                  </a:lnTo>
                  <a:lnTo>
                    <a:pt x="382948" y="169003"/>
                  </a:lnTo>
                  <a:lnTo>
                    <a:pt x="376453" y="162503"/>
                  </a:lnTo>
                  <a:close/>
                </a:path>
                <a:path w="386079" h="388619">
                  <a:moveTo>
                    <a:pt x="326658" y="32472"/>
                  </a:moveTo>
                  <a:lnTo>
                    <a:pt x="193097" y="32472"/>
                  </a:lnTo>
                  <a:lnTo>
                    <a:pt x="214952" y="33998"/>
                  </a:lnTo>
                  <a:lnTo>
                    <a:pt x="236503" y="38573"/>
                  </a:lnTo>
                  <a:lnTo>
                    <a:pt x="257445" y="46196"/>
                  </a:lnTo>
                  <a:lnTo>
                    <a:pt x="277472" y="56864"/>
                  </a:lnTo>
                  <a:lnTo>
                    <a:pt x="277472" y="58488"/>
                  </a:lnTo>
                  <a:lnTo>
                    <a:pt x="279780" y="71108"/>
                  </a:lnTo>
                  <a:lnTo>
                    <a:pt x="286196" y="81444"/>
                  </a:lnTo>
                  <a:lnTo>
                    <a:pt x="295958" y="88428"/>
                  </a:lnTo>
                  <a:lnTo>
                    <a:pt x="308305" y="90993"/>
                  </a:lnTo>
                  <a:lnTo>
                    <a:pt x="320905" y="88428"/>
                  </a:lnTo>
                  <a:lnTo>
                    <a:pt x="331224" y="81444"/>
                  </a:lnTo>
                  <a:lnTo>
                    <a:pt x="338197" y="71108"/>
                  </a:lnTo>
                  <a:lnTo>
                    <a:pt x="340758" y="58488"/>
                  </a:lnTo>
                  <a:lnTo>
                    <a:pt x="340758" y="50359"/>
                  </a:lnTo>
                  <a:lnTo>
                    <a:pt x="337510" y="42235"/>
                  </a:lnTo>
                  <a:lnTo>
                    <a:pt x="331021" y="35735"/>
                  </a:lnTo>
                  <a:lnTo>
                    <a:pt x="326658" y="32472"/>
                  </a:lnTo>
                  <a:close/>
                </a:path>
                <a:path w="386079" h="388619">
                  <a:moveTo>
                    <a:pt x="316415" y="27590"/>
                  </a:moveTo>
                  <a:lnTo>
                    <a:pt x="298567" y="27590"/>
                  </a:lnTo>
                  <a:lnTo>
                    <a:pt x="295325" y="30881"/>
                  </a:lnTo>
                  <a:lnTo>
                    <a:pt x="324531" y="30881"/>
                  </a:lnTo>
                  <a:lnTo>
                    <a:pt x="316415" y="27590"/>
                  </a:lnTo>
                  <a:close/>
                </a:path>
              </a:pathLst>
            </a:custGeom>
            <a:solidFill>
              <a:srgbClr val="1D70B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Номер слайда 13"/>
          <p:cNvSpPr>
            <a:spLocks noGrp="1"/>
          </p:cNvSpPr>
          <p:nvPr>
            <p:ph type="sldNum" sz="quarter" idx="12"/>
          </p:nvPr>
        </p:nvSpPr>
        <p:spPr>
          <a:xfrm>
            <a:off x="11240768" y="6397751"/>
            <a:ext cx="373931" cy="274955"/>
          </a:xfrm>
        </p:spPr>
        <p:txBody>
          <a:bodyPr/>
          <a:lstStyle/>
          <a:p>
            <a:pPr marL="38100">
              <a:lnSpc>
                <a:spcPts val="2145"/>
              </a:lnSpc>
            </a:pPr>
            <a:fld id="{81D60167-4931-47E6-BA6A-407CBD079E47}" type="slidenum">
              <a:rPr lang="ru-RU" sz="2400" b="0" smtClean="0"/>
            </a:fld>
            <a:endParaRPr lang="ru-RU" sz="2400" b="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493776" y="1043939"/>
            <a:ext cx="9946005" cy="0"/>
          </a:xfrm>
          <a:custGeom>
            <a:avLst/>
            <a:gdLst/>
            <a:ahLst/>
            <a:cxnLst/>
            <a:rect l="l" t="t" r="r" b="b"/>
            <a:pathLst>
              <a:path w="9946005">
                <a:moveTo>
                  <a:pt x="0" y="0"/>
                </a:moveTo>
                <a:lnTo>
                  <a:pt x="9946005" y="0"/>
                </a:lnTo>
              </a:path>
            </a:pathLst>
          </a:custGeom>
          <a:ln w="6096">
            <a:solidFill>
              <a:srgbClr val="5B9BD4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10913388" y="236043"/>
            <a:ext cx="668655" cy="1195070"/>
            <a:chOff x="10913388" y="236043"/>
            <a:chExt cx="668655" cy="1195070"/>
          </a:xfrm>
        </p:grpSpPr>
        <p:sp>
          <p:nvSpPr>
            <p:cNvPr id="5" name="object 5"/>
            <p:cNvSpPr/>
            <p:nvPr/>
          </p:nvSpPr>
          <p:spPr>
            <a:xfrm>
              <a:off x="10913388" y="601685"/>
              <a:ext cx="668655" cy="829310"/>
            </a:xfrm>
            <a:custGeom>
              <a:avLst/>
              <a:gdLst/>
              <a:ahLst/>
              <a:cxnLst/>
              <a:rect l="l" t="t" r="r" b="b"/>
              <a:pathLst>
                <a:path w="668654" h="829310">
                  <a:moveTo>
                    <a:pt x="126245" y="651742"/>
                  </a:moveTo>
                  <a:lnTo>
                    <a:pt x="61660" y="651742"/>
                  </a:lnTo>
                  <a:lnTo>
                    <a:pt x="293695" y="785010"/>
                  </a:lnTo>
                  <a:lnTo>
                    <a:pt x="293695" y="788261"/>
                  </a:lnTo>
                  <a:lnTo>
                    <a:pt x="296840" y="803522"/>
                  </a:lnTo>
                  <a:lnTo>
                    <a:pt x="305461" y="816499"/>
                  </a:lnTo>
                  <a:lnTo>
                    <a:pt x="318342" y="825514"/>
                  </a:lnTo>
                  <a:lnTo>
                    <a:pt x="334264" y="828892"/>
                  </a:lnTo>
                  <a:lnTo>
                    <a:pt x="350186" y="825514"/>
                  </a:lnTo>
                  <a:lnTo>
                    <a:pt x="363065" y="816499"/>
                  </a:lnTo>
                  <a:lnTo>
                    <a:pt x="371685" y="803522"/>
                  </a:lnTo>
                  <a:lnTo>
                    <a:pt x="374828" y="788261"/>
                  </a:lnTo>
                  <a:lnTo>
                    <a:pt x="374828" y="785010"/>
                  </a:lnTo>
                  <a:lnTo>
                    <a:pt x="425403" y="755758"/>
                  </a:lnTo>
                  <a:lnTo>
                    <a:pt x="306680" y="755758"/>
                  </a:lnTo>
                  <a:lnTo>
                    <a:pt x="126245" y="651742"/>
                  </a:lnTo>
                  <a:close/>
                </a:path>
                <a:path w="668654" h="829310">
                  <a:moveTo>
                    <a:pt x="334061" y="747226"/>
                  </a:moveTo>
                  <a:lnTo>
                    <a:pt x="319838" y="749359"/>
                  </a:lnTo>
                  <a:lnTo>
                    <a:pt x="306680" y="755758"/>
                  </a:lnTo>
                  <a:lnTo>
                    <a:pt x="360223" y="755758"/>
                  </a:lnTo>
                  <a:lnTo>
                    <a:pt x="347979" y="749359"/>
                  </a:lnTo>
                  <a:lnTo>
                    <a:pt x="334061" y="747226"/>
                  </a:lnTo>
                  <a:close/>
                </a:path>
                <a:path w="668654" h="829310">
                  <a:moveTo>
                    <a:pt x="481925" y="0"/>
                  </a:moveTo>
                  <a:lnTo>
                    <a:pt x="466002" y="3149"/>
                  </a:lnTo>
                  <a:lnTo>
                    <a:pt x="453122" y="11786"/>
                  </a:lnTo>
                  <a:lnTo>
                    <a:pt x="444500" y="24690"/>
                  </a:lnTo>
                  <a:lnTo>
                    <a:pt x="441355" y="40645"/>
                  </a:lnTo>
                  <a:lnTo>
                    <a:pt x="443105" y="52421"/>
                  </a:lnTo>
                  <a:lnTo>
                    <a:pt x="448050" y="62990"/>
                  </a:lnTo>
                  <a:lnTo>
                    <a:pt x="455733" y="71738"/>
                  </a:lnTo>
                  <a:lnTo>
                    <a:pt x="465698" y="78054"/>
                  </a:lnTo>
                  <a:lnTo>
                    <a:pt x="465698" y="206407"/>
                  </a:lnTo>
                  <a:lnTo>
                    <a:pt x="587384" y="271461"/>
                  </a:lnTo>
                  <a:lnTo>
                    <a:pt x="587384" y="274697"/>
                  </a:lnTo>
                  <a:lnTo>
                    <a:pt x="585796" y="276288"/>
                  </a:lnTo>
                  <a:lnTo>
                    <a:pt x="585796" y="277933"/>
                  </a:lnTo>
                  <a:lnTo>
                    <a:pt x="587846" y="290887"/>
                  </a:lnTo>
                  <a:lnTo>
                    <a:pt x="593695" y="302316"/>
                  </a:lnTo>
                  <a:lnTo>
                    <a:pt x="602892" y="311306"/>
                  </a:lnTo>
                  <a:lnTo>
                    <a:pt x="614985" y="316944"/>
                  </a:lnTo>
                  <a:lnTo>
                    <a:pt x="614985" y="578603"/>
                  </a:lnTo>
                  <a:lnTo>
                    <a:pt x="602892" y="584928"/>
                  </a:lnTo>
                  <a:lnTo>
                    <a:pt x="593695" y="593842"/>
                  </a:lnTo>
                  <a:lnTo>
                    <a:pt x="587846" y="604889"/>
                  </a:lnTo>
                  <a:lnTo>
                    <a:pt x="585796" y="617614"/>
                  </a:lnTo>
                  <a:lnTo>
                    <a:pt x="585796" y="620861"/>
                  </a:lnTo>
                  <a:lnTo>
                    <a:pt x="587384" y="622484"/>
                  </a:lnTo>
                  <a:lnTo>
                    <a:pt x="587384" y="625737"/>
                  </a:lnTo>
                  <a:lnTo>
                    <a:pt x="360223" y="755758"/>
                  </a:lnTo>
                  <a:lnTo>
                    <a:pt x="425403" y="755758"/>
                  </a:lnTo>
                  <a:lnTo>
                    <a:pt x="605237" y="651742"/>
                  </a:lnTo>
                  <a:lnTo>
                    <a:pt x="648894" y="651742"/>
                  </a:lnTo>
                  <a:lnTo>
                    <a:pt x="656777" y="646460"/>
                  </a:lnTo>
                  <a:lnTo>
                    <a:pt x="665399" y="633561"/>
                  </a:lnTo>
                  <a:lnTo>
                    <a:pt x="668544" y="617614"/>
                  </a:lnTo>
                  <a:lnTo>
                    <a:pt x="667074" y="606997"/>
                  </a:lnTo>
                  <a:lnTo>
                    <a:pt x="662862" y="597295"/>
                  </a:lnTo>
                  <a:lnTo>
                    <a:pt x="656207" y="588813"/>
                  </a:lnTo>
                  <a:lnTo>
                    <a:pt x="647405" y="581856"/>
                  </a:lnTo>
                  <a:lnTo>
                    <a:pt x="647405" y="313691"/>
                  </a:lnTo>
                  <a:lnTo>
                    <a:pt x="656207" y="307648"/>
                  </a:lnTo>
                  <a:lnTo>
                    <a:pt x="662862" y="299471"/>
                  </a:lnTo>
                  <a:lnTo>
                    <a:pt x="667074" y="289465"/>
                  </a:lnTo>
                  <a:lnTo>
                    <a:pt x="668544" y="277933"/>
                  </a:lnTo>
                  <a:lnTo>
                    <a:pt x="665399" y="261979"/>
                  </a:lnTo>
                  <a:lnTo>
                    <a:pt x="656777" y="249074"/>
                  </a:lnTo>
                  <a:lnTo>
                    <a:pt x="648931" y="243815"/>
                  </a:lnTo>
                  <a:lnTo>
                    <a:pt x="605237" y="243815"/>
                  </a:lnTo>
                  <a:lnTo>
                    <a:pt x="498151" y="186934"/>
                  </a:lnTo>
                  <a:lnTo>
                    <a:pt x="498151" y="78054"/>
                  </a:lnTo>
                  <a:lnTo>
                    <a:pt x="508113" y="71738"/>
                  </a:lnTo>
                  <a:lnTo>
                    <a:pt x="515795" y="62990"/>
                  </a:lnTo>
                  <a:lnTo>
                    <a:pt x="520739" y="52421"/>
                  </a:lnTo>
                  <a:lnTo>
                    <a:pt x="522488" y="40645"/>
                  </a:lnTo>
                  <a:lnTo>
                    <a:pt x="519345" y="24690"/>
                  </a:lnTo>
                  <a:lnTo>
                    <a:pt x="510725" y="11786"/>
                  </a:lnTo>
                  <a:lnTo>
                    <a:pt x="497846" y="3149"/>
                  </a:lnTo>
                  <a:lnTo>
                    <a:pt x="481925" y="0"/>
                  </a:lnTo>
                  <a:close/>
                </a:path>
                <a:path w="668654" h="829310">
                  <a:moveTo>
                    <a:pt x="48679" y="237288"/>
                  </a:moveTo>
                  <a:lnTo>
                    <a:pt x="40566" y="237288"/>
                  </a:lnTo>
                  <a:lnTo>
                    <a:pt x="24644" y="240438"/>
                  </a:lnTo>
                  <a:lnTo>
                    <a:pt x="11764" y="249074"/>
                  </a:lnTo>
                  <a:lnTo>
                    <a:pt x="3143" y="261979"/>
                  </a:lnTo>
                  <a:lnTo>
                    <a:pt x="0" y="277933"/>
                  </a:lnTo>
                  <a:lnTo>
                    <a:pt x="1470" y="289491"/>
                  </a:lnTo>
                  <a:lnTo>
                    <a:pt x="5679" y="299674"/>
                  </a:lnTo>
                  <a:lnTo>
                    <a:pt x="12322" y="308333"/>
                  </a:lnTo>
                  <a:lnTo>
                    <a:pt x="21095" y="315315"/>
                  </a:lnTo>
                  <a:lnTo>
                    <a:pt x="21095" y="581856"/>
                  </a:lnTo>
                  <a:lnTo>
                    <a:pt x="12322" y="588128"/>
                  </a:lnTo>
                  <a:lnTo>
                    <a:pt x="5679" y="596686"/>
                  </a:lnTo>
                  <a:lnTo>
                    <a:pt x="1470" y="606769"/>
                  </a:lnTo>
                  <a:lnTo>
                    <a:pt x="0" y="617614"/>
                  </a:lnTo>
                  <a:lnTo>
                    <a:pt x="3143" y="633561"/>
                  </a:lnTo>
                  <a:lnTo>
                    <a:pt x="11764" y="646460"/>
                  </a:lnTo>
                  <a:lnTo>
                    <a:pt x="24644" y="655094"/>
                  </a:lnTo>
                  <a:lnTo>
                    <a:pt x="40566" y="658242"/>
                  </a:lnTo>
                  <a:lnTo>
                    <a:pt x="48679" y="658242"/>
                  </a:lnTo>
                  <a:lnTo>
                    <a:pt x="55171" y="656619"/>
                  </a:lnTo>
                  <a:lnTo>
                    <a:pt x="61660" y="651742"/>
                  </a:lnTo>
                  <a:lnTo>
                    <a:pt x="126245" y="651742"/>
                  </a:lnTo>
                  <a:lnTo>
                    <a:pt x="81134" y="625737"/>
                  </a:lnTo>
                  <a:lnTo>
                    <a:pt x="81134" y="617614"/>
                  </a:lnTo>
                  <a:lnTo>
                    <a:pt x="79106" y="604889"/>
                  </a:lnTo>
                  <a:lnTo>
                    <a:pt x="73426" y="593842"/>
                  </a:lnTo>
                  <a:lnTo>
                    <a:pt x="64703" y="584928"/>
                  </a:lnTo>
                  <a:lnTo>
                    <a:pt x="53544" y="578603"/>
                  </a:lnTo>
                  <a:lnTo>
                    <a:pt x="53544" y="316944"/>
                  </a:lnTo>
                  <a:lnTo>
                    <a:pt x="64703" y="310621"/>
                  </a:lnTo>
                  <a:lnTo>
                    <a:pt x="73426" y="301707"/>
                  </a:lnTo>
                  <a:lnTo>
                    <a:pt x="79106" y="290658"/>
                  </a:lnTo>
                  <a:lnTo>
                    <a:pt x="81134" y="277933"/>
                  </a:lnTo>
                  <a:lnTo>
                    <a:pt x="81134" y="276288"/>
                  </a:lnTo>
                  <a:lnTo>
                    <a:pt x="79508" y="274697"/>
                  </a:lnTo>
                  <a:lnTo>
                    <a:pt x="79508" y="271461"/>
                  </a:lnTo>
                  <a:lnTo>
                    <a:pt x="130664" y="243815"/>
                  </a:lnTo>
                  <a:lnTo>
                    <a:pt x="61660" y="243815"/>
                  </a:lnTo>
                  <a:lnTo>
                    <a:pt x="48679" y="237288"/>
                  </a:lnTo>
                  <a:close/>
                </a:path>
                <a:path w="668654" h="829310">
                  <a:moveTo>
                    <a:pt x="648894" y="651742"/>
                  </a:moveTo>
                  <a:lnTo>
                    <a:pt x="605237" y="651742"/>
                  </a:lnTo>
                  <a:lnTo>
                    <a:pt x="611754" y="656619"/>
                  </a:lnTo>
                  <a:lnTo>
                    <a:pt x="619859" y="658242"/>
                  </a:lnTo>
                  <a:lnTo>
                    <a:pt x="627964" y="658242"/>
                  </a:lnTo>
                  <a:lnTo>
                    <a:pt x="643893" y="655094"/>
                  </a:lnTo>
                  <a:lnTo>
                    <a:pt x="648894" y="651742"/>
                  </a:lnTo>
                  <a:close/>
                </a:path>
                <a:path w="668654" h="829310">
                  <a:moveTo>
                    <a:pt x="186604" y="0"/>
                  </a:moveTo>
                  <a:lnTo>
                    <a:pt x="170682" y="3149"/>
                  </a:lnTo>
                  <a:lnTo>
                    <a:pt x="157801" y="11786"/>
                  </a:lnTo>
                  <a:lnTo>
                    <a:pt x="149179" y="24690"/>
                  </a:lnTo>
                  <a:lnTo>
                    <a:pt x="146035" y="40645"/>
                  </a:lnTo>
                  <a:lnTo>
                    <a:pt x="147785" y="52421"/>
                  </a:lnTo>
                  <a:lnTo>
                    <a:pt x="152729" y="62990"/>
                  </a:lnTo>
                  <a:lnTo>
                    <a:pt x="160412" y="71738"/>
                  </a:lnTo>
                  <a:lnTo>
                    <a:pt x="170378" y="78054"/>
                  </a:lnTo>
                  <a:lnTo>
                    <a:pt x="170378" y="185289"/>
                  </a:lnTo>
                  <a:lnTo>
                    <a:pt x="61660" y="243815"/>
                  </a:lnTo>
                  <a:lnTo>
                    <a:pt x="130664" y="243815"/>
                  </a:lnTo>
                  <a:lnTo>
                    <a:pt x="202831" y="204816"/>
                  </a:lnTo>
                  <a:lnTo>
                    <a:pt x="202831" y="78054"/>
                  </a:lnTo>
                  <a:lnTo>
                    <a:pt x="212795" y="71738"/>
                  </a:lnTo>
                  <a:lnTo>
                    <a:pt x="220476" y="62990"/>
                  </a:lnTo>
                  <a:lnTo>
                    <a:pt x="225419" y="52421"/>
                  </a:lnTo>
                  <a:lnTo>
                    <a:pt x="227168" y="40645"/>
                  </a:lnTo>
                  <a:lnTo>
                    <a:pt x="224024" y="24690"/>
                  </a:lnTo>
                  <a:lnTo>
                    <a:pt x="215405" y="11786"/>
                  </a:lnTo>
                  <a:lnTo>
                    <a:pt x="202526" y="3149"/>
                  </a:lnTo>
                  <a:lnTo>
                    <a:pt x="186604" y="0"/>
                  </a:lnTo>
                  <a:close/>
                </a:path>
                <a:path w="668654" h="829310">
                  <a:moveTo>
                    <a:pt x="627964" y="237288"/>
                  </a:moveTo>
                  <a:lnTo>
                    <a:pt x="619859" y="237288"/>
                  </a:lnTo>
                  <a:lnTo>
                    <a:pt x="611754" y="240579"/>
                  </a:lnTo>
                  <a:lnTo>
                    <a:pt x="605237" y="243815"/>
                  </a:lnTo>
                  <a:lnTo>
                    <a:pt x="648931" y="243815"/>
                  </a:lnTo>
                  <a:lnTo>
                    <a:pt x="643893" y="240438"/>
                  </a:lnTo>
                  <a:lnTo>
                    <a:pt x="627964" y="237288"/>
                  </a:lnTo>
                  <a:close/>
                </a:path>
              </a:pathLst>
            </a:custGeom>
            <a:solidFill>
              <a:srgbClr val="1D70B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1164899" y="466804"/>
              <a:ext cx="115207" cy="11540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95725" y="236043"/>
              <a:ext cx="79511" cy="7964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293085" y="336806"/>
              <a:ext cx="95738" cy="9588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150293" y="954381"/>
              <a:ext cx="193092" cy="20315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1054555" y="855264"/>
              <a:ext cx="386080" cy="388620"/>
            </a:xfrm>
            <a:custGeom>
              <a:avLst/>
              <a:gdLst/>
              <a:ahLst/>
              <a:cxnLst/>
              <a:rect l="l" t="t" r="r" b="b"/>
              <a:pathLst>
                <a:path w="386079" h="388619">
                  <a:moveTo>
                    <a:pt x="193097" y="0"/>
                  </a:moveTo>
                  <a:lnTo>
                    <a:pt x="148680" y="5173"/>
                  </a:lnTo>
                  <a:lnTo>
                    <a:pt x="107980" y="19896"/>
                  </a:lnTo>
                  <a:lnTo>
                    <a:pt x="72135" y="42977"/>
                  </a:lnTo>
                  <a:lnTo>
                    <a:pt x="42279" y="73222"/>
                  </a:lnTo>
                  <a:lnTo>
                    <a:pt x="19547" y="109438"/>
                  </a:lnTo>
                  <a:lnTo>
                    <a:pt x="5076" y="150431"/>
                  </a:lnTo>
                  <a:lnTo>
                    <a:pt x="0" y="195008"/>
                  </a:lnTo>
                  <a:lnTo>
                    <a:pt x="5076" y="238984"/>
                  </a:lnTo>
                  <a:lnTo>
                    <a:pt x="19547" y="279548"/>
                  </a:lnTo>
                  <a:lnTo>
                    <a:pt x="42279" y="315478"/>
                  </a:lnTo>
                  <a:lnTo>
                    <a:pt x="72135" y="345552"/>
                  </a:lnTo>
                  <a:lnTo>
                    <a:pt x="107980" y="368547"/>
                  </a:lnTo>
                  <a:lnTo>
                    <a:pt x="148680" y="383241"/>
                  </a:lnTo>
                  <a:lnTo>
                    <a:pt x="193097" y="388410"/>
                  </a:lnTo>
                  <a:lnTo>
                    <a:pt x="224080" y="385059"/>
                  </a:lnTo>
                  <a:lnTo>
                    <a:pt x="253541" y="377440"/>
                  </a:lnTo>
                  <a:lnTo>
                    <a:pt x="281175" y="365555"/>
                  </a:lnTo>
                  <a:lnTo>
                    <a:pt x="296414" y="355905"/>
                  </a:lnTo>
                  <a:lnTo>
                    <a:pt x="193097" y="355905"/>
                  </a:lnTo>
                  <a:lnTo>
                    <a:pt x="150090" y="350081"/>
                  </a:lnTo>
                  <a:lnTo>
                    <a:pt x="111365" y="333694"/>
                  </a:lnTo>
                  <a:lnTo>
                    <a:pt x="78498" y="308368"/>
                  </a:lnTo>
                  <a:lnTo>
                    <a:pt x="53069" y="275728"/>
                  </a:lnTo>
                  <a:lnTo>
                    <a:pt x="36654" y="237400"/>
                  </a:lnTo>
                  <a:lnTo>
                    <a:pt x="30832" y="195008"/>
                  </a:lnTo>
                  <a:lnTo>
                    <a:pt x="36654" y="151930"/>
                  </a:lnTo>
                  <a:lnTo>
                    <a:pt x="53069" y="113140"/>
                  </a:lnTo>
                  <a:lnTo>
                    <a:pt x="78498" y="80218"/>
                  </a:lnTo>
                  <a:lnTo>
                    <a:pt x="111365" y="54746"/>
                  </a:lnTo>
                  <a:lnTo>
                    <a:pt x="150090" y="38304"/>
                  </a:lnTo>
                  <a:lnTo>
                    <a:pt x="193097" y="32472"/>
                  </a:lnTo>
                  <a:lnTo>
                    <a:pt x="326658" y="32472"/>
                  </a:lnTo>
                  <a:lnTo>
                    <a:pt x="324531" y="30881"/>
                  </a:lnTo>
                  <a:lnTo>
                    <a:pt x="295325" y="30881"/>
                  </a:lnTo>
                  <a:lnTo>
                    <a:pt x="271365" y="17818"/>
                  </a:lnTo>
                  <a:lnTo>
                    <a:pt x="246035" y="8118"/>
                  </a:lnTo>
                  <a:lnTo>
                    <a:pt x="219794" y="2079"/>
                  </a:lnTo>
                  <a:lnTo>
                    <a:pt x="193097" y="0"/>
                  </a:lnTo>
                  <a:close/>
                </a:path>
                <a:path w="386079" h="388619">
                  <a:moveTo>
                    <a:pt x="376453" y="162503"/>
                  </a:moveTo>
                  <a:lnTo>
                    <a:pt x="363474" y="162503"/>
                  </a:lnTo>
                  <a:lnTo>
                    <a:pt x="353737" y="172256"/>
                  </a:lnTo>
                  <a:lnTo>
                    <a:pt x="353737" y="180379"/>
                  </a:lnTo>
                  <a:lnTo>
                    <a:pt x="354356" y="190562"/>
                  </a:lnTo>
                  <a:lnTo>
                    <a:pt x="354305" y="202930"/>
                  </a:lnTo>
                  <a:lnTo>
                    <a:pt x="340756" y="257985"/>
                  </a:lnTo>
                  <a:lnTo>
                    <a:pt x="318042" y="295771"/>
                  </a:lnTo>
                  <a:lnTo>
                    <a:pt x="270907" y="335338"/>
                  </a:lnTo>
                  <a:lnTo>
                    <a:pt x="220657" y="353518"/>
                  </a:lnTo>
                  <a:lnTo>
                    <a:pt x="193097" y="355905"/>
                  </a:lnTo>
                  <a:lnTo>
                    <a:pt x="296414" y="355905"/>
                  </a:lnTo>
                  <a:lnTo>
                    <a:pt x="334268" y="325023"/>
                  </a:lnTo>
                  <a:lnTo>
                    <a:pt x="367937" y="275658"/>
                  </a:lnTo>
                  <a:lnTo>
                    <a:pt x="384569" y="217761"/>
                  </a:lnTo>
                  <a:lnTo>
                    <a:pt x="385937" y="190562"/>
                  </a:lnTo>
                  <a:lnTo>
                    <a:pt x="384569" y="177127"/>
                  </a:lnTo>
                  <a:lnTo>
                    <a:pt x="384569" y="172256"/>
                  </a:lnTo>
                  <a:lnTo>
                    <a:pt x="382948" y="169003"/>
                  </a:lnTo>
                  <a:lnTo>
                    <a:pt x="376453" y="162503"/>
                  </a:lnTo>
                  <a:close/>
                </a:path>
                <a:path w="386079" h="388619">
                  <a:moveTo>
                    <a:pt x="326658" y="32472"/>
                  </a:moveTo>
                  <a:lnTo>
                    <a:pt x="193097" y="32472"/>
                  </a:lnTo>
                  <a:lnTo>
                    <a:pt x="214952" y="33998"/>
                  </a:lnTo>
                  <a:lnTo>
                    <a:pt x="236503" y="38573"/>
                  </a:lnTo>
                  <a:lnTo>
                    <a:pt x="257445" y="46196"/>
                  </a:lnTo>
                  <a:lnTo>
                    <a:pt x="277472" y="56864"/>
                  </a:lnTo>
                  <a:lnTo>
                    <a:pt x="277472" y="58488"/>
                  </a:lnTo>
                  <a:lnTo>
                    <a:pt x="279780" y="71108"/>
                  </a:lnTo>
                  <a:lnTo>
                    <a:pt x="286196" y="81444"/>
                  </a:lnTo>
                  <a:lnTo>
                    <a:pt x="295958" y="88428"/>
                  </a:lnTo>
                  <a:lnTo>
                    <a:pt x="308305" y="90993"/>
                  </a:lnTo>
                  <a:lnTo>
                    <a:pt x="320905" y="88428"/>
                  </a:lnTo>
                  <a:lnTo>
                    <a:pt x="331224" y="81444"/>
                  </a:lnTo>
                  <a:lnTo>
                    <a:pt x="338197" y="71108"/>
                  </a:lnTo>
                  <a:lnTo>
                    <a:pt x="340758" y="58488"/>
                  </a:lnTo>
                  <a:lnTo>
                    <a:pt x="340758" y="50359"/>
                  </a:lnTo>
                  <a:lnTo>
                    <a:pt x="337510" y="42235"/>
                  </a:lnTo>
                  <a:lnTo>
                    <a:pt x="331021" y="35735"/>
                  </a:lnTo>
                  <a:lnTo>
                    <a:pt x="326658" y="32472"/>
                  </a:lnTo>
                  <a:close/>
                </a:path>
                <a:path w="386079" h="388619">
                  <a:moveTo>
                    <a:pt x="316415" y="27590"/>
                  </a:moveTo>
                  <a:lnTo>
                    <a:pt x="298567" y="27590"/>
                  </a:lnTo>
                  <a:lnTo>
                    <a:pt x="295325" y="30881"/>
                  </a:lnTo>
                  <a:lnTo>
                    <a:pt x="324531" y="30881"/>
                  </a:lnTo>
                  <a:lnTo>
                    <a:pt x="316415" y="27590"/>
                  </a:lnTo>
                  <a:close/>
                </a:path>
              </a:pathLst>
            </a:custGeom>
            <a:solidFill>
              <a:srgbClr val="1D70B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Заголовок 17"/>
          <p:cNvSpPr>
            <a:spLocks noGrp="1"/>
          </p:cNvSpPr>
          <p:nvPr>
            <p:ph type="title"/>
          </p:nvPr>
        </p:nvSpPr>
        <p:spPr>
          <a:xfrm>
            <a:off x="843643" y="635842"/>
            <a:ext cx="9411335" cy="331469"/>
          </a:xfrm>
        </p:spPr>
        <p:txBody>
          <a:bodyPr>
            <a:normAutofit fontScale="90000"/>
          </a:bodyPr>
          <a:lstStyle/>
          <a:p>
            <a:endParaRPr lang="ru-RU" altLang="en-US"/>
          </a:p>
        </p:txBody>
      </p:sp>
      <p:sp>
        <p:nvSpPr>
          <p:cNvPr id="14" name="Номер слайда 13"/>
          <p:cNvSpPr>
            <a:spLocks noGrp="1"/>
          </p:cNvSpPr>
          <p:nvPr>
            <p:ph type="sldNum" sz="quarter" idx="12"/>
          </p:nvPr>
        </p:nvSpPr>
        <p:spPr>
          <a:xfrm>
            <a:off x="11240768" y="6397751"/>
            <a:ext cx="373931" cy="274955"/>
          </a:xfrm>
        </p:spPr>
        <p:txBody>
          <a:bodyPr/>
          <a:lstStyle/>
          <a:p>
            <a:pPr marL="38100">
              <a:lnSpc>
                <a:spcPts val="2145"/>
              </a:lnSpc>
            </a:pPr>
            <a:fld id="{81D60167-4931-47E6-BA6A-407CBD079E47}" type="slidenum">
              <a:rPr lang="ru-RU" sz="2400" b="0" smtClean="0"/>
            </a:fld>
            <a:endParaRPr lang="ru-RU" sz="2400" b="0" dirty="0"/>
          </a:p>
        </p:txBody>
      </p:sp>
      <p:sp>
        <p:nvSpPr>
          <p:cNvPr id="15" name="Rectangle 2"/>
          <p:cNvSpPr>
            <a:spLocks noChangeArrowheads="1"/>
          </p:cNvSpPr>
          <p:nvPr/>
        </p:nvSpPr>
        <p:spPr bwMode="auto">
          <a:xfrm>
            <a:off x="9732899" y="200941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ru-RU"/>
          </a:p>
        </p:txBody>
      </p:sp>
      <p:sp>
        <p:nvSpPr>
          <p:cNvPr id="12" name="Rectangle 4"/>
          <p:cNvSpPr>
            <a:spLocks noChangeArrowheads="1"/>
          </p:cNvSpPr>
          <p:nvPr/>
        </p:nvSpPr>
        <p:spPr bwMode="auto">
          <a:xfrm>
            <a:off x="6925979" y="140676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ru-RU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6773" y="455526"/>
            <a:ext cx="9293860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ru-RU" sz="30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Результаты и выводы</a:t>
            </a:r>
            <a:br>
              <a:rPr lang="ru-RU" sz="3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Номер слайда 13"/>
          <p:cNvSpPr>
            <a:spLocks noGrp="1"/>
          </p:cNvSpPr>
          <p:nvPr>
            <p:ph type="sldNum" sz="quarter" idx="12"/>
          </p:nvPr>
        </p:nvSpPr>
        <p:spPr>
          <a:xfrm>
            <a:off x="11240768" y="6397751"/>
            <a:ext cx="373931" cy="274955"/>
          </a:xfrm>
        </p:spPr>
        <p:txBody>
          <a:bodyPr/>
          <a:lstStyle/>
          <a:p>
            <a:pPr marL="38100">
              <a:lnSpc>
                <a:spcPts val="2145"/>
              </a:lnSpc>
            </a:pPr>
            <a:fld id="{81D60167-4931-47E6-BA6A-407CBD079E47}" type="slidenum">
              <a:rPr lang="ru-RU" sz="2400" b="0" smtClean="0"/>
            </a:fld>
            <a:endParaRPr lang="ru-RU" sz="2400" b="0" dirty="0"/>
          </a:p>
        </p:txBody>
      </p:sp>
      <p:sp>
        <p:nvSpPr>
          <p:cNvPr id="3" name="object 3"/>
          <p:cNvSpPr/>
          <p:nvPr/>
        </p:nvSpPr>
        <p:spPr>
          <a:xfrm>
            <a:off x="493776" y="1043939"/>
            <a:ext cx="9946005" cy="0"/>
          </a:xfrm>
          <a:custGeom>
            <a:avLst/>
            <a:gdLst/>
            <a:ahLst/>
            <a:cxnLst/>
            <a:rect l="l" t="t" r="r" b="b"/>
            <a:pathLst>
              <a:path w="9946005">
                <a:moveTo>
                  <a:pt x="0" y="0"/>
                </a:moveTo>
                <a:lnTo>
                  <a:pt x="9946005" y="0"/>
                </a:lnTo>
              </a:path>
            </a:pathLst>
          </a:custGeom>
          <a:ln w="6096">
            <a:solidFill>
              <a:srgbClr val="5B9BD4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10913388" y="236043"/>
            <a:ext cx="668655" cy="1195070"/>
            <a:chOff x="10913388" y="236043"/>
            <a:chExt cx="668655" cy="1195070"/>
          </a:xfrm>
        </p:grpSpPr>
        <p:sp>
          <p:nvSpPr>
            <p:cNvPr id="5" name="object 5"/>
            <p:cNvSpPr/>
            <p:nvPr/>
          </p:nvSpPr>
          <p:spPr>
            <a:xfrm>
              <a:off x="10913388" y="601685"/>
              <a:ext cx="668655" cy="829310"/>
            </a:xfrm>
            <a:custGeom>
              <a:avLst/>
              <a:gdLst/>
              <a:ahLst/>
              <a:cxnLst/>
              <a:rect l="l" t="t" r="r" b="b"/>
              <a:pathLst>
                <a:path w="668654" h="829310">
                  <a:moveTo>
                    <a:pt x="126245" y="651742"/>
                  </a:moveTo>
                  <a:lnTo>
                    <a:pt x="61660" y="651742"/>
                  </a:lnTo>
                  <a:lnTo>
                    <a:pt x="293695" y="785010"/>
                  </a:lnTo>
                  <a:lnTo>
                    <a:pt x="293695" y="788261"/>
                  </a:lnTo>
                  <a:lnTo>
                    <a:pt x="296840" y="803522"/>
                  </a:lnTo>
                  <a:lnTo>
                    <a:pt x="305461" y="816499"/>
                  </a:lnTo>
                  <a:lnTo>
                    <a:pt x="318342" y="825514"/>
                  </a:lnTo>
                  <a:lnTo>
                    <a:pt x="334264" y="828892"/>
                  </a:lnTo>
                  <a:lnTo>
                    <a:pt x="350186" y="825514"/>
                  </a:lnTo>
                  <a:lnTo>
                    <a:pt x="363065" y="816499"/>
                  </a:lnTo>
                  <a:lnTo>
                    <a:pt x="371685" y="803522"/>
                  </a:lnTo>
                  <a:lnTo>
                    <a:pt x="374828" y="788261"/>
                  </a:lnTo>
                  <a:lnTo>
                    <a:pt x="374828" y="785010"/>
                  </a:lnTo>
                  <a:lnTo>
                    <a:pt x="425403" y="755758"/>
                  </a:lnTo>
                  <a:lnTo>
                    <a:pt x="306680" y="755758"/>
                  </a:lnTo>
                  <a:lnTo>
                    <a:pt x="126245" y="651742"/>
                  </a:lnTo>
                  <a:close/>
                </a:path>
                <a:path w="668654" h="829310">
                  <a:moveTo>
                    <a:pt x="334061" y="747226"/>
                  </a:moveTo>
                  <a:lnTo>
                    <a:pt x="319838" y="749359"/>
                  </a:lnTo>
                  <a:lnTo>
                    <a:pt x="306680" y="755758"/>
                  </a:lnTo>
                  <a:lnTo>
                    <a:pt x="360223" y="755758"/>
                  </a:lnTo>
                  <a:lnTo>
                    <a:pt x="347979" y="749359"/>
                  </a:lnTo>
                  <a:lnTo>
                    <a:pt x="334061" y="747226"/>
                  </a:lnTo>
                  <a:close/>
                </a:path>
                <a:path w="668654" h="829310">
                  <a:moveTo>
                    <a:pt x="481925" y="0"/>
                  </a:moveTo>
                  <a:lnTo>
                    <a:pt x="466002" y="3149"/>
                  </a:lnTo>
                  <a:lnTo>
                    <a:pt x="453122" y="11786"/>
                  </a:lnTo>
                  <a:lnTo>
                    <a:pt x="444500" y="24690"/>
                  </a:lnTo>
                  <a:lnTo>
                    <a:pt x="441355" y="40645"/>
                  </a:lnTo>
                  <a:lnTo>
                    <a:pt x="443105" y="52421"/>
                  </a:lnTo>
                  <a:lnTo>
                    <a:pt x="448050" y="62990"/>
                  </a:lnTo>
                  <a:lnTo>
                    <a:pt x="455733" y="71738"/>
                  </a:lnTo>
                  <a:lnTo>
                    <a:pt x="465698" y="78054"/>
                  </a:lnTo>
                  <a:lnTo>
                    <a:pt x="465698" y="206407"/>
                  </a:lnTo>
                  <a:lnTo>
                    <a:pt x="587384" y="271461"/>
                  </a:lnTo>
                  <a:lnTo>
                    <a:pt x="587384" y="274697"/>
                  </a:lnTo>
                  <a:lnTo>
                    <a:pt x="585796" y="276288"/>
                  </a:lnTo>
                  <a:lnTo>
                    <a:pt x="585796" y="277933"/>
                  </a:lnTo>
                  <a:lnTo>
                    <a:pt x="587846" y="290887"/>
                  </a:lnTo>
                  <a:lnTo>
                    <a:pt x="593695" y="302316"/>
                  </a:lnTo>
                  <a:lnTo>
                    <a:pt x="602892" y="311306"/>
                  </a:lnTo>
                  <a:lnTo>
                    <a:pt x="614985" y="316944"/>
                  </a:lnTo>
                  <a:lnTo>
                    <a:pt x="614985" y="578603"/>
                  </a:lnTo>
                  <a:lnTo>
                    <a:pt x="602892" y="584928"/>
                  </a:lnTo>
                  <a:lnTo>
                    <a:pt x="593695" y="593842"/>
                  </a:lnTo>
                  <a:lnTo>
                    <a:pt x="587846" y="604889"/>
                  </a:lnTo>
                  <a:lnTo>
                    <a:pt x="585796" y="617614"/>
                  </a:lnTo>
                  <a:lnTo>
                    <a:pt x="585796" y="620861"/>
                  </a:lnTo>
                  <a:lnTo>
                    <a:pt x="587384" y="622484"/>
                  </a:lnTo>
                  <a:lnTo>
                    <a:pt x="587384" y="625737"/>
                  </a:lnTo>
                  <a:lnTo>
                    <a:pt x="360223" y="755758"/>
                  </a:lnTo>
                  <a:lnTo>
                    <a:pt x="425403" y="755758"/>
                  </a:lnTo>
                  <a:lnTo>
                    <a:pt x="605237" y="651742"/>
                  </a:lnTo>
                  <a:lnTo>
                    <a:pt x="648894" y="651742"/>
                  </a:lnTo>
                  <a:lnTo>
                    <a:pt x="656777" y="646460"/>
                  </a:lnTo>
                  <a:lnTo>
                    <a:pt x="665399" y="633561"/>
                  </a:lnTo>
                  <a:lnTo>
                    <a:pt x="668544" y="617614"/>
                  </a:lnTo>
                  <a:lnTo>
                    <a:pt x="667074" y="606997"/>
                  </a:lnTo>
                  <a:lnTo>
                    <a:pt x="662862" y="597295"/>
                  </a:lnTo>
                  <a:lnTo>
                    <a:pt x="656207" y="588813"/>
                  </a:lnTo>
                  <a:lnTo>
                    <a:pt x="647405" y="581856"/>
                  </a:lnTo>
                  <a:lnTo>
                    <a:pt x="647405" y="313691"/>
                  </a:lnTo>
                  <a:lnTo>
                    <a:pt x="656207" y="307648"/>
                  </a:lnTo>
                  <a:lnTo>
                    <a:pt x="662862" y="299471"/>
                  </a:lnTo>
                  <a:lnTo>
                    <a:pt x="667074" y="289465"/>
                  </a:lnTo>
                  <a:lnTo>
                    <a:pt x="668544" y="277933"/>
                  </a:lnTo>
                  <a:lnTo>
                    <a:pt x="665399" y="261979"/>
                  </a:lnTo>
                  <a:lnTo>
                    <a:pt x="656777" y="249074"/>
                  </a:lnTo>
                  <a:lnTo>
                    <a:pt x="648931" y="243815"/>
                  </a:lnTo>
                  <a:lnTo>
                    <a:pt x="605237" y="243815"/>
                  </a:lnTo>
                  <a:lnTo>
                    <a:pt x="498151" y="186934"/>
                  </a:lnTo>
                  <a:lnTo>
                    <a:pt x="498151" y="78054"/>
                  </a:lnTo>
                  <a:lnTo>
                    <a:pt x="508113" y="71738"/>
                  </a:lnTo>
                  <a:lnTo>
                    <a:pt x="515795" y="62990"/>
                  </a:lnTo>
                  <a:lnTo>
                    <a:pt x="520739" y="52421"/>
                  </a:lnTo>
                  <a:lnTo>
                    <a:pt x="522488" y="40645"/>
                  </a:lnTo>
                  <a:lnTo>
                    <a:pt x="519345" y="24690"/>
                  </a:lnTo>
                  <a:lnTo>
                    <a:pt x="510725" y="11786"/>
                  </a:lnTo>
                  <a:lnTo>
                    <a:pt x="497846" y="3149"/>
                  </a:lnTo>
                  <a:lnTo>
                    <a:pt x="481925" y="0"/>
                  </a:lnTo>
                  <a:close/>
                </a:path>
                <a:path w="668654" h="829310">
                  <a:moveTo>
                    <a:pt x="48679" y="237288"/>
                  </a:moveTo>
                  <a:lnTo>
                    <a:pt x="40566" y="237288"/>
                  </a:lnTo>
                  <a:lnTo>
                    <a:pt x="24644" y="240438"/>
                  </a:lnTo>
                  <a:lnTo>
                    <a:pt x="11764" y="249074"/>
                  </a:lnTo>
                  <a:lnTo>
                    <a:pt x="3143" y="261979"/>
                  </a:lnTo>
                  <a:lnTo>
                    <a:pt x="0" y="277933"/>
                  </a:lnTo>
                  <a:lnTo>
                    <a:pt x="1470" y="289491"/>
                  </a:lnTo>
                  <a:lnTo>
                    <a:pt x="5679" y="299674"/>
                  </a:lnTo>
                  <a:lnTo>
                    <a:pt x="12322" y="308333"/>
                  </a:lnTo>
                  <a:lnTo>
                    <a:pt x="21095" y="315315"/>
                  </a:lnTo>
                  <a:lnTo>
                    <a:pt x="21095" y="581856"/>
                  </a:lnTo>
                  <a:lnTo>
                    <a:pt x="12322" y="588128"/>
                  </a:lnTo>
                  <a:lnTo>
                    <a:pt x="5679" y="596686"/>
                  </a:lnTo>
                  <a:lnTo>
                    <a:pt x="1470" y="606769"/>
                  </a:lnTo>
                  <a:lnTo>
                    <a:pt x="0" y="617614"/>
                  </a:lnTo>
                  <a:lnTo>
                    <a:pt x="3143" y="633561"/>
                  </a:lnTo>
                  <a:lnTo>
                    <a:pt x="11764" y="646460"/>
                  </a:lnTo>
                  <a:lnTo>
                    <a:pt x="24644" y="655094"/>
                  </a:lnTo>
                  <a:lnTo>
                    <a:pt x="40566" y="658242"/>
                  </a:lnTo>
                  <a:lnTo>
                    <a:pt x="48679" y="658242"/>
                  </a:lnTo>
                  <a:lnTo>
                    <a:pt x="55171" y="656619"/>
                  </a:lnTo>
                  <a:lnTo>
                    <a:pt x="61660" y="651742"/>
                  </a:lnTo>
                  <a:lnTo>
                    <a:pt x="126245" y="651742"/>
                  </a:lnTo>
                  <a:lnTo>
                    <a:pt x="81134" y="625737"/>
                  </a:lnTo>
                  <a:lnTo>
                    <a:pt x="81134" y="617614"/>
                  </a:lnTo>
                  <a:lnTo>
                    <a:pt x="79106" y="604889"/>
                  </a:lnTo>
                  <a:lnTo>
                    <a:pt x="73426" y="593842"/>
                  </a:lnTo>
                  <a:lnTo>
                    <a:pt x="64703" y="584928"/>
                  </a:lnTo>
                  <a:lnTo>
                    <a:pt x="53544" y="578603"/>
                  </a:lnTo>
                  <a:lnTo>
                    <a:pt x="53544" y="316944"/>
                  </a:lnTo>
                  <a:lnTo>
                    <a:pt x="64703" y="310621"/>
                  </a:lnTo>
                  <a:lnTo>
                    <a:pt x="73426" y="301707"/>
                  </a:lnTo>
                  <a:lnTo>
                    <a:pt x="79106" y="290658"/>
                  </a:lnTo>
                  <a:lnTo>
                    <a:pt x="81134" y="277933"/>
                  </a:lnTo>
                  <a:lnTo>
                    <a:pt x="81134" y="276288"/>
                  </a:lnTo>
                  <a:lnTo>
                    <a:pt x="79508" y="274697"/>
                  </a:lnTo>
                  <a:lnTo>
                    <a:pt x="79508" y="271461"/>
                  </a:lnTo>
                  <a:lnTo>
                    <a:pt x="130664" y="243815"/>
                  </a:lnTo>
                  <a:lnTo>
                    <a:pt x="61660" y="243815"/>
                  </a:lnTo>
                  <a:lnTo>
                    <a:pt x="48679" y="237288"/>
                  </a:lnTo>
                  <a:close/>
                </a:path>
                <a:path w="668654" h="829310">
                  <a:moveTo>
                    <a:pt x="648894" y="651742"/>
                  </a:moveTo>
                  <a:lnTo>
                    <a:pt x="605237" y="651742"/>
                  </a:lnTo>
                  <a:lnTo>
                    <a:pt x="611754" y="656619"/>
                  </a:lnTo>
                  <a:lnTo>
                    <a:pt x="619859" y="658242"/>
                  </a:lnTo>
                  <a:lnTo>
                    <a:pt x="627964" y="658242"/>
                  </a:lnTo>
                  <a:lnTo>
                    <a:pt x="643893" y="655094"/>
                  </a:lnTo>
                  <a:lnTo>
                    <a:pt x="648894" y="651742"/>
                  </a:lnTo>
                  <a:close/>
                </a:path>
                <a:path w="668654" h="829310">
                  <a:moveTo>
                    <a:pt x="186604" y="0"/>
                  </a:moveTo>
                  <a:lnTo>
                    <a:pt x="170682" y="3149"/>
                  </a:lnTo>
                  <a:lnTo>
                    <a:pt x="157801" y="11786"/>
                  </a:lnTo>
                  <a:lnTo>
                    <a:pt x="149179" y="24690"/>
                  </a:lnTo>
                  <a:lnTo>
                    <a:pt x="146035" y="40645"/>
                  </a:lnTo>
                  <a:lnTo>
                    <a:pt x="147785" y="52421"/>
                  </a:lnTo>
                  <a:lnTo>
                    <a:pt x="152729" y="62990"/>
                  </a:lnTo>
                  <a:lnTo>
                    <a:pt x="160412" y="71738"/>
                  </a:lnTo>
                  <a:lnTo>
                    <a:pt x="170378" y="78054"/>
                  </a:lnTo>
                  <a:lnTo>
                    <a:pt x="170378" y="185289"/>
                  </a:lnTo>
                  <a:lnTo>
                    <a:pt x="61660" y="243815"/>
                  </a:lnTo>
                  <a:lnTo>
                    <a:pt x="130664" y="243815"/>
                  </a:lnTo>
                  <a:lnTo>
                    <a:pt x="202831" y="204816"/>
                  </a:lnTo>
                  <a:lnTo>
                    <a:pt x="202831" y="78054"/>
                  </a:lnTo>
                  <a:lnTo>
                    <a:pt x="212795" y="71738"/>
                  </a:lnTo>
                  <a:lnTo>
                    <a:pt x="220476" y="62990"/>
                  </a:lnTo>
                  <a:lnTo>
                    <a:pt x="225419" y="52421"/>
                  </a:lnTo>
                  <a:lnTo>
                    <a:pt x="227168" y="40645"/>
                  </a:lnTo>
                  <a:lnTo>
                    <a:pt x="224024" y="24690"/>
                  </a:lnTo>
                  <a:lnTo>
                    <a:pt x="215405" y="11786"/>
                  </a:lnTo>
                  <a:lnTo>
                    <a:pt x="202526" y="3149"/>
                  </a:lnTo>
                  <a:lnTo>
                    <a:pt x="186604" y="0"/>
                  </a:lnTo>
                  <a:close/>
                </a:path>
                <a:path w="668654" h="829310">
                  <a:moveTo>
                    <a:pt x="627964" y="237288"/>
                  </a:moveTo>
                  <a:lnTo>
                    <a:pt x="619859" y="237288"/>
                  </a:lnTo>
                  <a:lnTo>
                    <a:pt x="611754" y="240579"/>
                  </a:lnTo>
                  <a:lnTo>
                    <a:pt x="605237" y="243815"/>
                  </a:lnTo>
                  <a:lnTo>
                    <a:pt x="648931" y="243815"/>
                  </a:lnTo>
                  <a:lnTo>
                    <a:pt x="643893" y="240438"/>
                  </a:lnTo>
                  <a:lnTo>
                    <a:pt x="627964" y="237288"/>
                  </a:lnTo>
                  <a:close/>
                </a:path>
              </a:pathLst>
            </a:custGeom>
            <a:solidFill>
              <a:srgbClr val="1D70B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1164899" y="466804"/>
              <a:ext cx="115207" cy="11540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95725" y="236043"/>
              <a:ext cx="79511" cy="7964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293085" y="336806"/>
              <a:ext cx="95738" cy="9588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150293" y="954381"/>
              <a:ext cx="193092" cy="20315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1054555" y="855264"/>
              <a:ext cx="386080" cy="388620"/>
            </a:xfrm>
            <a:custGeom>
              <a:avLst/>
              <a:gdLst/>
              <a:ahLst/>
              <a:cxnLst/>
              <a:rect l="l" t="t" r="r" b="b"/>
              <a:pathLst>
                <a:path w="386079" h="388619">
                  <a:moveTo>
                    <a:pt x="193097" y="0"/>
                  </a:moveTo>
                  <a:lnTo>
                    <a:pt x="148680" y="5173"/>
                  </a:lnTo>
                  <a:lnTo>
                    <a:pt x="107980" y="19896"/>
                  </a:lnTo>
                  <a:lnTo>
                    <a:pt x="72135" y="42977"/>
                  </a:lnTo>
                  <a:lnTo>
                    <a:pt x="42279" y="73222"/>
                  </a:lnTo>
                  <a:lnTo>
                    <a:pt x="19547" y="109438"/>
                  </a:lnTo>
                  <a:lnTo>
                    <a:pt x="5076" y="150431"/>
                  </a:lnTo>
                  <a:lnTo>
                    <a:pt x="0" y="195008"/>
                  </a:lnTo>
                  <a:lnTo>
                    <a:pt x="5076" y="238984"/>
                  </a:lnTo>
                  <a:lnTo>
                    <a:pt x="19547" y="279548"/>
                  </a:lnTo>
                  <a:lnTo>
                    <a:pt x="42279" y="315478"/>
                  </a:lnTo>
                  <a:lnTo>
                    <a:pt x="72135" y="345552"/>
                  </a:lnTo>
                  <a:lnTo>
                    <a:pt x="107980" y="368547"/>
                  </a:lnTo>
                  <a:lnTo>
                    <a:pt x="148680" y="383241"/>
                  </a:lnTo>
                  <a:lnTo>
                    <a:pt x="193097" y="388410"/>
                  </a:lnTo>
                  <a:lnTo>
                    <a:pt x="224080" y="385059"/>
                  </a:lnTo>
                  <a:lnTo>
                    <a:pt x="253541" y="377440"/>
                  </a:lnTo>
                  <a:lnTo>
                    <a:pt x="281175" y="365555"/>
                  </a:lnTo>
                  <a:lnTo>
                    <a:pt x="296414" y="355905"/>
                  </a:lnTo>
                  <a:lnTo>
                    <a:pt x="193097" y="355905"/>
                  </a:lnTo>
                  <a:lnTo>
                    <a:pt x="150090" y="350081"/>
                  </a:lnTo>
                  <a:lnTo>
                    <a:pt x="111365" y="333694"/>
                  </a:lnTo>
                  <a:lnTo>
                    <a:pt x="78498" y="308368"/>
                  </a:lnTo>
                  <a:lnTo>
                    <a:pt x="53069" y="275728"/>
                  </a:lnTo>
                  <a:lnTo>
                    <a:pt x="36654" y="237400"/>
                  </a:lnTo>
                  <a:lnTo>
                    <a:pt x="30832" y="195008"/>
                  </a:lnTo>
                  <a:lnTo>
                    <a:pt x="36654" y="151930"/>
                  </a:lnTo>
                  <a:lnTo>
                    <a:pt x="53069" y="113140"/>
                  </a:lnTo>
                  <a:lnTo>
                    <a:pt x="78498" y="80218"/>
                  </a:lnTo>
                  <a:lnTo>
                    <a:pt x="111365" y="54746"/>
                  </a:lnTo>
                  <a:lnTo>
                    <a:pt x="150090" y="38304"/>
                  </a:lnTo>
                  <a:lnTo>
                    <a:pt x="193097" y="32472"/>
                  </a:lnTo>
                  <a:lnTo>
                    <a:pt x="326658" y="32472"/>
                  </a:lnTo>
                  <a:lnTo>
                    <a:pt x="324531" y="30881"/>
                  </a:lnTo>
                  <a:lnTo>
                    <a:pt x="295325" y="30881"/>
                  </a:lnTo>
                  <a:lnTo>
                    <a:pt x="271365" y="17818"/>
                  </a:lnTo>
                  <a:lnTo>
                    <a:pt x="246035" y="8118"/>
                  </a:lnTo>
                  <a:lnTo>
                    <a:pt x="219794" y="2079"/>
                  </a:lnTo>
                  <a:lnTo>
                    <a:pt x="193097" y="0"/>
                  </a:lnTo>
                  <a:close/>
                </a:path>
                <a:path w="386079" h="388619">
                  <a:moveTo>
                    <a:pt x="376453" y="162503"/>
                  </a:moveTo>
                  <a:lnTo>
                    <a:pt x="363474" y="162503"/>
                  </a:lnTo>
                  <a:lnTo>
                    <a:pt x="353737" y="172256"/>
                  </a:lnTo>
                  <a:lnTo>
                    <a:pt x="353737" y="180379"/>
                  </a:lnTo>
                  <a:lnTo>
                    <a:pt x="354356" y="190562"/>
                  </a:lnTo>
                  <a:lnTo>
                    <a:pt x="354305" y="202930"/>
                  </a:lnTo>
                  <a:lnTo>
                    <a:pt x="340756" y="257985"/>
                  </a:lnTo>
                  <a:lnTo>
                    <a:pt x="318042" y="295771"/>
                  </a:lnTo>
                  <a:lnTo>
                    <a:pt x="270907" y="335338"/>
                  </a:lnTo>
                  <a:lnTo>
                    <a:pt x="220657" y="353518"/>
                  </a:lnTo>
                  <a:lnTo>
                    <a:pt x="193097" y="355905"/>
                  </a:lnTo>
                  <a:lnTo>
                    <a:pt x="296414" y="355905"/>
                  </a:lnTo>
                  <a:lnTo>
                    <a:pt x="334268" y="325023"/>
                  </a:lnTo>
                  <a:lnTo>
                    <a:pt x="367937" y="275658"/>
                  </a:lnTo>
                  <a:lnTo>
                    <a:pt x="384569" y="217761"/>
                  </a:lnTo>
                  <a:lnTo>
                    <a:pt x="385937" y="190562"/>
                  </a:lnTo>
                  <a:lnTo>
                    <a:pt x="384569" y="177127"/>
                  </a:lnTo>
                  <a:lnTo>
                    <a:pt x="384569" y="172256"/>
                  </a:lnTo>
                  <a:lnTo>
                    <a:pt x="382948" y="169003"/>
                  </a:lnTo>
                  <a:lnTo>
                    <a:pt x="376453" y="162503"/>
                  </a:lnTo>
                  <a:close/>
                </a:path>
                <a:path w="386079" h="388619">
                  <a:moveTo>
                    <a:pt x="326658" y="32472"/>
                  </a:moveTo>
                  <a:lnTo>
                    <a:pt x="193097" y="32472"/>
                  </a:lnTo>
                  <a:lnTo>
                    <a:pt x="214952" y="33998"/>
                  </a:lnTo>
                  <a:lnTo>
                    <a:pt x="236503" y="38573"/>
                  </a:lnTo>
                  <a:lnTo>
                    <a:pt x="257445" y="46196"/>
                  </a:lnTo>
                  <a:lnTo>
                    <a:pt x="277472" y="56864"/>
                  </a:lnTo>
                  <a:lnTo>
                    <a:pt x="277472" y="58488"/>
                  </a:lnTo>
                  <a:lnTo>
                    <a:pt x="279780" y="71108"/>
                  </a:lnTo>
                  <a:lnTo>
                    <a:pt x="286196" y="81444"/>
                  </a:lnTo>
                  <a:lnTo>
                    <a:pt x="295958" y="88428"/>
                  </a:lnTo>
                  <a:lnTo>
                    <a:pt x="308305" y="90993"/>
                  </a:lnTo>
                  <a:lnTo>
                    <a:pt x="320905" y="88428"/>
                  </a:lnTo>
                  <a:lnTo>
                    <a:pt x="331224" y="81444"/>
                  </a:lnTo>
                  <a:lnTo>
                    <a:pt x="338197" y="71108"/>
                  </a:lnTo>
                  <a:lnTo>
                    <a:pt x="340758" y="58488"/>
                  </a:lnTo>
                  <a:lnTo>
                    <a:pt x="340758" y="50359"/>
                  </a:lnTo>
                  <a:lnTo>
                    <a:pt x="337510" y="42235"/>
                  </a:lnTo>
                  <a:lnTo>
                    <a:pt x="331021" y="35735"/>
                  </a:lnTo>
                  <a:lnTo>
                    <a:pt x="326658" y="32472"/>
                  </a:lnTo>
                  <a:close/>
                </a:path>
                <a:path w="386079" h="388619">
                  <a:moveTo>
                    <a:pt x="316415" y="27590"/>
                  </a:moveTo>
                  <a:lnTo>
                    <a:pt x="298567" y="27590"/>
                  </a:lnTo>
                  <a:lnTo>
                    <a:pt x="295325" y="30881"/>
                  </a:lnTo>
                  <a:lnTo>
                    <a:pt x="324531" y="30881"/>
                  </a:lnTo>
                  <a:lnTo>
                    <a:pt x="316415" y="27590"/>
                  </a:lnTo>
                  <a:close/>
                </a:path>
              </a:pathLst>
            </a:custGeom>
            <a:solidFill>
              <a:srgbClr val="1D70B8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944851" y="2922319"/>
            <a:ext cx="48841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внимание!</a:t>
            </a:r>
            <a:endParaRPr lang="ru-RU" sz="36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5301</Words>
  <Application>WPS Presentation</Application>
  <PresentationFormat>Широкоэкранный</PresentationFormat>
  <Paragraphs>187</Paragraphs>
  <Slides>17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24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43" baseType="lpstr">
      <vt:lpstr>Arial</vt:lpstr>
      <vt:lpstr>SimSun</vt:lpstr>
      <vt:lpstr>Wingdings</vt:lpstr>
      <vt:lpstr>Times New Roman</vt:lpstr>
      <vt:lpstr>Times New Roman</vt:lpstr>
      <vt:lpstr>Calibri</vt:lpstr>
      <vt:lpstr>Calibri Light</vt:lpstr>
      <vt:lpstr>Microsoft YaHei</vt:lpstr>
      <vt:lpstr>Arial Unicode MS</vt:lpstr>
      <vt:lpstr>Arial Narrow</vt:lpstr>
      <vt:lpstr>Bahnschrift Light</vt:lpstr>
      <vt:lpstr>Bahnschrift SemiBold SemiCondensed</vt:lpstr>
      <vt:lpstr>Showcard Gothic</vt:lpstr>
      <vt:lpstr>Segoe UI Symbol</vt:lpstr>
      <vt:lpstr>SimSun-ExtB</vt:lpstr>
      <vt:lpstr>Tw Cen MT Condensed</vt:lpstr>
      <vt:lpstr>Tw Cen MT</vt:lpstr>
      <vt:lpstr>Tempus Sans ITC</vt:lpstr>
      <vt:lpstr>Snap ITC</vt:lpstr>
      <vt:lpstr>Symbol</vt:lpstr>
      <vt:lpstr>Google Sans Text</vt:lpstr>
      <vt:lpstr>Segoe Print</vt:lpstr>
      <vt:lpstr>Merriweather</vt:lpstr>
      <vt:lpstr>DM Sans</vt:lpstr>
      <vt:lpstr>Тема Office</vt:lpstr>
      <vt:lpstr>1_Тема Office</vt:lpstr>
      <vt:lpstr>Филиал ФГБОУ ВО «Российский химико-технологический университет  имени Д. И. Менделеева» в г. Ташкенте (Республика Узбекистан) Кафедра технологии органических веществ </vt:lpstr>
      <vt:lpstr>PowerPoint 演示文稿</vt:lpstr>
      <vt:lpstr>Цели и задачи работы</vt:lpstr>
      <vt:lpstr>Ген CASP3</vt:lpstr>
      <vt:lpstr>Проектирование и термодинамический анализ праймеров</vt:lpstr>
      <vt:lpstr>Проектирование и термодинамический анализ праймеров </vt:lpstr>
      <vt:lpstr>PowerPoint 演示文稿</vt:lpstr>
      <vt:lpstr>PowerPoint 演示文稿</vt:lpstr>
      <vt:lpstr>PowerPoint 演示文稿</vt:lpstr>
      <vt:lpstr>Постсинтетическая обработка праймеров</vt:lpstr>
      <vt:lpstr>PowerPoint 演示文稿</vt:lpstr>
      <vt:lpstr>PowerPoint 演示文稿</vt:lpstr>
      <vt:lpstr>Контроль качества синтеза</vt:lpstr>
      <vt:lpstr>PowerPoint 演示文稿</vt:lpstr>
      <vt:lpstr>PowerPoint 演示文稿</vt:lpstr>
      <vt:lpstr>Результаты и выводы 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Пользователь Windows</dc:creator>
  <cp:lastModifiedBy>My_ASUS</cp:lastModifiedBy>
  <cp:revision>175</cp:revision>
  <dcterms:created xsi:type="dcterms:W3CDTF">2023-04-07T08:58:00Z</dcterms:created>
  <dcterms:modified xsi:type="dcterms:W3CDTF">2026-05-19T07:39:29Z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2022-06-29T20:00:00Z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2023-04-07T20:00:00Z</vt:filetime>
  </property>
  <property fmtid="{D5CDD505-2E9C-101B-9397-08002B2CF9AE}" pid="5" name="ICV">
    <vt:lpwstr>AFCFEC5F4B51486DA8735485E1041B71_13</vt:lpwstr>
  </property>
  <property fmtid="{D5CDD505-2E9C-101B-9397-08002B2CF9AE}" pid="6" name="KSOProductBuildVer">
    <vt:lpwstr>1049-12.1.0.26372</vt:lpwstr>
  </property>
</Properties>
</file>