
<file path=[Content_Types].xml><?xml version="1.0" encoding="utf-8"?>
<Types xmlns="http://schemas.openxmlformats.org/package/2006/content-types">
  <Default Extension="png" ContentType="image/png"/>
  <Default Extension="jpg" ContentType="image/jpe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F19ED9A-94F4-4BA7-B6DF-F4DB02A1F1B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47" userDrawn="1">
          <p15:clr>
            <a:srgbClr val="A4A3A4"/>
          </p15:clr>
        </p15:guide>
        <p15:guide id="2" pos="21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" initials="П" lastIdx="2" clrIdx="0"/>
  <p:cmAuthor id="2" name="Dilfuza Karshieva" initials="DK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4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0828" autoAdjust="0"/>
  </p:normalViewPr>
  <p:slideViewPr>
    <p:cSldViewPr showGuides="1">
      <p:cViewPr varScale="1">
        <p:scale>
          <a:sx n="85" d="100"/>
          <a:sy n="85" d="100"/>
        </p:scale>
        <p:origin x="600" y="62"/>
      </p:cViewPr>
      <p:guideLst>
        <p:guide orient="horz" pos="2847"/>
        <p:guide pos="2172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notesMaster" Target="notesMasters/notesMaster1.xml"/><Relationship Id="rId3" Type="http://schemas.openxmlformats.org/officeDocument/2006/relationships/slideMaster" Target="slideMasters/slideMaster2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1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5B4FFD-61F7-4202-B365-ECF366089423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Добрый день, уважаемые члены Государственной аттестационной комиссии!</a:t>
            </a:r>
          </a:p>
          <a:p>
            <a:r>
              <a:rPr lang="ru-RU" dirty="0"/>
              <a:t>Меня зовут Бахромов Жавохир. Вашему вниманию представляется выпускная квалификационная работа бакалавра на тему: «Синтез олигонуклеотидов для изучения экспрессии человеческого гена TOP2 методом полимеразной цепной реакции».</a:t>
            </a:r>
          </a:p>
          <a:p>
            <a:r>
              <a:rPr lang="ru-RU" dirty="0"/>
              <a:t>Прежде чем перейти к цели и задачам, позвольте показать, почему изучение топоизомеразы II, кодируемой геном TOP2, действительно важно для науки и медицины.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Здесь можем увидеть в каком количестве содержатся компоненты зубной пасты. И в большем количестве содержится абразивы вода и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влагоудерживающее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вещество.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C5B5-A978-413E-869A-D2AF762449D2}" type="datetime1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55E7-C9BC-4974-B79B-6106A35FC05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C5B5-A978-413E-869A-D2AF762449D2}" type="datetime1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55E7-C9BC-4974-B79B-6106A35FC05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7" Type="http://schemas.openxmlformats.org/officeDocument/2006/relationships/image" Target="../media/imageGel1.jp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7" Type="http://schemas.openxmlformats.org/officeDocument/2006/relationships/image" Target="../media/imageGel2.jp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7" Type="http://schemas.openxmlformats.org/officeDocument/2006/relationships/image" Target="../media/imageMelt.jp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141193" y="1814769"/>
            <a:ext cx="563318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Заголовок 13"/>
          <p:cNvSpPr>
            <a:spLocks noGrp="1"/>
          </p:cNvSpPr>
          <p:nvPr>
            <p:ph type="title"/>
          </p:nvPr>
        </p:nvSpPr>
        <p:spPr>
          <a:xfrm>
            <a:off x="309522" y="357166"/>
            <a:ext cx="11343385" cy="1046440"/>
          </a:xfrm>
        </p:spPr>
        <p:txBody>
          <a:bodyPr>
            <a:normAutofit/>
          </a:bodyPr>
          <a:lstStyle/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Филиал ФГБОУ ВО «Российский химико-технологический университет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имени Д. И. Менделеева» в г. Ташкенте (Республика Узбекистан)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технологии органических веществ</a:t>
            </a:r>
            <a:b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1343660" y="1746250"/>
            <a:ext cx="9688830" cy="17445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ru-RU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БАКАЛАВРА</a:t>
            </a:r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ru-RU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тему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Bef>
                <a:spcPct val="20000"/>
              </a:spcBef>
              <a:spcAft>
                <a:spcPts val="800"/>
              </a:spcAft>
              <a:defRPr/>
            </a:pPr>
            <a:r>
              <a:rPr kumimoji="0" 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Синтез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олигонуклеотидов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изучения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экспрессии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человеческого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 err="1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гена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методом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ПЦР</a:t>
            </a:r>
            <a:r>
              <a:rPr kumimoji="0" 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kumimoji="0" lang="ru-RU" sz="2400" b="1" u="none" strike="noStrike" kern="1200" cap="none" spc="0" normalizeH="0" baseline="0" noProof="0" dirty="0"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6290" y="3717290"/>
            <a:ext cx="10644505" cy="3079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/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Декан</a:t>
            </a:r>
            <a:b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к.т.н.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А. У. Абдурахимова 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Руководитель ВКР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br>
              <a:rPr kumimoji="0" lang="ru-RU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к. х. н., доцент                                                                                                                       </a:t>
            </a:r>
            <a:r>
              <a:rPr lang="en-US" alt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  <a:r>
              <a:rPr lang="en-US" alt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en-US" alt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Соловьева</a:t>
            </a:r>
            <a:endParaRPr lang="en-US" alt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Научный руководитель </a:t>
            </a:r>
            <a:b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к.х.н.                                                                                                                                         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en-US" alt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en-US" alt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Икрамов</a:t>
            </a:r>
            <a:endParaRPr lang="en-US" alt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Студентка группы Т1/22-ХТЛ                                                                                             Ж. О.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Бахромов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endParaRPr kumimoji="0" lang="ru-RU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Ташкент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2026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22" y="336806"/>
            <a:ext cx="1252492" cy="125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00" name="Заголовок"/>
          <p:cNvSpPr txBox="1"/>
          <p:nvPr/>
        </p:nvSpPr>
        <p:spPr>
          <a:xfrm>
            <a:off x="839470" y="431075"/>
            <a:ext cx="9658350" cy="54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Важность изучения топоизомеразы II, кодируемого геном TOP2</a:t>
            </a:r>
          </a:p>
        </p:txBody>
      </p:sp>
      <p:sp>
        <p:nvSpPr>
          <p:cNvPr id="101" name="Текст важности"/>
          <p:cNvSpPr txBox="1"/>
          <p:nvPr/>
        </p:nvSpPr>
        <p:spPr>
          <a:xfrm>
            <a:off x="600000" y="1180000"/>
            <a:ext cx="6050000" cy="52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Регуляция топологии ДНК — фундаментальный механизм сохранения стабильности генома и нормального деления клетки. Нарушение этих процессов напрямую связано с развитием тяжёлых патологий, прежде всего онкологических заболеваний.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ru-RU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Ферментом, управляющим структурой ДНК, является топоизомераза II, кодируемая геном </a:t>
            </a:r>
            <a:r>
              <a:rPr lang="ru-RU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TOP2</a:t>
            </a:r>
            <a:r>
              <a:rPr lang="ru-RU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Изучение её экспрессии позволяет оценить пролиферативную активность клеток.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ru-RU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экспрессии гена TOP2 необходимо для:</a:t>
            </a:r>
          </a:p>
          <a:p>
            <a:pPr marL="342900" indent="-342900" algn="l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молекулярной диагностики</a:t>
            </a:r>
            <a:r>
              <a:rPr lang="ru-RU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онкологических заболеваний;</a:t>
            </a:r>
          </a:p>
          <a:p>
            <a:pPr marL="342900" indent="-342900" algn="l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оценки скорости деления</a:t>
            </a:r>
            <a:r>
              <a:rPr lang="ru-RU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(пролиферации) клеток;</a:t>
            </a:r>
          </a:p>
          <a:p>
            <a:pPr marL="342900" indent="-342900" algn="l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 эффективности</a:t>
            </a:r>
            <a:r>
              <a:rPr lang="ru-RU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противоопухолевых препаратов (многие нацелены именно на TOP2);</a:t>
            </a:r>
          </a:p>
          <a:p>
            <a:pPr marL="342900" indent="-342900" algn="l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 механизмов</a:t>
            </a:r>
            <a:r>
              <a:rPr lang="ru-RU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стабильности генома.</a:t>
            </a:r>
          </a:p>
        </p:txBody>
      </p:sp>
      <p:sp>
        <p:nvSpPr>
          <p:cNvPr id="110" name="box"/>
          <p:cNvSpPr/>
          <p:nvPr/>
        </p:nvSpPr>
        <p:spPr>
          <a:xfrm>
            <a:off x="7050000" y="1280000"/>
            <a:ext cx="4450000" cy="7600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9525">
            <a:solidFill>
              <a:srgbClr val="FFFFFF"/>
            </a:solidFill>
          </a:ln>
        </p:spPr>
        <p:txBody>
          <a:bodyPr wrap="square" anchor="ctr" lIns="68580" rIns="68580" tIns="27432" bIns="27432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 TOP2</a:t>
            </a:r>
          </a:p>
        </p:txBody>
      </p:sp>
      <p:sp>
        <p:nvSpPr>
          <p:cNvPr id="111" name="arrow"/>
          <p:cNvSpPr/>
          <p:nvPr/>
        </p:nvSpPr>
        <p:spPr>
          <a:xfrm>
            <a:off x="9145000" y="2040000"/>
            <a:ext cx="260000" cy="360000"/>
          </a:xfrm>
          <a:prstGeom prst="downArrow">
            <a:avLst/>
          </a:prstGeom>
          <a:solidFill>
            <a:srgbClr val="1F6FB2"/>
          </a:solidFill>
        </p:spPr>
        <p:txBody>
          <a:bodyPr/>
          <a:lstStyle/>
          <a:p>
            <a:pPr>
              <a:buNone/>
            </a:pPr>
            <a:endParaRPr lang="ru-RU"/>
          </a:p>
        </p:txBody>
      </p:sp>
      <p:sp>
        <p:nvSpPr>
          <p:cNvPr id="112" name="box"/>
          <p:cNvSpPr/>
          <p:nvPr/>
        </p:nvSpPr>
        <p:spPr>
          <a:xfrm>
            <a:off x="7050000" y="2400000"/>
            <a:ext cx="4450000" cy="760000"/>
          </a:xfrm>
          <a:prstGeom prst="roundRect">
            <a:avLst>
              <a:gd name="adj" fmla="val 12000"/>
            </a:avLst>
          </a:prstGeom>
          <a:solidFill>
            <a:srgbClr val="1F6FB2"/>
          </a:solidFill>
          <a:ln w="9525">
            <a:solidFill>
              <a:srgbClr val="FFFFFF"/>
            </a:solidFill>
          </a:ln>
        </p:spPr>
        <p:txBody>
          <a:bodyPr wrap="square" anchor="ctr" lIns="68580" rIns="68580" tIns="27432" bIns="27432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Фермент топоизомераза II</a:t>
            </a:r>
          </a:p>
        </p:txBody>
      </p:sp>
      <p:sp>
        <p:nvSpPr>
          <p:cNvPr id="113" name="arrow"/>
          <p:cNvSpPr/>
          <p:nvPr/>
        </p:nvSpPr>
        <p:spPr>
          <a:xfrm>
            <a:off x="9145000" y="3160000"/>
            <a:ext cx="260000" cy="360000"/>
          </a:xfrm>
          <a:prstGeom prst="downArrow">
            <a:avLst/>
          </a:prstGeom>
          <a:solidFill>
            <a:srgbClr val="2E9E8F"/>
          </a:solidFill>
        </p:spPr>
        <p:txBody>
          <a:bodyPr/>
          <a:lstStyle/>
          <a:p>
            <a:pPr>
              <a:buNone/>
            </a:pPr>
            <a:endParaRPr lang="ru-RU"/>
          </a:p>
        </p:txBody>
      </p:sp>
      <p:sp>
        <p:nvSpPr>
          <p:cNvPr id="114" name="box"/>
          <p:cNvSpPr/>
          <p:nvPr/>
        </p:nvSpPr>
        <p:spPr>
          <a:xfrm>
            <a:off x="7050000" y="3520000"/>
            <a:ext cx="4450000" cy="760000"/>
          </a:xfrm>
          <a:prstGeom prst="roundRect">
            <a:avLst>
              <a:gd name="adj" fmla="val 12000"/>
            </a:avLst>
          </a:prstGeom>
          <a:solidFill>
            <a:srgbClr val="2E9E8F"/>
          </a:solidFill>
          <a:ln w="9525">
            <a:solidFill>
              <a:srgbClr val="FFFFFF"/>
            </a:solidFill>
          </a:ln>
        </p:spPr>
        <p:txBody>
          <a:bodyPr wrap="square" anchor="ctr" lIns="68580" rIns="68580" tIns="27432" bIns="27432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топологии ДНК,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ru-RU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репликация и деление клетки</a:t>
            </a:r>
          </a:p>
        </p:txBody>
      </p:sp>
      <p:sp>
        <p:nvSpPr>
          <p:cNvPr id="115" name="arrow"/>
          <p:cNvSpPr/>
          <p:nvPr/>
        </p:nvSpPr>
        <p:spPr>
          <a:xfrm>
            <a:off x="9145000" y="4280000"/>
            <a:ext cx="260000" cy="360000"/>
          </a:xfrm>
          <a:prstGeom prst="downArrow">
            <a:avLst/>
          </a:prstGeom>
          <a:solidFill>
            <a:srgbClr val="C55A11"/>
          </a:solidFill>
        </p:spPr>
        <p:txBody>
          <a:bodyPr/>
          <a:lstStyle/>
          <a:p>
            <a:pPr>
              <a:buNone/>
            </a:pPr>
            <a:endParaRPr lang="ru-RU"/>
          </a:p>
        </p:txBody>
      </p:sp>
      <p:sp>
        <p:nvSpPr>
          <p:cNvPr id="116" name="box"/>
          <p:cNvSpPr/>
          <p:nvPr/>
        </p:nvSpPr>
        <p:spPr>
          <a:xfrm>
            <a:off x="7050000" y="4640000"/>
            <a:ext cx="4450000" cy="76000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 w="9525">
            <a:solidFill>
              <a:srgbClr val="FFFFFF"/>
            </a:solidFill>
          </a:ln>
        </p:spPr>
        <p:txBody>
          <a:bodyPr wrap="square" anchor="ctr" lIns="68580" rIns="68580" tIns="27432" bIns="27432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Норма ↔ патология (рак)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3902" y="500042"/>
            <a:ext cx="946458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endParaRPr lang="ru-RU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70" y="6395085"/>
            <a:ext cx="304800" cy="276860"/>
          </a:xfrm>
        </p:spPr>
        <p:txBody>
          <a:bodyPr>
            <a:noAutofit/>
          </a:bodyPr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3" name="object 3"/>
          <p:cNvSpPr/>
          <p:nvPr/>
        </p:nvSpPr>
        <p:spPr>
          <a:xfrm flipV="1">
            <a:off x="1023902" y="1000108"/>
            <a:ext cx="3643337" cy="142876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14BCBC"/>
            </a:solidFill>
          </a:ln>
        </p:spPr>
        <p:txBody>
          <a:bodyPr wrap="square" lIns="0" tIns="0" rIns="0" bIns="0" rtlCol="0"/>
          <a:lstStyle/>
          <a:p>
            <a:endParaRPr b="1"/>
          </a:p>
        </p:txBody>
      </p:sp>
      <p:grpSp>
        <p:nvGrpSpPr>
          <p:cNvPr id="4" name="object 4"/>
          <p:cNvGrpSpPr/>
          <p:nvPr/>
        </p:nvGrpSpPr>
        <p:grpSpPr>
          <a:xfrm>
            <a:off x="11226007" y="220725"/>
            <a:ext cx="585033" cy="1136573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Прямоугольник 19"/>
          <p:cNvSpPr/>
          <p:nvPr/>
        </p:nvSpPr>
        <p:spPr>
          <a:xfrm>
            <a:off x="760574" y="1357185"/>
            <a:ext cx="10480196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4958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Синтез и исследование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олигонуклеотидных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праймеров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изучения экспрессии человеческого гена TOP2 методом полимеразной цепной реакции.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44958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 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биоинформатический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 нуклеотидной последовательности гена TOP2.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сконструировать специфические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праймеры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химический синтез целевых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олигонуклеотидов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очистку и определить концентрацию полученных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праймеров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экспрессию гена методом ПЦР.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 flipV="1">
            <a:off x="738150" y="1043938"/>
            <a:ext cx="9701631" cy="45719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Заголовок 10"/>
          <p:cNvSpPr>
            <a:spLocks noGrp="1"/>
          </p:cNvSpPr>
          <p:nvPr>
            <p:ph type="title"/>
          </p:nvPr>
        </p:nvSpPr>
        <p:spPr>
          <a:xfrm>
            <a:off x="767079" y="601929"/>
            <a:ext cx="9411335" cy="430530"/>
          </a:xfrm>
        </p:spPr>
        <p:txBody>
          <a:bodyPr>
            <a:normAutofit fontScale="90000"/>
          </a:bodyPr>
          <a:lstStyle/>
          <a:p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Ген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TOP2</a:t>
            </a:r>
            <a:endParaRPr lang="en-US" altLang="ru-RU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>
          <a:xfrm>
            <a:off x="11240769" y="6397751"/>
            <a:ext cx="450944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9" name="Текстовое поле 18"/>
          <p:cNvSpPr txBox="1"/>
          <p:nvPr/>
        </p:nvSpPr>
        <p:spPr>
          <a:xfrm>
            <a:off x="1287145" y="1992630"/>
            <a:ext cx="78327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ru-RU"/>
          </a:p>
          <a:p>
            <a:endParaRPr lang="en-US" altLang="en-US"/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767079" y="1190093"/>
            <a:ext cx="7273137" cy="54826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ru-RU" sz="2000" b="1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TOP2A (ДНК-</a:t>
            </a:r>
            <a:r>
              <a:rPr lang="ru-RU" sz="2000" b="1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топоизомераза</a:t>
            </a:r>
            <a:r>
              <a:rPr lang="ru-RU" sz="2000" b="1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II-альфа)</a:t>
            </a:r>
            <a:r>
              <a:rPr lang="ru-RU" sz="20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человеческий ген, кодирующий ядерный фермент, который контролирует топологическое состояние ДНК во время репликации и транскрипции.</a:t>
            </a: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гена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Расположен на 17-й хромосоме человека (17q21.2)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Кодирует белок длиной 1531 аминокислота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Кодирующая последовательность (CDS) — 4593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фермента: функционирует как АТФ-зависимый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гомодимер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Функциональная роль: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Белок TOP2A вносит временные двуцепочечные разрывы в спираль ДНК, что позволяет цепям проходить сквозь друг друга. Данный механизм является критически важным для разделения дочерних хроматид при делении клетки.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0216" y="1446666"/>
            <a:ext cx="3775611" cy="38357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0216" y="5284122"/>
            <a:ext cx="377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17-я хромосома человека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Заголовок 10"/>
          <p:cNvSpPr>
            <a:spLocks noGrp="1"/>
          </p:cNvSpPr>
          <p:nvPr>
            <p:ph type="title"/>
          </p:nvPr>
        </p:nvSpPr>
        <p:spPr>
          <a:xfrm>
            <a:off x="601349" y="582212"/>
            <a:ext cx="9411335" cy="430530"/>
          </a:xfrm>
        </p:spPr>
        <p:txBody>
          <a:bodyPr>
            <a:normAutofit fontScale="90000"/>
          </a:bodyPr>
          <a:lstStyle/>
          <a:p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Термодинамический анализ </a:t>
            </a:r>
            <a:r>
              <a:rPr lang="ru-RU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праймеров</a:t>
            </a:r>
            <a:endParaRPr lang="ru-RU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2" name="TextBox 1"/>
          <p:cNvSpPr txBox="1"/>
          <p:nvPr/>
        </p:nvSpPr>
        <p:spPr>
          <a:xfrm>
            <a:off x="577649" y="1156985"/>
            <a:ext cx="556665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Подобраные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праймеры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гена 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TOP2</a:t>
            </a:r>
            <a:endParaRPr lang="en-US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1349" y="1724191"/>
            <a:ext cx="5882311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Forward:</a:t>
            </a:r>
            <a:r>
              <a:rPr lang="ru-RU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5'-ACC ATT GCA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TTG TCC TG-3’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Revers:</a:t>
            </a:r>
            <a:r>
              <a:rPr lang="ru-RU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5'-GTC TGT TCC TTC  CTC AGT CC-3'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601349" y="2599174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проведения ПЦР-анализа экспрессии гена TOP2A были сконструированы специфические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олигонуклеотиды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Расчет их параметров проводился с помощью программного обеспечения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SnapGene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(визуализация и подбор зон отжига)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OligoAnalyzer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ампликон-подпись"/>
          <p:cNvSpPr txBox="1"/>
          <p:nvPr/>
        </p:nvSpPr>
        <p:spPr>
          <a:xfrm>
            <a:off x="2400000" y="4460000"/>
            <a:ext cx="7400000" cy="340000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4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Ампликон ≈ 150 п.н.</a:t>
            </a:r>
          </a:p>
        </p:txBody>
      </p:sp>
      <p:cxnSp>
        <p:nvCxnSpPr>
          <p:cNvPr id="211" name="amplicon"/>
          <p:cNvCxnSpPr/>
          <p:nvPr/>
        </p:nvCxnSpPr>
        <p:spPr>
          <a:xfrm>
            <a:off x="2400000" y="4860000"/>
            <a:ext cx="7400000" cy="1"/>
          </a:xfrm>
          <a:prstGeom prst="line">
            <a:avLst/>
          </a:prstGeom>
          <a:ln w="22225">
            <a:solidFill>
              <a:srgbClr val="1F3864"/>
            </a:solidFill>
            <a:headEnd type="triangle" w="med" len="med"/>
            <a:tailEnd type="triangle" w="med" len="med"/>
          </a:ln>
        </p:spPr>
      </p:cxnSp>
      <p:sp>
        <p:nvSpPr>
          <p:cNvPr id="212" name="primer"/>
          <p:cNvSpPr/>
          <p:nvPr/>
        </p:nvSpPr>
        <p:spPr>
          <a:xfrm>
            <a:off x="2400000" y="5000000"/>
            <a:ext cx="2100000" cy="300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1F6FB2"/>
          </a:solidFill>
        </p:spPr>
        <p:txBody>
          <a:bodyPr wrap="square" anchor="ctr" lIns="36576" rIns="36576" tIns="9144" bIns="9144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(прямой) →</a:t>
            </a:r>
          </a:p>
        </p:txBody>
      </p:sp>
      <p:sp>
        <p:nvSpPr>
          <p:cNvPr id="213" name="template"/>
          <p:cNvSpPr/>
          <p:nvPr/>
        </p:nvSpPr>
        <p:spPr>
          <a:xfrm>
            <a:off x="900000" y="5380000"/>
            <a:ext cx="10400000" cy="30000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</p:spPr>
        <p:txBody>
          <a:bodyPr wrap="square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300" b="1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— ген TOP2A (экзонный стык)</a:t>
            </a:r>
          </a:p>
        </p:txBody>
      </p:sp>
      <p:sp>
        <p:nvSpPr>
          <p:cNvPr id="214" name="primer"/>
          <p:cNvSpPr/>
          <p:nvPr/>
        </p:nvSpPr>
        <p:spPr>
          <a:xfrm>
            <a:off x="7700000" y="5760000"/>
            <a:ext cx="2100000" cy="300000"/>
          </a:xfrm>
          <a:prstGeom prst="leftArrow">
            <a:avLst>
              <a:gd name="adj1" fmla="val 50000"/>
              <a:gd name="adj2" fmla="val 40000"/>
            </a:avLst>
          </a:prstGeom>
          <a:solidFill>
            <a:srgbClr val="2E9E8F"/>
          </a:solidFill>
        </p:spPr>
        <p:txBody>
          <a:bodyPr wrap="square" anchor="ctr" lIns="36576" rIns="36576" tIns="9144" bIns="9144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← Reverse (обратный)</a:t>
            </a:r>
          </a:p>
        </p:txBody>
      </p:sp>
      <p:sp>
        <p:nvSpPr>
          <p:cNvPr id="215" name="5prime"/>
          <p:cNvSpPr txBox="1"/>
          <p:nvPr/>
        </p:nvSpPr>
        <p:spPr>
          <a:xfrm>
            <a:off x="560000" y="5380000"/>
            <a:ext cx="320000" cy="3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1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5′</a:t>
            </a:r>
          </a:p>
        </p:txBody>
      </p:sp>
      <p:sp>
        <p:nvSpPr>
          <p:cNvPr id="216" name="3prime"/>
          <p:cNvSpPr txBox="1"/>
          <p:nvPr/>
        </p:nvSpPr>
        <p:spPr>
          <a:xfrm>
            <a:off x="11320000" y="5380000"/>
            <a:ext cx="340000" cy="3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1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3′</a:t>
            </a:r>
          </a:p>
        </p:txBody>
      </p:sp>
      <p:sp>
        <p:nvSpPr>
          <p:cNvPr id="217" name="рис-подпись"/>
          <p:cNvSpPr txBox="1"/>
          <p:nvPr/>
        </p:nvSpPr>
        <p:spPr>
          <a:xfrm>
            <a:off x="900000" y="6060000"/>
            <a:ext cx="10400000" cy="3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20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Схема отжига праймеров на матрице (визуализация в SnapGene)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928710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Заголовок 10"/>
          <p:cNvSpPr>
            <a:spLocks noGrp="1"/>
          </p:cNvSpPr>
          <p:nvPr>
            <p:ph type="title"/>
          </p:nvPr>
        </p:nvSpPr>
        <p:spPr>
          <a:xfrm>
            <a:off x="623569" y="380314"/>
            <a:ext cx="9411335" cy="430530"/>
          </a:xfrm>
        </p:spPr>
        <p:txBody>
          <a:bodyPr>
            <a:normAutofit fontScale="90000"/>
          </a:bodyPr>
          <a:lstStyle/>
          <a:p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Характеристика и показатели</a:t>
            </a:r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праймеров</a:t>
            </a:r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5" name="TextBox 14"/>
          <p:cNvSpPr txBox="1"/>
          <p:nvPr/>
        </p:nvSpPr>
        <p:spPr>
          <a:xfrm>
            <a:off x="3143672" y="6028419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термодинамических параметров</a:t>
            </a:r>
            <a:endParaRPr lang="ru-RU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686022" y="1176172"/>
          <a:ext cx="8027868" cy="482137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75956"/>
                <a:gridCol w="2675956"/>
                <a:gridCol w="2675956"/>
              </a:tblGrid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Характеристика / Показатель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Forward </a:t>
                      </a:r>
                      <a:r>
                        <a:rPr lang="ru-RU" sz="1400">
                          <a:effectLst/>
                        </a:rPr>
                        <a:t>праймер (прямой)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effectLst/>
                        </a:rPr>
                        <a:t>Reverse </a:t>
                      </a:r>
                      <a:r>
                        <a:rPr lang="ru-RU" sz="1400" dirty="0" err="1">
                          <a:effectLst/>
                        </a:rPr>
                        <a:t>праймер</a:t>
                      </a:r>
                      <a:r>
                        <a:rPr lang="ru-RU" sz="1400" dirty="0">
                          <a:effectLst/>
                        </a:rPr>
                        <a:t> (обратный)</a:t>
                      </a:r>
                      <a:endParaRPr lang="ru-RU" sz="1400" dirty="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Последовательность (5' → 3')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effectLst/>
                        </a:rPr>
                        <a:t>GGTGTCCAAGTGTGCTTTGT</a:t>
                      </a:r>
                      <a:endParaRPr lang="en-US" sz="1400" dirty="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CCTTGATGTGTCTGCCTTCT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Длина (нт)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20 нуклеотидов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20 нуклеотидов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Объект отжига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Экзонный стык гена </a:t>
                      </a:r>
                      <a:r>
                        <a:rPr lang="en-US" sz="1400">
                          <a:effectLst/>
                        </a:rPr>
                        <a:t>TOP2A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Экзонный стык гена </a:t>
                      </a:r>
                      <a:r>
                        <a:rPr lang="en-US" sz="1400">
                          <a:effectLst/>
                        </a:rPr>
                        <a:t>TOP2A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Температура плавления (</a:t>
                      </a:r>
                      <a:r>
                        <a:rPr lang="en-US" sz="1400">
                          <a:effectLst/>
                        </a:rPr>
                        <a:t>Tm), °C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60.2 °C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59.8 °C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GC-</a:t>
                      </a:r>
                      <a:r>
                        <a:rPr lang="ru-RU" sz="1400">
                          <a:effectLst/>
                        </a:rPr>
                        <a:t>состав, %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50 %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50 %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Молекулярная масса, г/моль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 dirty="0">
                          <a:effectLst/>
                        </a:rPr>
                        <a:t>6182.4</a:t>
                      </a:r>
                      <a:endParaRPr lang="ru-RU" sz="1400" dirty="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6125.1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el-GR" sz="1400">
                          <a:effectLst/>
                        </a:rPr>
                        <a:t>Δ</a:t>
                      </a:r>
                      <a:r>
                        <a:rPr lang="en-US" sz="1400">
                          <a:effectLst/>
                        </a:rPr>
                        <a:t>G </a:t>
                      </a:r>
                      <a:r>
                        <a:rPr lang="ru-RU" sz="1400">
                          <a:effectLst/>
                        </a:rPr>
                        <a:t>самокомплементарности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-1.2 ккал/моль (норма)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-0.8 ккал/моль (норма)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Вторичные структуры (шпильки)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Отсутствуют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Отсутствуют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Специфичность (</a:t>
                      </a:r>
                      <a:r>
                        <a:rPr lang="en-US" sz="1400">
                          <a:effectLst/>
                        </a:rPr>
                        <a:t>BLAST)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Высокая (100% к </a:t>
                      </a:r>
                      <a:r>
                        <a:rPr lang="en-US" sz="1400">
                          <a:effectLst/>
                        </a:rPr>
                        <a:t>TOP2A)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Высокая (100% к </a:t>
                      </a:r>
                      <a:r>
                        <a:rPr lang="en-US" sz="1400">
                          <a:effectLst/>
                        </a:rPr>
                        <a:t>TOP2A)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Ожидаемый размер продукта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 dirty="0">
                          <a:effectLst/>
                        </a:rPr>
                        <a:t>150 пар нуклеотидов (</a:t>
                      </a:r>
                      <a:r>
                        <a:rPr lang="ru-RU" sz="1400" dirty="0" err="1">
                          <a:effectLst/>
                        </a:rPr>
                        <a:t>п.н</a:t>
                      </a:r>
                      <a:r>
                        <a:rPr lang="ru-RU" sz="1400" dirty="0">
                          <a:effectLst/>
                        </a:rPr>
                        <a:t>.)</a:t>
                      </a:r>
                      <a:endParaRPr lang="ru-RU" sz="1400" dirty="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 dirty="0">
                          <a:effectLst/>
                        </a:rPr>
                        <a:t>—</a:t>
                      </a:r>
                      <a:endParaRPr lang="ru-RU" sz="1400" dirty="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0944357" y="23830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9" y="6397751"/>
            <a:ext cx="304800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31746" name="AutoShape 2" descr="Антибиотикорезистентность бактерий - проблема, механизмы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48" name="AutoShape 4" descr="Антибиотикорезистентность бактерий - проблема, механизмы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0" name="AutoShape 6" descr="Антибиотикорезистентность бактерий - проблема, механизмы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2" name="AutoShape 8" descr="Антибиотикорезистентность бактерий - проблема, механизмы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4" name="AutoShape 10" descr="Антибиотикорезистентность: гонка на выживание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6" name="AutoShape 12" descr="Почему антибиотики не работают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8" name="AutoShape 14" descr="Почему антибиотики не работают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0" name="AutoShape 16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2" name="AutoShape 18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4" name="AutoShape 20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6" name="AutoShape 22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8" name="AutoShape 24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70" name="AutoShape 26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72" name="AutoShape 28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28" name="object 3"/>
          <p:cNvSpPr/>
          <p:nvPr/>
        </p:nvSpPr>
        <p:spPr>
          <a:xfrm flipV="1">
            <a:off x="738150" y="652778"/>
            <a:ext cx="9701631" cy="45719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Текстовое поле 1"/>
          <p:cNvSpPr txBox="1"/>
          <p:nvPr/>
        </p:nvSpPr>
        <p:spPr>
          <a:xfrm>
            <a:off x="551180" y="238125"/>
            <a:ext cx="7898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Синтез праймеров фосфорамидитным методом</a:t>
            </a:r>
            <a:endParaRPr lang="ru-RU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625" y="764540"/>
            <a:ext cx="6830060" cy="5970270"/>
          </a:xfrm>
          <a:prstGeom prst="rect">
            <a:avLst/>
          </a:prstGeom>
        </p:spPr>
      </p:pic>
      <p:sp>
        <p:nvSpPr>
          <p:cNvPr id="11" name="Текстовое поле 10"/>
          <p:cNvSpPr txBox="1"/>
          <p:nvPr/>
        </p:nvSpPr>
        <p:spPr>
          <a:xfrm>
            <a:off x="6816090" y="6212840"/>
            <a:ext cx="4729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Источник: </a:t>
            </a:r>
            <a:r>
              <a:rPr lang="en-US" alt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https://atdbio.com/nucleic-acids-book/Solid-phase-oligonucleotide-synthesis</a:t>
            </a:r>
            <a:endParaRPr lang="ru-RU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6339840" y="1089977"/>
            <a:ext cx="5080000" cy="4799965"/>
          </a:xfrm>
          <a:prstGeom prst="rect">
            <a:avLst/>
          </a:prstGeom>
        </p:spPr>
        <p:txBody>
          <a:bodyPr>
            <a:spAutoFit/>
          </a:bodyPr>
          <a:p>
            <a:pPr>
              <a:spcBef>
                <a:spcPct val="0"/>
              </a:spcBef>
            </a:pPr>
            <a:r>
              <a:rPr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Детрилирование: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Удаление защитной диметокситритильной (DMTO) группы кислотой (</a:t>
            </a:r>
            <a:r>
              <a:rPr i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Cl3CCOOH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 для освобождения реакционноспособной 5'-OH группы.</a:t>
            </a:r>
            <a:endParaRPr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Активация и связывание (конденсация):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Взаимодействие свободной 5'-OH группы с входящим фосфорамидитным мономером в присутствии активатора с образованием нестабильного фосфитриэфирного звена (</a:t>
            </a:r>
            <a:r>
              <a:rPr i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</a:t>
            </a:r>
            <a:r>
              <a:rPr i="1" baseline="3000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III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).</a:t>
            </a:r>
            <a:endParaRPr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Кэппинг (блокирование):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Ацетилирование нерезонировавших 5'-OH групп для предотвращения образования дефектных последовательностей (с делециями) в последующих циклах.</a:t>
            </a:r>
            <a:endParaRPr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Окисление: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Перевод фосфитриэфирной связи (</a:t>
            </a:r>
            <a:r>
              <a:rPr i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</a:t>
            </a:r>
            <a:r>
              <a:rPr i="1" baseline="3000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III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 в стабильную фосфатриэфирную структуру (</a:t>
            </a:r>
            <a:r>
              <a:rPr i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</a:t>
            </a:r>
            <a:r>
              <a:rPr i="1" baseline="3000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V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 под действием йода (</a:t>
            </a:r>
            <a:r>
              <a:rPr i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</a:t>
            </a:r>
            <a:r>
              <a:rPr i="1" baseline="-2500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2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 в присутствии воды.</a:t>
            </a:r>
            <a:endParaRPr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 flipV="1">
            <a:off x="738150" y="1043938"/>
            <a:ext cx="9701631" cy="45719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>
          <a:xfrm>
            <a:off x="11240769" y="6397751"/>
            <a:ext cx="450944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717027" y="14847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5"/>
          <a:srcRect b="13839"/>
          <a:stretch>
            <a:fillRect/>
          </a:stretch>
        </p:blipFill>
        <p:spPr>
          <a:xfrm>
            <a:off x="737870" y="1124585"/>
            <a:ext cx="9954895" cy="3640455"/>
          </a:xfrm>
          <a:prstGeom prst="rect">
            <a:avLst/>
          </a:prstGeom>
        </p:spPr>
      </p:pic>
      <p:sp>
        <p:nvSpPr>
          <p:cNvPr id="14" name="Текстовое поле 13"/>
          <p:cNvSpPr txBox="1"/>
          <p:nvPr/>
        </p:nvSpPr>
        <p:spPr>
          <a:xfrm>
            <a:off x="767715" y="70643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2400"/>
              </a:spcAft>
            </a:pPr>
            <a:r>
              <a:rPr sz="2400" b="1" i="0">
                <a:solidFill>
                  <a:schemeClr val="tx1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</a:rPr>
              <a:t>Механизм детрилирования</a:t>
            </a:r>
            <a:endParaRPr sz="2400" b="1" i="0">
              <a:solidFill>
                <a:schemeClr val="tx1"/>
              </a:solidFill>
              <a:latin typeface="Times New Roman" panose="02020603050405020304" pitchFamily="18" charset="0"/>
              <a:ea typeface="Merriweather"/>
              <a:cs typeface="Times New Roman" panose="02020603050405020304" pitchFamily="18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839470" y="5445125"/>
            <a:ext cx="978344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b="0" i="0">
                <a:solidFill>
                  <a:schemeClr val="tx1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</a:rPr>
              <a:t>Первая стадия цикла — удаление защитной DMT-группы (4,4'-диметокситритил) для активации 5'-OH конца.</a:t>
            </a:r>
            <a:endParaRPr b="0" i="0">
              <a:solidFill>
                <a:schemeClr val="tx1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9732899" y="200941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15" y="1052830"/>
            <a:ext cx="9969500" cy="4098925"/>
          </a:xfrm>
          <a:prstGeom prst="rect">
            <a:avLst/>
          </a:prstGeom>
        </p:spPr>
      </p:pic>
      <p:sp>
        <p:nvSpPr>
          <p:cNvPr id="11" name="Текстовое поле 10"/>
          <p:cNvSpPr txBox="1"/>
          <p:nvPr/>
        </p:nvSpPr>
        <p:spPr>
          <a:xfrm>
            <a:off x="551815" y="621030"/>
            <a:ext cx="7425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Стадия 1: Механизм активации и конденсации фосфорамидита</a:t>
            </a:r>
            <a:endParaRPr lang="ru-RU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70" y="6397625"/>
            <a:ext cx="626745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90" y="1043940"/>
            <a:ext cx="9999980" cy="4217035"/>
          </a:xfrm>
          <a:prstGeom prst="rect">
            <a:avLst/>
          </a:prstGeom>
        </p:spPr>
      </p:pic>
      <p:sp>
        <p:nvSpPr>
          <p:cNvPr id="12" name="Текстовое поле 11"/>
          <p:cNvSpPr txBox="1"/>
          <p:nvPr/>
        </p:nvSpPr>
        <p:spPr>
          <a:xfrm>
            <a:off x="479425" y="675640"/>
            <a:ext cx="9151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Стадия </a:t>
            </a:r>
            <a:r>
              <a:rPr lang="ru-RU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 кэпирования при фосфорамидитном синтезе олигонуклеотидов.</a:t>
            </a:r>
            <a:endParaRPr lang="ru-RU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70" y="6397625"/>
            <a:ext cx="626745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479425" y="675640"/>
            <a:ext cx="9151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Стадия </a:t>
            </a:r>
            <a:r>
              <a:rPr lang="ru-RU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Окисление фосфиттриэфира до фосфаттриэфира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5">
            <a:lum bright="12000"/>
          </a:blip>
          <a:stretch>
            <a:fillRect/>
          </a:stretch>
        </p:blipFill>
        <p:spPr>
          <a:xfrm>
            <a:off x="1485900" y="1104265"/>
            <a:ext cx="7933690" cy="57537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00" name="Заголовок"/>
          <p:cNvSpPr txBox="1"/>
          <p:nvPr/>
        </p:nvSpPr>
        <p:spPr>
          <a:xfrm>
            <a:off x="839470" y="431075"/>
            <a:ext cx="9658350" cy="54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Важность изучения топоизомеразы II, кодируемого геном TOP2</a:t>
            </a:r>
          </a:p>
        </p:txBody>
      </p:sp>
      <p:sp>
        <p:nvSpPr>
          <p:cNvPr id="101" name="Текст важности 2"/>
          <p:cNvSpPr txBox="1"/>
          <p:nvPr/>
        </p:nvSpPr>
        <p:spPr>
          <a:xfrm>
            <a:off x="600000" y="1180000"/>
            <a:ext cx="5450000" cy="35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Топоизомераза II временно разрезает обе цепи ДНК, пропускает через разрыв другой участок двойной спирали и снова сшивает её. Так фермент снимает сверхскрученность и расцепляет дочерние молекулы ДНК при делении клетки.</a:t>
            </a:r>
          </a:p>
          <a:p>
            <a:pPr marL="0" indent="0" algn="just">
              <a:spcBef>
                <a:spcPts val="700"/>
              </a:spcBef>
              <a:buNone/>
            </a:pPr>
            <a:r>
              <a:rPr lang="ru-RU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двойная спираль ДНК и работающая на ней топоизомераза II — та </a:t>
            </a:r>
            <a:r>
              <a:rPr lang="ru-RU" altLang="en-US" sz="1700" b="1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молекулярная мишень</a:t>
            </a:r>
            <a:r>
              <a:rPr lang="ru-RU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на которую направлены наши праймеры и противоопухолевые препараты.</a:t>
            </a:r>
          </a:p>
        </p:txBody>
      </p:sp>
      <p:sp>
        <p:nvSpPr>
          <p:cNvPr id="105" name="bridge"/>
          <p:cNvSpPr/>
          <p:nvPr/>
        </p:nvSpPr>
        <p:spPr>
          <a:xfrm>
            <a:off x="600000" y="5050000"/>
            <a:ext cx="5450000" cy="1150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</p:spPr>
        <p:txBody>
          <a:bodyPr wrap="square" anchor="ctr" lIns="91440" rIns="9144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7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поэтому целью моей работы стало изучение экспрессии гена TOP2 методом полимеразной цепной реакции.</a:t>
            </a:r>
          </a:p>
        </p:txBody>
      </p:sp>
      <p:sp>
        <p:nvSpPr>
          <p:cNvPr id="120" name="strand"/>
          <p:cNvSpPr/>
          <p:nvPr/>
        </p:nvSpPr>
        <p:spPr>
          <a:xfrm>
            <a:off x="6650000" y="1350000"/>
            <a:ext cx="1700000" cy="4350000"/>
          </a:xfrm>
          <a:custGeom>
            <a:avLst/>
            <a:gdLst/>
            <a:ahLst/>
            <a:cxnLst/>
            <a:rect l="l" t="t" r="r" b="b"/>
            <a:pathLst>
              <a:path w="1700000" h="4350000">
                <a:moveTo>
                  <a:pt x="850000" y="0"/>
                </a:moveTo>
                <a:lnTo>
                  <a:pt x="1041893" y="67968"/>
                </a:lnTo>
                <a:lnTo>
                  <a:pt x="1221352" y="135937"/>
                </a:lnTo>
                <a:lnTo>
                  <a:pt x="1376746" y="203906"/>
                </a:lnTo>
                <a:lnTo>
                  <a:pt x="1498006" y="271875"/>
                </a:lnTo>
                <a:lnTo>
                  <a:pt x="1577274" y="339843"/>
                </a:lnTo>
                <a:lnTo>
                  <a:pt x="1609414" y="407812"/>
                </a:lnTo>
                <a:lnTo>
                  <a:pt x="1592342" y="475781"/>
                </a:lnTo>
                <a:lnTo>
                  <a:pt x="1527164" y="543750"/>
                </a:lnTo>
                <a:lnTo>
                  <a:pt x="1418106" y="611718"/>
                </a:lnTo>
                <a:lnTo>
                  <a:pt x="1272233" y="679687"/>
                </a:lnTo>
                <a:lnTo>
                  <a:pt x="1098998" y="747656"/>
                </a:lnTo>
                <a:lnTo>
                  <a:pt x="909628" y="815625"/>
                </a:lnTo>
                <a:lnTo>
                  <a:pt x="716395" y="883593"/>
                </a:lnTo>
                <a:lnTo>
                  <a:pt x="531819" y="951562"/>
                </a:lnTo>
                <a:lnTo>
                  <a:pt x="367862" y="1019531"/>
                </a:lnTo>
                <a:lnTo>
                  <a:pt x="235148" y="1087500"/>
                </a:lnTo>
                <a:lnTo>
                  <a:pt x="142277" y="1155468"/>
                </a:lnTo>
                <a:lnTo>
                  <a:pt x="95268" y="1223437"/>
                </a:lnTo>
                <a:lnTo>
                  <a:pt x="97168" y="1291406"/>
                </a:lnTo>
                <a:lnTo>
                  <a:pt x="147852" y="1359375"/>
                </a:lnTo>
                <a:lnTo>
                  <a:pt x="244037" y="1427343"/>
                </a:lnTo>
                <a:lnTo>
                  <a:pt x="379489" y="1495312"/>
                </a:lnTo>
                <a:lnTo>
                  <a:pt x="545431" y="1563281"/>
                </a:lnTo>
                <a:lnTo>
                  <a:pt x="731110" y="1631250"/>
                </a:lnTo>
                <a:lnTo>
                  <a:pt x="924493" y="1699218"/>
                </a:lnTo>
                <a:lnTo>
                  <a:pt x="1113048" y="1767187"/>
                </a:lnTo>
                <a:lnTo>
                  <a:pt x="1284558" y="1835156"/>
                </a:lnTo>
                <a:lnTo>
                  <a:pt x="1427908" y="1903125"/>
                </a:lnTo>
                <a:lnTo>
                  <a:pt x="1533808" y="1971093"/>
                </a:lnTo>
                <a:lnTo>
                  <a:pt x="1595396" y="2039062"/>
                </a:lnTo>
                <a:lnTo>
                  <a:pt x="1608681" y="2107031"/>
                </a:lnTo>
                <a:lnTo>
                  <a:pt x="1572802" y="2175000"/>
                </a:lnTo>
                <a:lnTo>
                  <a:pt x="1490085" y="2242968"/>
                </a:lnTo>
                <a:lnTo>
                  <a:pt x="1365888" y="2310937"/>
                </a:lnTo>
                <a:lnTo>
                  <a:pt x="1208261" y="2378906"/>
                </a:lnTo>
                <a:lnTo>
                  <a:pt x="1027418" y="2446875"/>
                </a:lnTo>
                <a:lnTo>
                  <a:pt x="835079" y="2514843"/>
                </a:lnTo>
                <a:lnTo>
                  <a:pt x="643706" y="2582812"/>
                </a:lnTo>
                <a:lnTo>
                  <a:pt x="465701" y="2650781"/>
                </a:lnTo>
                <a:lnTo>
                  <a:pt x="312599" y="2718750"/>
                </a:lnTo>
                <a:lnTo>
                  <a:pt x="194322" y="2786718"/>
                </a:lnTo>
                <a:lnTo>
                  <a:pt x="118535" y="2854687"/>
                </a:lnTo>
                <a:lnTo>
                  <a:pt x="90147" y="2922656"/>
                </a:lnTo>
                <a:lnTo>
                  <a:pt x="110999" y="2990625"/>
                </a:lnTo>
                <a:lnTo>
                  <a:pt x="179740" y="3058593"/>
                </a:lnTo>
                <a:lnTo>
                  <a:pt x="291915" y="3126562"/>
                </a:lnTo>
                <a:lnTo>
                  <a:pt x="440255" y="3194531"/>
                </a:lnTo>
                <a:lnTo>
                  <a:pt x="615148" y="3262500"/>
                </a:lnTo>
                <a:lnTo>
                  <a:pt x="805259" y="3330468"/>
                </a:lnTo>
                <a:lnTo>
                  <a:pt x="998268" y="3398437"/>
                </a:lnTo>
                <a:lnTo>
                  <a:pt x="1181671" y="3466406"/>
                </a:lnTo>
                <a:lnTo>
                  <a:pt x="1343580" y="3534375"/>
                </a:lnTo>
                <a:lnTo>
                  <a:pt x="1473505" y="3602343"/>
                </a:lnTo>
                <a:lnTo>
                  <a:pt x="1563025" y="3670312"/>
                </a:lnTo>
                <a:lnTo>
                  <a:pt x="1606340" y="3738281"/>
                </a:lnTo>
                <a:lnTo>
                  <a:pt x="1600643" y="3806250"/>
                </a:lnTo>
                <a:lnTo>
                  <a:pt x="1546302" y="3874218"/>
                </a:lnTo>
                <a:lnTo>
                  <a:pt x="1446840" y="3942187"/>
                </a:lnTo>
                <a:lnTo>
                  <a:pt x="1308702" y="4010156"/>
                </a:lnTo>
                <a:lnTo>
                  <a:pt x="1140839" y="4078125"/>
                </a:lnTo>
                <a:lnTo>
                  <a:pt x="954129" y="4146093"/>
                </a:lnTo>
                <a:lnTo>
                  <a:pt x="760672" y="4214062"/>
                </a:lnTo>
                <a:lnTo>
                  <a:pt x="573003" y="4282031"/>
                </a:lnTo>
                <a:lnTo>
                  <a:pt x="403284" y="4350000"/>
                </a:lnTo>
              </a:path>
            </a:pathLst>
          </a:custGeom>
          <a:ln w="57150" cap="rnd">
            <a:solidFill>
              <a:srgbClr val="1F6FB2"/>
            </a:solidFill>
          </a:ln>
        </p:spPr>
        <p:txBody>
          <a:bodyPr/>
          <a:lstStyle/>
          <a:p/>
        </p:txBody>
      </p:sp>
      <p:sp>
        <p:nvSpPr>
          <p:cNvPr id="121" name="strand"/>
          <p:cNvSpPr/>
          <p:nvPr/>
        </p:nvSpPr>
        <p:spPr>
          <a:xfrm>
            <a:off x="6650000" y="1350000"/>
            <a:ext cx="1700000" cy="4350000"/>
          </a:xfrm>
          <a:custGeom>
            <a:avLst/>
            <a:gdLst/>
            <a:ahLst/>
            <a:cxnLst/>
            <a:rect l="l" t="t" r="r" b="b"/>
            <a:pathLst>
              <a:path w="1700000" h="4350000">
                <a:moveTo>
                  <a:pt x="850000" y="0"/>
                </a:moveTo>
                <a:lnTo>
                  <a:pt x="658107" y="67968"/>
                </a:lnTo>
                <a:lnTo>
                  <a:pt x="478648" y="135937"/>
                </a:lnTo>
                <a:lnTo>
                  <a:pt x="323254" y="203906"/>
                </a:lnTo>
                <a:lnTo>
                  <a:pt x="201994" y="271875"/>
                </a:lnTo>
                <a:lnTo>
                  <a:pt x="122726" y="339843"/>
                </a:lnTo>
                <a:lnTo>
                  <a:pt x="90586" y="407812"/>
                </a:lnTo>
                <a:lnTo>
                  <a:pt x="107658" y="475781"/>
                </a:lnTo>
                <a:lnTo>
                  <a:pt x="172836" y="543750"/>
                </a:lnTo>
                <a:lnTo>
                  <a:pt x="281894" y="611718"/>
                </a:lnTo>
                <a:lnTo>
                  <a:pt x="427767" y="679687"/>
                </a:lnTo>
                <a:lnTo>
                  <a:pt x="601002" y="747656"/>
                </a:lnTo>
                <a:lnTo>
                  <a:pt x="790372" y="815625"/>
                </a:lnTo>
                <a:lnTo>
                  <a:pt x="983605" y="883593"/>
                </a:lnTo>
                <a:lnTo>
                  <a:pt x="1168181" y="951562"/>
                </a:lnTo>
                <a:lnTo>
                  <a:pt x="1332138" y="1019531"/>
                </a:lnTo>
                <a:lnTo>
                  <a:pt x="1464852" y="1087500"/>
                </a:lnTo>
                <a:lnTo>
                  <a:pt x="1557723" y="1155468"/>
                </a:lnTo>
                <a:lnTo>
                  <a:pt x="1604732" y="1223437"/>
                </a:lnTo>
                <a:lnTo>
                  <a:pt x="1602832" y="1291406"/>
                </a:lnTo>
                <a:lnTo>
                  <a:pt x="1552148" y="1359375"/>
                </a:lnTo>
                <a:lnTo>
                  <a:pt x="1455963" y="1427343"/>
                </a:lnTo>
                <a:lnTo>
                  <a:pt x="1320511" y="1495312"/>
                </a:lnTo>
                <a:lnTo>
                  <a:pt x="1154569" y="1563281"/>
                </a:lnTo>
                <a:lnTo>
                  <a:pt x="968890" y="1631250"/>
                </a:lnTo>
                <a:lnTo>
                  <a:pt x="775507" y="1699218"/>
                </a:lnTo>
                <a:lnTo>
                  <a:pt x="586952" y="1767187"/>
                </a:lnTo>
                <a:lnTo>
                  <a:pt x="415442" y="1835156"/>
                </a:lnTo>
                <a:lnTo>
                  <a:pt x="272092" y="1903125"/>
                </a:lnTo>
                <a:lnTo>
                  <a:pt x="166192" y="1971093"/>
                </a:lnTo>
                <a:lnTo>
                  <a:pt x="104604" y="2039062"/>
                </a:lnTo>
                <a:lnTo>
                  <a:pt x="91319" y="2107031"/>
                </a:lnTo>
                <a:lnTo>
                  <a:pt x="127198" y="2175000"/>
                </a:lnTo>
                <a:lnTo>
                  <a:pt x="209915" y="2242968"/>
                </a:lnTo>
                <a:lnTo>
                  <a:pt x="334112" y="2310937"/>
                </a:lnTo>
                <a:lnTo>
                  <a:pt x="491739" y="2378906"/>
                </a:lnTo>
                <a:lnTo>
                  <a:pt x="672582" y="2446875"/>
                </a:lnTo>
                <a:lnTo>
                  <a:pt x="864921" y="2514843"/>
                </a:lnTo>
                <a:lnTo>
                  <a:pt x="1056294" y="2582812"/>
                </a:lnTo>
                <a:lnTo>
                  <a:pt x="1234299" y="2650781"/>
                </a:lnTo>
                <a:lnTo>
                  <a:pt x="1387401" y="2718750"/>
                </a:lnTo>
                <a:lnTo>
                  <a:pt x="1505678" y="2786718"/>
                </a:lnTo>
                <a:lnTo>
                  <a:pt x="1581465" y="2854687"/>
                </a:lnTo>
                <a:lnTo>
                  <a:pt x="1609853" y="2922656"/>
                </a:lnTo>
                <a:lnTo>
                  <a:pt x="1589001" y="2990625"/>
                </a:lnTo>
                <a:lnTo>
                  <a:pt x="1520260" y="3058593"/>
                </a:lnTo>
                <a:lnTo>
                  <a:pt x="1408085" y="3126562"/>
                </a:lnTo>
                <a:lnTo>
                  <a:pt x="1259745" y="3194531"/>
                </a:lnTo>
                <a:lnTo>
                  <a:pt x="1084852" y="3262500"/>
                </a:lnTo>
                <a:lnTo>
                  <a:pt x="894741" y="3330468"/>
                </a:lnTo>
                <a:lnTo>
                  <a:pt x="701732" y="3398437"/>
                </a:lnTo>
                <a:lnTo>
                  <a:pt x="518329" y="3466406"/>
                </a:lnTo>
                <a:lnTo>
                  <a:pt x="356420" y="3534375"/>
                </a:lnTo>
                <a:lnTo>
                  <a:pt x="226495" y="3602343"/>
                </a:lnTo>
                <a:lnTo>
                  <a:pt x="136975" y="3670312"/>
                </a:lnTo>
                <a:lnTo>
                  <a:pt x="93660" y="3738281"/>
                </a:lnTo>
                <a:lnTo>
                  <a:pt x="99357" y="3806250"/>
                </a:lnTo>
                <a:lnTo>
                  <a:pt x="153698" y="3874218"/>
                </a:lnTo>
                <a:lnTo>
                  <a:pt x="253160" y="3942187"/>
                </a:lnTo>
                <a:lnTo>
                  <a:pt x="391298" y="4010156"/>
                </a:lnTo>
                <a:lnTo>
                  <a:pt x="559161" y="4078125"/>
                </a:lnTo>
                <a:lnTo>
                  <a:pt x="745871" y="4146093"/>
                </a:lnTo>
                <a:lnTo>
                  <a:pt x="939328" y="4214062"/>
                </a:lnTo>
                <a:lnTo>
                  <a:pt x="1126997" y="4282031"/>
                </a:lnTo>
                <a:lnTo>
                  <a:pt x="1296716" y="4350000"/>
                </a:lnTo>
              </a:path>
            </a:pathLst>
          </a:custGeom>
          <a:ln w="57150" cap="rnd">
            <a:solidFill>
              <a:srgbClr val="2E9E8F"/>
            </a:solidFill>
          </a:ln>
        </p:spPr>
        <p:txBody>
          <a:bodyPr/>
          <a:lstStyle/>
          <a:p/>
        </p:txBody>
      </p:sp>
      <p:cxnSp>
        <p:nvCxnSpPr>
          <p:cNvPr id="130" name="rung"/>
          <p:cNvCxnSpPr/>
          <p:nvPr/>
        </p:nvCxnSpPr>
        <p:spPr>
          <a:xfrm flipH="1" flipV="0">
            <a:off x="6851994" y="1621875"/>
            <a:ext cx="1296012" cy="1"/>
          </a:xfrm>
          <a:prstGeom prst="line">
            <a:avLst/>
          </a:prstGeom>
          <a:ln w="28575">
            <a:solidFill>
              <a:srgbClr val="9DC3E6"/>
            </a:solidFill>
          </a:ln>
        </p:spPr>
      </p:cxnSp>
      <p:cxnSp>
        <p:nvCxnSpPr>
          <p:cNvPr id="131" name="rung"/>
          <p:cNvCxnSpPr/>
          <p:nvPr/>
        </p:nvCxnSpPr>
        <p:spPr>
          <a:xfrm flipH="1" flipV="0">
            <a:off x="7077767" y="2029687"/>
            <a:ext cx="844466" cy="1"/>
          </a:xfrm>
          <a:prstGeom prst="line">
            <a:avLst/>
          </a:prstGeom>
          <a:ln w="28575">
            <a:solidFill>
              <a:srgbClr val="9DC3E6"/>
            </a:solidFill>
          </a:ln>
        </p:spPr>
      </p:cxnSp>
      <p:cxnSp>
        <p:nvCxnSpPr>
          <p:cNvPr id="132" name="rung"/>
          <p:cNvCxnSpPr/>
          <p:nvPr/>
        </p:nvCxnSpPr>
        <p:spPr>
          <a:xfrm flipH="0" flipV="0">
            <a:off x="6885148" y="2437500"/>
            <a:ext cx="1229704" cy="1"/>
          </a:xfrm>
          <a:prstGeom prst="line">
            <a:avLst/>
          </a:prstGeom>
          <a:ln w="28575">
            <a:solidFill>
              <a:srgbClr val="9DC3E6"/>
            </a:solidFill>
          </a:ln>
        </p:spPr>
      </p:cxnSp>
      <p:cxnSp>
        <p:nvCxnSpPr>
          <p:cNvPr id="133" name="rung"/>
          <p:cNvCxnSpPr/>
          <p:nvPr/>
        </p:nvCxnSpPr>
        <p:spPr>
          <a:xfrm flipH="0" flipV="0">
            <a:off x="6894037" y="2777343"/>
            <a:ext cx="1211926" cy="1"/>
          </a:xfrm>
          <a:prstGeom prst="line">
            <a:avLst/>
          </a:prstGeom>
          <a:ln w="28575">
            <a:solidFill>
              <a:srgbClr val="9DC3E6"/>
            </a:solidFill>
          </a:ln>
        </p:spPr>
      </p:cxnSp>
      <p:cxnSp>
        <p:nvCxnSpPr>
          <p:cNvPr id="134" name="rung"/>
          <p:cNvCxnSpPr/>
          <p:nvPr/>
        </p:nvCxnSpPr>
        <p:spPr>
          <a:xfrm flipH="1" flipV="0">
            <a:off x="7065442" y="3185156"/>
            <a:ext cx="869116" cy="1"/>
          </a:xfrm>
          <a:prstGeom prst="line">
            <a:avLst/>
          </a:prstGeom>
          <a:ln w="28575">
            <a:solidFill>
              <a:srgbClr val="9DC3E6"/>
            </a:solidFill>
          </a:ln>
        </p:spPr>
      </p:cxnSp>
      <p:cxnSp>
        <p:nvCxnSpPr>
          <p:cNvPr id="135" name="rung"/>
          <p:cNvCxnSpPr/>
          <p:nvPr/>
        </p:nvCxnSpPr>
        <p:spPr>
          <a:xfrm flipH="1" flipV="0">
            <a:off x="6859915" y="3592968"/>
            <a:ext cx="1280170" cy="1"/>
          </a:xfrm>
          <a:prstGeom prst="line">
            <a:avLst/>
          </a:prstGeom>
          <a:ln w="28575">
            <a:solidFill>
              <a:srgbClr val="C55A11"/>
            </a:solidFill>
          </a:ln>
        </p:spPr>
      </p:cxnSp>
      <p:cxnSp>
        <p:nvCxnSpPr>
          <p:cNvPr id="136" name="rung"/>
          <p:cNvCxnSpPr/>
          <p:nvPr/>
        </p:nvCxnSpPr>
        <p:spPr>
          <a:xfrm flipH="0" flipV="0">
            <a:off x="7115701" y="4000781"/>
            <a:ext cx="768598" cy="1"/>
          </a:xfrm>
          <a:prstGeom prst="line">
            <a:avLst/>
          </a:prstGeom>
          <a:ln w="28575">
            <a:solidFill>
              <a:srgbClr val="9DC3E6"/>
            </a:solidFill>
          </a:ln>
        </p:spPr>
      </p:cxnSp>
      <p:cxnSp>
        <p:nvCxnSpPr>
          <p:cNvPr id="137" name="rung"/>
          <p:cNvCxnSpPr/>
          <p:nvPr/>
        </p:nvCxnSpPr>
        <p:spPr>
          <a:xfrm flipH="0" flipV="0">
            <a:off x="6760999" y="4340625"/>
            <a:ext cx="1478002" cy="1"/>
          </a:xfrm>
          <a:prstGeom prst="line">
            <a:avLst/>
          </a:prstGeom>
          <a:ln w="28575">
            <a:solidFill>
              <a:srgbClr val="9DC3E6"/>
            </a:solidFill>
          </a:ln>
        </p:spPr>
      </p:cxnSp>
      <p:cxnSp>
        <p:nvCxnSpPr>
          <p:cNvPr id="138" name="rung"/>
          <p:cNvCxnSpPr/>
          <p:nvPr/>
        </p:nvCxnSpPr>
        <p:spPr>
          <a:xfrm flipH="1" flipV="0">
            <a:off x="7351732" y="4748437"/>
            <a:ext cx="296536" cy="1"/>
          </a:xfrm>
          <a:prstGeom prst="line">
            <a:avLst/>
          </a:prstGeom>
          <a:ln w="28575">
            <a:solidFill>
              <a:srgbClr val="9DC3E6"/>
            </a:solidFill>
          </a:ln>
        </p:spPr>
      </p:cxnSp>
      <p:cxnSp>
        <p:nvCxnSpPr>
          <p:cNvPr id="139" name="rung"/>
          <p:cNvCxnSpPr/>
          <p:nvPr/>
        </p:nvCxnSpPr>
        <p:spPr>
          <a:xfrm flipH="1" flipV="0">
            <a:off x="6749357" y="5156250"/>
            <a:ext cx="1501286" cy="1"/>
          </a:xfrm>
          <a:prstGeom prst="line">
            <a:avLst/>
          </a:prstGeom>
          <a:ln w="28575">
            <a:solidFill>
              <a:srgbClr val="9DC3E6"/>
            </a:solidFill>
          </a:ln>
        </p:spPr>
      </p:cxnSp>
      <p:cxnSp>
        <p:nvCxnSpPr>
          <p:cNvPr id="140" name="rung"/>
          <p:cNvCxnSpPr/>
          <p:nvPr/>
        </p:nvCxnSpPr>
        <p:spPr>
          <a:xfrm flipH="1" flipV="0">
            <a:off x="7395871" y="5496093"/>
            <a:ext cx="208258" cy="1"/>
          </a:xfrm>
          <a:prstGeom prst="line">
            <a:avLst/>
          </a:prstGeom>
          <a:ln w="28575">
            <a:solidFill>
              <a:srgbClr val="9DC3E6"/>
            </a:solidFill>
          </a:ln>
        </p:spPr>
      </p:cxnSp>
      <p:sp>
        <p:nvSpPr>
          <p:cNvPr id="140" name="target"/>
          <p:cNvSpPr/>
          <p:nvPr/>
        </p:nvSpPr>
        <p:spPr>
          <a:xfrm>
            <a:off x="6880000" y="3122968"/>
            <a:ext cx="1240000" cy="940000"/>
          </a:xfrm>
          <a:prstGeom prst="ellipse">
            <a:avLst/>
          </a:prstGeom>
          <a:noFill/>
          <a:ln w="38100">
            <a:solidFill>
              <a:srgbClr val="C55A11"/>
            </a:solidFill>
            <a:prstDash val="dash"/>
          </a:ln>
        </p:spPr>
        <p:txBody>
          <a:bodyPr/>
          <a:lstStyle/>
          <a:p/>
        </p:txBody>
      </p:sp>
      <p:sp>
        <p:nvSpPr>
          <p:cNvPr id="141" name="метка мишени"/>
          <p:cNvSpPr txBox="1"/>
          <p:nvPr/>
        </p:nvSpPr>
        <p:spPr>
          <a:xfrm>
            <a:off x="6400000" y="4112968"/>
            <a:ext cx="2200000" cy="7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300" b="1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Мишень: топоизомераза II</a:t>
            </a:r>
          </a:p>
        </p:txBody>
      </p:sp>
      <p:sp>
        <p:nvSpPr>
          <p:cNvPr id="142" name="метка ДНК"/>
          <p:cNvSpPr txBox="1"/>
          <p:nvPr/>
        </p:nvSpPr>
        <p:spPr>
          <a:xfrm>
            <a:off x="6400000" y="1100000"/>
            <a:ext cx="2200000" cy="3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3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Двойная спираль ДНК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00" name="Заголовок"/>
          <p:cNvSpPr txBox="1"/>
          <p:nvPr/>
        </p:nvSpPr>
        <p:spPr>
          <a:xfrm>
            <a:off x="839470" y="431075"/>
            <a:ext cx="9658350" cy="54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качества: электрофорез продуктов ПЦР</a:t>
            </a:r>
          </a:p>
        </p:txBody>
      </p:sp>
      <p:pic>
        <p:nvPicPr>
          <p:cNvPr id="150" name="Рисунок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00" y="1678125"/>
            <a:ext cx="5750000" cy="359375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151" name="подпись"/>
          <p:cNvSpPr txBox="1"/>
          <p:nvPr/>
        </p:nvSpPr>
        <p:spPr>
          <a:xfrm>
            <a:off x="650000" y="5690000"/>
            <a:ext cx="5750000" cy="5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30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— электрофореграмма продуктов ПЦР (агарозный гель)</a:t>
            </a:r>
          </a:p>
        </p:txBody>
      </p:sp>
      <p:sp>
        <p:nvSpPr>
          <p:cNvPr id="152" name="текст"/>
          <p:cNvSpPr txBox="1"/>
          <p:nvPr/>
        </p:nvSpPr>
        <p:spPr>
          <a:xfrm>
            <a:off x="6650000" y="1320000"/>
            <a:ext cx="4900000" cy="4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just">
              <a:spcBef>
                <a:spcPts val="300"/>
              </a:spcBef>
              <a:buNone/>
            </a:pPr>
            <a:r>
              <a:rPr lang="ru-RU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Подтверждение специфичности и качества синтезированных праймеров.</a:t>
            </a:r>
          </a:p>
          <a:p>
            <a:pPr marL="342900" indent="-342900" algn="just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электрофореграмме виден единственный чёткий продукт ожидаемого размера (~150 п.н.) — без неспецифических полос и праймер-димеров.</a:t>
            </a:r>
          </a:p>
          <a:p>
            <a:pPr marL="342900" indent="-342900" algn="just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ампликона соответствует расчётному для экзонного стыка гена TOP2A.</a:t>
            </a:r>
          </a:p>
          <a:p>
            <a:pPr marL="342900" indent="-342900" algn="just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подтверждает корректность подбора, синтеза и очистки олигонуклеотидов.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00" name="Заголовок"/>
          <p:cNvSpPr txBox="1"/>
          <p:nvPr/>
        </p:nvSpPr>
        <p:spPr>
          <a:xfrm>
            <a:off x="839470" y="431075"/>
            <a:ext cx="9658350" cy="54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ПЦР: детекция ампликона гена TOP2A</a:t>
            </a:r>
          </a:p>
        </p:txBody>
      </p:sp>
      <p:pic>
        <p:nvPicPr>
          <p:cNvPr id="150" name="Рисунок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00" y="1678125"/>
            <a:ext cx="5750000" cy="359375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151" name="подпись"/>
          <p:cNvSpPr txBox="1"/>
          <p:nvPr/>
        </p:nvSpPr>
        <p:spPr>
          <a:xfrm>
            <a:off x="650000" y="5690000"/>
            <a:ext cx="5750000" cy="5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30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— электрофореграмма ПЦР-продукта гена TOP2A</a:t>
            </a:r>
          </a:p>
        </p:txBody>
      </p:sp>
      <p:sp>
        <p:nvSpPr>
          <p:cNvPr id="152" name="текст"/>
          <p:cNvSpPr txBox="1"/>
          <p:nvPr/>
        </p:nvSpPr>
        <p:spPr>
          <a:xfrm>
            <a:off x="6650000" y="1320000"/>
            <a:ext cx="4900000" cy="4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just">
              <a:spcBef>
                <a:spcPts val="300"/>
              </a:spcBef>
              <a:buNone/>
            </a:pPr>
            <a:r>
              <a:rPr lang="ru-RU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Амплификация целевого фрагмента гена TOP2A.</a:t>
            </a:r>
          </a:p>
          <a:p>
            <a:pPr marL="342900" indent="-342900" algn="just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дорожках с матрицей (кДНК) наблюдается специфический ампликон; в отрицательном контроле полоса отсутствует.</a:t>
            </a:r>
          </a:p>
          <a:p>
            <a:pPr marL="342900" indent="-342900" algn="just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Положение полосы относительно маркера длин соответствует ожидаемому размеру продукта.</a:t>
            </a:r>
          </a:p>
          <a:p>
            <a:pPr marL="342900" indent="-342900" algn="just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Сконструированные праймеры пригодны для анализа экспрессии гена TOP2A методом ПЦР.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00" name="Заголовок"/>
          <p:cNvSpPr txBox="1"/>
          <p:nvPr/>
        </p:nvSpPr>
        <p:spPr>
          <a:xfrm>
            <a:off x="839470" y="431075"/>
            <a:ext cx="9658350" cy="54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ПЦР в реальном времени: кривая плавления и выводы</a:t>
            </a:r>
          </a:p>
        </p:txBody>
      </p:sp>
      <p:pic>
        <p:nvPicPr>
          <p:cNvPr id="150" name="Рисунок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00" y="1678125"/>
            <a:ext cx="5750000" cy="359375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151" name="подпись"/>
          <p:cNvSpPr txBox="1"/>
          <p:nvPr/>
        </p:nvSpPr>
        <p:spPr>
          <a:xfrm>
            <a:off x="650000" y="5690000"/>
            <a:ext cx="5750000" cy="5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altLang="en-US" sz="130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— кривая плавления продукта ПЦР в реальном времени</a:t>
            </a:r>
          </a:p>
        </p:txBody>
      </p:sp>
      <p:sp>
        <p:nvSpPr>
          <p:cNvPr id="152" name="текст"/>
          <p:cNvSpPr txBox="1"/>
          <p:nvPr/>
        </p:nvSpPr>
        <p:spPr>
          <a:xfrm>
            <a:off x="6650000" y="1320000"/>
            <a:ext cx="4900000" cy="4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just">
              <a:spcBef>
                <a:spcPts val="300"/>
              </a:spcBef>
              <a:buNone/>
            </a:pPr>
            <a:r>
              <a:rPr lang="ru-RU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кривой плавления продукта ПЦР-РВ.</a:t>
            </a:r>
          </a:p>
          <a:p>
            <a:pPr marL="342900" indent="-342900" algn="just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Единственный пик плавления подтверждает образование одного специфического продукта без побочных структур.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altLang="en-US" sz="17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Выводы:</a:t>
            </a:r>
          </a:p>
          <a:p>
            <a:pPr marL="342900" indent="-342900" algn="just">
              <a:spcBef>
                <a:spcPts val="160"/>
              </a:spcBef>
              <a:buFont typeface="Arial" panose="020B0604020202020204" pitchFamily="34" charset="0"/>
              <a:buChar char="•"/>
            </a:pPr>
            <a:r>
              <a:rPr lang="ru-RU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подобраны и синтезированы специфичные праймеры к гену TOP2;</a:t>
            </a:r>
          </a:p>
          <a:p>
            <a:pPr marL="342900" indent="-342900" algn="just">
              <a:spcBef>
                <a:spcPts val="160"/>
              </a:spcBef>
              <a:buFont typeface="Arial" panose="020B0604020202020204" pitchFamily="34" charset="0"/>
              <a:buChar char="•"/>
            </a:pPr>
            <a:r>
              <a:rPr lang="ru-RU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их пригодность подтверждена электрофорезом и кривой плавления;</a:t>
            </a:r>
          </a:p>
          <a:p>
            <a:pPr marL="342900" indent="-342900" algn="just">
              <a:spcBef>
                <a:spcPts val="160"/>
              </a:spcBef>
              <a:buFont typeface="Arial" panose="020B0604020202020204" pitchFamily="34" charset="0"/>
              <a:buChar char="•"/>
            </a:pPr>
            <a:r>
              <a:rPr lang="ru-RU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отработан алгоритм анализа экспрессии гена TOP2 методом ПЦР.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6773" y="455526"/>
            <a:ext cx="929386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3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Результаты и выводы</a:t>
            </a:r>
            <a:br>
              <a:rPr lang="ru-RU" sz="3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44851" y="2922319"/>
            <a:ext cx="4884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5301</Words>
  <Application>WPS Presentation</Application>
  <PresentationFormat>Широкоэкранный</PresentationFormat>
  <Paragraphs>187</Paragraphs>
  <Slides>17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43" baseType="lpstr">
      <vt:lpstr>Arial</vt:lpstr>
      <vt:lpstr>SimSun</vt:lpstr>
      <vt:lpstr>Wingdings</vt:lpstr>
      <vt:lpstr>Times New Roman</vt:lpstr>
      <vt:lpstr>Times New Roman</vt:lpstr>
      <vt:lpstr>Calibri</vt:lpstr>
      <vt:lpstr>Calibri Light</vt:lpstr>
      <vt:lpstr>Microsoft YaHei</vt:lpstr>
      <vt:lpstr>Arial Unicode MS</vt:lpstr>
      <vt:lpstr>Arial Narrow</vt:lpstr>
      <vt:lpstr>Bahnschrift Light</vt:lpstr>
      <vt:lpstr>Bahnschrift SemiBold SemiCondensed</vt:lpstr>
      <vt:lpstr>Showcard Gothic</vt:lpstr>
      <vt:lpstr>Segoe UI Symbol</vt:lpstr>
      <vt:lpstr>SimSun-ExtB</vt:lpstr>
      <vt:lpstr>Tw Cen MT Condensed</vt:lpstr>
      <vt:lpstr>Tw Cen MT</vt:lpstr>
      <vt:lpstr>Tempus Sans ITC</vt:lpstr>
      <vt:lpstr>Snap ITC</vt:lpstr>
      <vt:lpstr>Symbol</vt:lpstr>
      <vt:lpstr>Google Sans Text</vt:lpstr>
      <vt:lpstr>Segoe Print</vt:lpstr>
      <vt:lpstr>Merriweather</vt:lpstr>
      <vt:lpstr>DM Sans</vt:lpstr>
      <vt:lpstr>Тема Office</vt:lpstr>
      <vt:lpstr>1_Тема Office</vt:lpstr>
      <vt:lpstr>Филиал ФГБОУ ВО «Российский химико-технологический университет  имени Д. И. Менделеева» в г. Ташкенте (Республика Узбекистан) Кафедра технологии органических веществ </vt:lpstr>
      <vt:lpstr>PowerPoint 演示文稿</vt:lpstr>
      <vt:lpstr>Цели и задачи работы</vt:lpstr>
      <vt:lpstr>Ген CASP3</vt:lpstr>
      <vt:lpstr>Проектирование и термодинамический анализ праймеров</vt:lpstr>
      <vt:lpstr>Проектирование и термодинамический анализ праймеров </vt:lpstr>
      <vt:lpstr>PowerPoint 演示文稿</vt:lpstr>
      <vt:lpstr>PowerPoint 演示文稿</vt:lpstr>
      <vt:lpstr>PowerPoint 演示文稿</vt:lpstr>
      <vt:lpstr>Постсинтетическая обработка праймеров</vt:lpstr>
      <vt:lpstr>PowerPoint 演示文稿</vt:lpstr>
      <vt:lpstr>PowerPoint 演示文稿</vt:lpstr>
      <vt:lpstr>Контроль качества синтеза</vt:lpstr>
      <vt:lpstr>PowerPoint 演示文稿</vt:lpstr>
      <vt:lpstr>PowerPoint 演示文稿</vt:lpstr>
      <vt:lpstr>Результаты и выводы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My_ASUS</cp:lastModifiedBy>
  <cp:revision>175</cp:revision>
  <dcterms:created xsi:type="dcterms:W3CDTF">2023-04-07T08:58:00Z</dcterms:created>
  <dcterms:modified xsi:type="dcterms:W3CDTF">2026-05-19T07:39:29Z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2022-06-29T20:00:00Z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2023-04-07T20:00:00Z</vt:filetime>
  </property>
  <property fmtid="{D5CDD505-2E9C-101B-9397-08002B2CF9AE}" pid="5" name="ICV">
    <vt:lpwstr>AFCFEC5F4B51486DA8735485E1041B71_13</vt:lpwstr>
  </property>
  <property fmtid="{D5CDD505-2E9C-101B-9397-08002B2CF9AE}" pid="6" name="KSOProductBuildVer">
    <vt:lpwstr>1049-12.1.0.26372</vt:lpwstr>
  </property>
</Properties>
</file>