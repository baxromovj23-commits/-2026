
<file path=[Content_Types].xml><?xml version="1.0" encoding="utf-8"?>
<Types xmlns="http://schemas.openxmlformats.org/package/2006/content-types">
  <Default Extension="png" ContentType="image/png"/>
  <Default Extension="jpg" ContentType="image/jpeg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  <p:sldMasterId id="2147483660" r:id="rId3"/>
  </p:sldMasterIdLst>
  <p:notesMasterIdLst>
    <p:notesMasterId r:id="rId5"/>
  </p:notesMasterIdLst>
  <p:sldIdLst>
    <p:sldId id="256" r:id="rId4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</p:sldIdLst>
  <p:sldSz cx="12192000" cy="6858000"/>
  <p:notesSz cx="12192000" cy="6858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2F19ED9A-94F4-4BA7-B6DF-F4DB02A1F1B8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847" userDrawn="1">
          <p15:clr>
            <a:srgbClr val="A4A3A4"/>
          </p15:clr>
        </p15:guide>
        <p15:guide id="2" pos="2172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Пользователь" initials="П" lastIdx="2" clrIdx="0"/>
  <p:cmAuthor id="2" name="Dilfuza Karshieva" initials="DK" lastIdx="1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14BCB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浅色样式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838" autoAdjust="0"/>
    <p:restoredTop sz="90828" autoAdjust="0"/>
  </p:normalViewPr>
  <p:slideViewPr>
    <p:cSldViewPr showGuides="1">
      <p:cViewPr varScale="1">
        <p:scale>
          <a:sx n="85" d="100"/>
          <a:sy n="85" d="100"/>
        </p:scale>
        <p:origin x="600" y="62"/>
      </p:cViewPr>
      <p:guideLst>
        <p:guide orient="horz" pos="2847"/>
        <p:guide pos="2172"/>
      </p:guideLst>
    </p:cSldViewPr>
  </p:slideViewPr>
  <p:notesTextViewPr>
    <p:cViewPr>
      <p:scale>
        <a:sx n="125" d="100"/>
        <a:sy n="12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5" Type="http://schemas.openxmlformats.org/officeDocument/2006/relationships/notesMaster" Target="notesMasters/notesMaster1.xml"/><Relationship Id="rId3" Type="http://schemas.openxmlformats.org/officeDocument/2006/relationships/slideMaster" Target="slideMasters/slideMaster2.xml"/><Relationship Id="rId25" Type="http://schemas.openxmlformats.org/officeDocument/2006/relationships/commentAuthors" Target="commentAuthors.xml"/><Relationship Id="rId24" Type="http://schemas.openxmlformats.org/officeDocument/2006/relationships/tableStyles" Target="tableStyles.xml"/><Relationship Id="rId23" Type="http://schemas.openxmlformats.org/officeDocument/2006/relationships/viewProps" Target="viewProps.xml"/><Relationship Id="rId22" Type="http://schemas.openxmlformats.org/officeDocument/2006/relationships/presProps" Target="presProps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4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1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5B4FFD-61F7-4202-B365-ECF366089423}" type="datetimeFigureOut">
              <a:rPr lang="ru-RU" smtClean="0"/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58F06F7-D206-48F6-B1C4-440AAB7C6AE8}" type="slidenum">
              <a:rPr lang="ru-RU" smtClean="0"/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Добрый день, уважаемые члены Государственной аттестационной комиссии!</a:t>
            </a:r>
          </a:p>
          <a:p>
            <a:r>
              <a:rPr lang="ru-RU" dirty="0"/>
              <a:t>Меня зовут Бахромов Жавохир. Вашему вниманию представляется выпускная квалификационная работа бакалавра на тему: «Синтез олигонуклеотидов для изучения экспрессии человеческого гена TOP2 методом полимеразной цепной реакции».</a:t>
            </a:r>
          </a:p>
          <a:p>
            <a:r>
              <a:rPr lang="ru-RU" dirty="0"/>
              <a:t>Прежде чем перейти к цели и задачам, позвольте показать, почему изучение топоизомеразы II, кодируемой геном TOP2, действительно важно для науки и медицины.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8F06F7-D206-48F6-B1C4-440AAB7C6AE8}" type="slidenum">
              <a:rPr lang="ru-RU" smtClean="0"/>
            </a:fld>
            <a:endParaRPr lang="ru-RU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8F06F7-D206-48F6-B1C4-440AAB7C6AE8}" type="slidenum">
              <a:rPr lang="ru-RU" smtClean="0"/>
            </a:fld>
            <a:endParaRPr lang="ru-RU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Здесь можем увидеть в каком количестве содержатся компоненты зубной пасты. И в большем количестве содержится абразивы вода и </a:t>
            </a:r>
            <a:r>
              <a:rPr lang="ru-RU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влагоудерживающее</a:t>
            </a:r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вещество.</a:t>
            </a:r>
            <a:endParaRPr lang="ru-RU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8F06F7-D206-48F6-B1C4-440AAB7C6AE8}" type="slidenum">
              <a:rPr lang="ru-RU" smtClean="0"/>
            </a:fld>
            <a:endParaRPr lang="ru-RU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8F06F7-D206-48F6-B1C4-440AAB7C6AE8}" type="slidenum">
              <a:rPr lang="ru-RU" smtClean="0"/>
            </a:fld>
            <a:endParaRPr lang="ru-RU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8F06F7-D206-48F6-B1C4-440AAB7C6AE8}" type="slidenum">
              <a:rPr lang="ru-RU" smtClean="0"/>
            </a:fld>
            <a:endParaRPr lang="ru-RU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8F06F7-D206-48F6-B1C4-440AAB7C6AE8}" type="slidenum">
              <a:rPr lang="ru-RU" smtClean="0"/>
            </a:fld>
            <a:endParaRPr lang="ru-RU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8F06F7-D206-48F6-B1C4-440AAB7C6AE8}" type="slidenum">
              <a:rPr lang="ru-RU" smtClean="0"/>
            </a:fld>
            <a:endParaRPr lang="ru-RU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8F06F7-D206-48F6-B1C4-440AAB7C6AE8}" type="slidenum">
              <a:rPr lang="ru-RU" smtClean="0"/>
            </a:fld>
            <a:endParaRPr lang="ru-RU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8F06F7-D206-48F6-B1C4-440AAB7C6AE8}" type="slidenum">
              <a:rPr lang="ru-RU" smtClean="0"/>
            </a:fld>
            <a:endParaRPr lang="ru-RU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8F06F7-D206-48F6-B1C4-440AAB7C6AE8}" type="slidenum">
              <a:rPr lang="ru-RU" smtClean="0"/>
            </a:fld>
            <a:endParaRPr 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8F06F7-D206-48F6-B1C4-440AAB7C6AE8}" type="slidenum">
              <a:rPr lang="ru-RU" smtClean="0"/>
            </a:fld>
            <a:endParaRPr lang="ru-RU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8F06F7-D206-48F6-B1C4-440AAB7C6AE8}" type="slidenum">
              <a:rPr lang="ru-RU" smtClean="0"/>
            </a:fld>
            <a:endParaRPr lang="ru-RU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8F06F7-D206-48F6-B1C4-440AAB7C6AE8}" type="slidenum">
              <a:rPr lang="ru-RU" smtClean="0"/>
            </a:fld>
            <a:endParaRPr lang="ru-RU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8F06F7-D206-48F6-B1C4-440AAB7C6AE8}" type="slidenum">
              <a:rPr lang="ru-RU" smtClean="0"/>
            </a:fld>
            <a:endParaRPr lang="ru-RU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8F06F7-D206-48F6-B1C4-440AAB7C6AE8}" type="slidenum">
              <a:rPr lang="ru-RU" smtClean="0"/>
            </a:fld>
            <a:endParaRPr lang="ru-RU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A4FF8-A565-4FF8-A65C-A81F7B749826}" type="datetime1">
              <a:rPr lang="en-US" smtClean="0"/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ts val="2145"/>
              </a:lnSpc>
            </a:pPr>
            <a:fld id="{81D60167-4931-47E6-BA6A-407CBD079E47}" type="slidenum">
              <a:rPr lang="ru-RU" smtClean="0"/>
            </a:fld>
            <a:endParaRPr lang="ru-RU" dirty="0"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A4FF8-A565-4FF8-A65C-A81F7B749826}" type="datetime1">
              <a:rPr lang="en-US" smtClean="0"/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ts val="2145"/>
              </a:lnSpc>
            </a:pPr>
            <a:fld id="{81D60167-4931-47E6-BA6A-407CBD079E47}" type="slidenum">
              <a:rPr lang="ru-RU" smtClean="0"/>
            </a:fld>
            <a:endParaRPr lang="ru-RU" dirty="0"/>
          </a:p>
        </p:txBody>
      </p:sp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A4FF8-A565-4FF8-A65C-A81F7B749826}" type="datetime1">
              <a:rPr lang="en-US" smtClean="0"/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ts val="2145"/>
              </a:lnSpc>
            </a:pPr>
            <a:fld id="{81D60167-4931-47E6-BA6A-407CBD079E47}" type="slidenum">
              <a:rPr lang="ru-RU" smtClean="0"/>
            </a:fld>
            <a:endParaRPr lang="ru-RU" dirty="0"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A4FF8-A565-4FF8-A65C-A81F7B749826}" type="datetime1">
              <a:rPr lang="en-US" smtClean="0"/>
            </a:fld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ts val="2145"/>
              </a:lnSpc>
            </a:pPr>
            <a:fld id="{81D60167-4931-47E6-BA6A-407CBD079E47}" type="slidenum">
              <a:rPr lang="ru-RU" smtClean="0"/>
            </a:fld>
            <a:endParaRPr lang="ru-RU" dirty="0"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A4FF8-A565-4FF8-A65C-A81F7B749826}" type="datetime1">
              <a:rPr lang="en-US" smtClean="0"/>
            </a:fld>
            <a:endParaRPr lang="en-US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ts val="2145"/>
              </a:lnSpc>
            </a:pPr>
            <a:fld id="{81D60167-4931-47E6-BA6A-407CBD079E47}" type="slidenum">
              <a:rPr lang="ru-RU" smtClean="0"/>
            </a:fld>
            <a:endParaRPr lang="ru-RU" dirty="0"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A4FF8-A565-4FF8-A65C-A81F7B749826}" type="datetime1">
              <a:rPr lang="en-US" smtClean="0"/>
            </a:fld>
            <a:endParaRPr lang="en-US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ts val="2145"/>
              </a:lnSpc>
            </a:pPr>
            <a:fld id="{81D60167-4931-47E6-BA6A-407CBD079E47}" type="slidenum">
              <a:rPr lang="ru-RU" smtClean="0"/>
            </a:fld>
            <a:endParaRPr lang="ru-RU" dirty="0"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57C5B5-A978-413E-869A-D2AF762449D2}" type="datetime1">
              <a:rPr lang="ru-RU" smtClean="0"/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8755E7-C9BC-4974-B79B-6106A35FC055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A4FF8-A565-4FF8-A65C-A81F7B749826}" type="datetime1">
              <a:rPr lang="en-US" smtClean="0"/>
            </a:fld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ts val="2145"/>
              </a:lnSpc>
            </a:pPr>
            <a:fld id="{81D60167-4931-47E6-BA6A-407CBD079E47}" type="slidenum">
              <a:rPr lang="ru-RU" smtClean="0"/>
            </a:fld>
            <a:endParaRPr lang="ru-RU" dirty="0"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A4FF8-A565-4FF8-A65C-A81F7B749826}" type="datetime1">
              <a:rPr lang="en-US" smtClean="0"/>
            </a:fld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ts val="2145"/>
              </a:lnSpc>
            </a:pPr>
            <a:fld id="{81D60167-4931-47E6-BA6A-407CBD079E47}" type="slidenum">
              <a:rPr lang="ru-RU" smtClean="0"/>
            </a:fld>
            <a:endParaRPr lang="ru-RU" dirty="0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A4FF8-A565-4FF8-A65C-A81F7B749826}" type="datetime1">
              <a:rPr lang="en-US" smtClean="0"/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ts val="2145"/>
              </a:lnSpc>
            </a:pPr>
            <a:fld id="{81D60167-4931-47E6-BA6A-407CBD079E47}" type="slidenum">
              <a:rPr lang="ru-RU" smtClean="0"/>
            </a:fld>
            <a:endParaRPr lang="ru-RU" dirty="0"/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A4FF8-A565-4FF8-A65C-A81F7B749826}" type="datetime1">
              <a:rPr lang="en-US" smtClean="0"/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ts val="2145"/>
              </a:lnSpc>
            </a:pPr>
            <a:fld id="{81D60167-4931-47E6-BA6A-407CBD079E47}" type="slidenum">
              <a:rPr lang="ru-RU" smtClean="0"/>
            </a:fld>
            <a:endParaRPr lang="ru-RU" dirty="0"/>
          </a:p>
        </p:txBody>
      </p:sp>
    </p:spTree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A4FF8-A565-4FF8-A65C-A81F7B749826}" type="datetime1">
              <a:rPr lang="en-US" smtClean="0"/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ts val="2145"/>
              </a:lnSpc>
            </a:pPr>
            <a:fld id="{81D60167-4931-47E6-BA6A-407CBD079E47}" type="slidenum">
              <a:rPr lang="ru-RU" smtClean="0"/>
            </a:fld>
            <a:endParaRPr lang="ru-RU" dirty="0"/>
          </a:p>
        </p:txBody>
      </p:sp>
    </p:spTree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A4FF8-A565-4FF8-A65C-A81F7B749826}" type="datetime1">
              <a:rPr lang="en-US" smtClean="0"/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ts val="2145"/>
              </a:lnSpc>
            </a:pPr>
            <a:fld id="{81D60167-4931-47E6-BA6A-407CBD079E47}" type="slidenum">
              <a:rPr lang="ru-RU" smtClean="0"/>
            </a:fld>
            <a:endParaRPr lang="ru-RU" dirty="0"/>
          </a:p>
        </p:txBody>
      </p:sp>
    </p:spTree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A4FF8-A565-4FF8-A65C-A81F7B749826}" type="datetime1">
              <a:rPr lang="en-US" smtClean="0"/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ts val="2145"/>
              </a:lnSpc>
            </a:pPr>
            <a:fld id="{81D60167-4931-47E6-BA6A-407CBD079E47}" type="slidenum">
              <a:rPr lang="ru-RU" smtClean="0"/>
            </a:fld>
            <a:endParaRPr lang="ru-RU" dirty="0"/>
          </a:p>
        </p:txBody>
      </p:sp>
    </p:spTree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A4FF8-A565-4FF8-A65C-A81F7B749826}" type="datetime1">
              <a:rPr lang="en-US" smtClean="0"/>
            </a:fld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ts val="2145"/>
              </a:lnSpc>
            </a:pPr>
            <a:fld id="{81D60167-4931-47E6-BA6A-407CBD079E47}" type="slidenum">
              <a:rPr lang="ru-RU" smtClean="0"/>
            </a:fld>
            <a:endParaRPr lang="ru-RU" dirty="0"/>
          </a:p>
        </p:txBody>
      </p:sp>
    </p:spTree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A4FF8-A565-4FF8-A65C-A81F7B749826}" type="datetime1">
              <a:rPr lang="en-US" smtClean="0"/>
            </a:fld>
            <a:endParaRPr lang="en-US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ts val="2145"/>
              </a:lnSpc>
            </a:pPr>
            <a:fld id="{81D60167-4931-47E6-BA6A-407CBD079E47}" type="slidenum">
              <a:rPr lang="ru-RU" smtClean="0"/>
            </a:fld>
            <a:endParaRPr lang="ru-RU" dirty="0"/>
          </a:p>
        </p:txBody>
      </p:sp>
    </p:spTree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A4FF8-A565-4FF8-A65C-A81F7B749826}" type="datetime1">
              <a:rPr lang="en-US" smtClean="0"/>
            </a:fld>
            <a:endParaRPr lang="en-US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ts val="2145"/>
              </a:lnSpc>
            </a:pPr>
            <a:fld id="{81D60167-4931-47E6-BA6A-407CBD079E47}" type="slidenum">
              <a:rPr lang="ru-RU" smtClean="0"/>
            </a:fld>
            <a:endParaRPr lang="ru-RU" dirty="0"/>
          </a:p>
        </p:txBody>
      </p:sp>
    </p:spTree>
  </p:cSld>
  <p:clrMapOvr>
    <a:masterClrMapping/>
  </p:clrMapOvr>
  <p:hf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57C5B5-A978-413E-869A-D2AF762449D2}" type="datetime1">
              <a:rPr lang="ru-RU" smtClean="0"/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8755E7-C9BC-4974-B79B-6106A35FC055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A4FF8-A565-4FF8-A65C-A81F7B749826}" type="datetime1">
              <a:rPr lang="en-US" smtClean="0"/>
            </a:fld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ts val="2145"/>
              </a:lnSpc>
            </a:pPr>
            <a:fld id="{81D60167-4931-47E6-BA6A-407CBD079E47}" type="slidenum">
              <a:rPr lang="ru-RU" smtClean="0"/>
            </a:fld>
            <a:endParaRPr lang="ru-RU" dirty="0"/>
          </a:p>
        </p:txBody>
      </p:sp>
    </p:spTree>
  </p:cSld>
  <p:clrMapOvr>
    <a:masterClrMapping/>
  </p:clrMapOvr>
  <p:hf hdr="0" ft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A4FF8-A565-4FF8-A65C-A81F7B749826}" type="datetime1">
              <a:rPr lang="en-US" smtClean="0"/>
            </a:fld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ts val="2145"/>
              </a:lnSpc>
            </a:pPr>
            <a:fld id="{81D60167-4931-47E6-BA6A-407CBD079E47}" type="slidenum">
              <a:rPr lang="ru-RU" smtClean="0"/>
            </a:fld>
            <a:endParaRPr lang="ru-RU" dirty="0"/>
          </a:p>
        </p:txBody>
      </p:sp>
    </p:spTree>
  </p:cSld>
  <p:clrMapOvr>
    <a:masterClrMapping/>
  </p:clrMapOvr>
  <p:hf hdr="0" ftr="0" dt="0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A4FF8-A565-4FF8-A65C-A81F7B749826}" type="datetime1">
              <a:rPr lang="en-US" smtClean="0"/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ts val="2145"/>
              </a:lnSpc>
            </a:pPr>
            <a:fld id="{81D60167-4931-47E6-BA6A-407CBD079E47}" type="slidenum">
              <a:rPr lang="ru-RU" smtClean="0"/>
            </a:fld>
            <a:endParaRPr lang="ru-RU" dirty="0"/>
          </a:p>
        </p:txBody>
      </p:sp>
    </p:spTree>
  </p:cSld>
  <p:clrMapOvr>
    <a:masterClrMapping/>
  </p:clrMapOvr>
  <p:hf hdr="0" ftr="0" dt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A4FF8-A565-4FF8-A65C-A81F7B749826}" type="datetime1">
              <a:rPr lang="en-US" smtClean="0"/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ts val="2145"/>
              </a:lnSpc>
            </a:pPr>
            <a:fld id="{81D60167-4931-47E6-BA6A-407CBD079E47}" type="slidenum">
              <a:rPr lang="ru-RU" smtClean="0"/>
            </a:fld>
            <a:endParaRPr lang="ru-RU" dirty="0"/>
          </a:p>
        </p:txBody>
      </p:sp>
    </p:spTree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0.xml"/><Relationship Id="rId8" Type="http://schemas.openxmlformats.org/officeDocument/2006/relationships/slideLayout" Target="../slideLayouts/slideLayout19.xml"/><Relationship Id="rId7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2" Type="http://schemas.openxmlformats.org/officeDocument/2006/relationships/theme" Target="../theme/theme2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CA4FF8-A565-4FF8-A65C-A81F7B749826}" type="datetime1">
              <a:rPr lang="en-US" smtClean="0"/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38100">
              <a:lnSpc>
                <a:spcPts val="2145"/>
              </a:lnSpc>
            </a:pPr>
            <a:fld id="{81D60167-4931-47E6-BA6A-407CBD079E47}" type="slidenum">
              <a:rPr lang="ru-RU" smtClean="0"/>
            </a:fld>
            <a:endParaRPr lang="ru-RU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CA4FF8-A565-4FF8-A65C-A81F7B749826}" type="datetime1">
              <a:rPr lang="en-US" smtClean="0"/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38100">
              <a:lnSpc>
                <a:spcPts val="2145"/>
              </a:lnSpc>
            </a:pPr>
            <a:fld id="{81D60167-4931-47E6-BA6A-407CBD079E47}" type="slidenum">
              <a:rPr lang="ru-RU" smtClean="0"/>
            </a:fld>
            <a:endParaRPr lang="ru-RU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.xml"/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3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4.xml"/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5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6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7.xml"/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8.xml"/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9.xml"/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0.xml"/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1.xml"/><Relationship Id="rId6" Type="http://schemas.openxmlformats.org/officeDocument/2006/relationships/slideLayout" Target="../slideLayouts/slideLayout13.xml"/><Relationship Id="rId5" Type="http://schemas.openxmlformats.org/officeDocument/2006/relationships/image" Target="../media/image11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2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Relationship Id="rId7" Type="http://schemas.openxmlformats.org/officeDocument/2006/relationships/image" Target="../media/imageGel1.jpg"/></Relationships>
</file>

<file path=ppt/slides/_rels/slide14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3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Relationship Id="rId7" Type="http://schemas.openxmlformats.org/officeDocument/2006/relationships/image" Target="../media/imageGel2.jpg"/></Relationships>
</file>

<file path=ppt/slides/_rels/slide15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4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Relationship Id="rId7" Type="http://schemas.openxmlformats.org/officeDocument/2006/relationships/image" Target="../media/imageMelt.jpg"/></Relationships>
</file>

<file path=ppt/slides/_rels/slide16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5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object 4"/>
          <p:cNvGrpSpPr/>
          <p:nvPr/>
        </p:nvGrpSpPr>
        <p:grpSpPr>
          <a:xfrm>
            <a:off x="10913388" y="236043"/>
            <a:ext cx="668655" cy="1195070"/>
            <a:chOff x="10913388" y="236043"/>
            <a:chExt cx="668655" cy="1195070"/>
          </a:xfrm>
        </p:grpSpPr>
        <p:sp>
          <p:nvSpPr>
            <p:cNvPr id="5" name="object 5"/>
            <p:cNvSpPr/>
            <p:nvPr/>
          </p:nvSpPr>
          <p:spPr>
            <a:xfrm>
              <a:off x="10913388" y="601685"/>
              <a:ext cx="668655" cy="829310"/>
            </a:xfrm>
            <a:custGeom>
              <a:avLst/>
              <a:gdLst/>
              <a:ahLst/>
              <a:cxnLst/>
              <a:rect l="l" t="t" r="r" b="b"/>
              <a:pathLst>
                <a:path w="668654" h="829310">
                  <a:moveTo>
                    <a:pt x="126245" y="651742"/>
                  </a:moveTo>
                  <a:lnTo>
                    <a:pt x="61660" y="651742"/>
                  </a:lnTo>
                  <a:lnTo>
                    <a:pt x="293695" y="785010"/>
                  </a:lnTo>
                  <a:lnTo>
                    <a:pt x="293695" y="788261"/>
                  </a:lnTo>
                  <a:lnTo>
                    <a:pt x="296840" y="803522"/>
                  </a:lnTo>
                  <a:lnTo>
                    <a:pt x="305461" y="816499"/>
                  </a:lnTo>
                  <a:lnTo>
                    <a:pt x="318342" y="825514"/>
                  </a:lnTo>
                  <a:lnTo>
                    <a:pt x="334264" y="828892"/>
                  </a:lnTo>
                  <a:lnTo>
                    <a:pt x="350186" y="825514"/>
                  </a:lnTo>
                  <a:lnTo>
                    <a:pt x="363065" y="816499"/>
                  </a:lnTo>
                  <a:lnTo>
                    <a:pt x="371685" y="803522"/>
                  </a:lnTo>
                  <a:lnTo>
                    <a:pt x="374828" y="788261"/>
                  </a:lnTo>
                  <a:lnTo>
                    <a:pt x="374828" y="785010"/>
                  </a:lnTo>
                  <a:lnTo>
                    <a:pt x="425403" y="755758"/>
                  </a:lnTo>
                  <a:lnTo>
                    <a:pt x="306680" y="755758"/>
                  </a:lnTo>
                  <a:lnTo>
                    <a:pt x="126245" y="651742"/>
                  </a:lnTo>
                  <a:close/>
                </a:path>
                <a:path w="668654" h="829310">
                  <a:moveTo>
                    <a:pt x="334061" y="747226"/>
                  </a:moveTo>
                  <a:lnTo>
                    <a:pt x="319838" y="749359"/>
                  </a:lnTo>
                  <a:lnTo>
                    <a:pt x="306680" y="755758"/>
                  </a:lnTo>
                  <a:lnTo>
                    <a:pt x="360223" y="755758"/>
                  </a:lnTo>
                  <a:lnTo>
                    <a:pt x="347979" y="749359"/>
                  </a:lnTo>
                  <a:lnTo>
                    <a:pt x="334061" y="747226"/>
                  </a:lnTo>
                  <a:close/>
                </a:path>
                <a:path w="668654" h="829310">
                  <a:moveTo>
                    <a:pt x="481925" y="0"/>
                  </a:moveTo>
                  <a:lnTo>
                    <a:pt x="466002" y="3149"/>
                  </a:lnTo>
                  <a:lnTo>
                    <a:pt x="453122" y="11786"/>
                  </a:lnTo>
                  <a:lnTo>
                    <a:pt x="444500" y="24690"/>
                  </a:lnTo>
                  <a:lnTo>
                    <a:pt x="441355" y="40645"/>
                  </a:lnTo>
                  <a:lnTo>
                    <a:pt x="443105" y="52421"/>
                  </a:lnTo>
                  <a:lnTo>
                    <a:pt x="448050" y="62990"/>
                  </a:lnTo>
                  <a:lnTo>
                    <a:pt x="455733" y="71738"/>
                  </a:lnTo>
                  <a:lnTo>
                    <a:pt x="465698" y="78054"/>
                  </a:lnTo>
                  <a:lnTo>
                    <a:pt x="465698" y="206407"/>
                  </a:lnTo>
                  <a:lnTo>
                    <a:pt x="587384" y="271461"/>
                  </a:lnTo>
                  <a:lnTo>
                    <a:pt x="587384" y="274697"/>
                  </a:lnTo>
                  <a:lnTo>
                    <a:pt x="585796" y="276288"/>
                  </a:lnTo>
                  <a:lnTo>
                    <a:pt x="585796" y="277933"/>
                  </a:lnTo>
                  <a:lnTo>
                    <a:pt x="587846" y="290887"/>
                  </a:lnTo>
                  <a:lnTo>
                    <a:pt x="593695" y="302316"/>
                  </a:lnTo>
                  <a:lnTo>
                    <a:pt x="602892" y="311306"/>
                  </a:lnTo>
                  <a:lnTo>
                    <a:pt x="614985" y="316944"/>
                  </a:lnTo>
                  <a:lnTo>
                    <a:pt x="614985" y="578603"/>
                  </a:lnTo>
                  <a:lnTo>
                    <a:pt x="602892" y="584928"/>
                  </a:lnTo>
                  <a:lnTo>
                    <a:pt x="593695" y="593842"/>
                  </a:lnTo>
                  <a:lnTo>
                    <a:pt x="587846" y="604889"/>
                  </a:lnTo>
                  <a:lnTo>
                    <a:pt x="585796" y="617614"/>
                  </a:lnTo>
                  <a:lnTo>
                    <a:pt x="585796" y="620861"/>
                  </a:lnTo>
                  <a:lnTo>
                    <a:pt x="587384" y="622484"/>
                  </a:lnTo>
                  <a:lnTo>
                    <a:pt x="587384" y="625737"/>
                  </a:lnTo>
                  <a:lnTo>
                    <a:pt x="360223" y="755758"/>
                  </a:lnTo>
                  <a:lnTo>
                    <a:pt x="425403" y="755758"/>
                  </a:lnTo>
                  <a:lnTo>
                    <a:pt x="605237" y="651742"/>
                  </a:lnTo>
                  <a:lnTo>
                    <a:pt x="648894" y="651742"/>
                  </a:lnTo>
                  <a:lnTo>
                    <a:pt x="656777" y="646460"/>
                  </a:lnTo>
                  <a:lnTo>
                    <a:pt x="665399" y="633561"/>
                  </a:lnTo>
                  <a:lnTo>
                    <a:pt x="668544" y="617614"/>
                  </a:lnTo>
                  <a:lnTo>
                    <a:pt x="667074" y="606997"/>
                  </a:lnTo>
                  <a:lnTo>
                    <a:pt x="662862" y="597295"/>
                  </a:lnTo>
                  <a:lnTo>
                    <a:pt x="656207" y="588813"/>
                  </a:lnTo>
                  <a:lnTo>
                    <a:pt x="647405" y="581856"/>
                  </a:lnTo>
                  <a:lnTo>
                    <a:pt x="647405" y="313691"/>
                  </a:lnTo>
                  <a:lnTo>
                    <a:pt x="656207" y="307648"/>
                  </a:lnTo>
                  <a:lnTo>
                    <a:pt x="662862" y="299471"/>
                  </a:lnTo>
                  <a:lnTo>
                    <a:pt x="667074" y="289465"/>
                  </a:lnTo>
                  <a:lnTo>
                    <a:pt x="668544" y="277933"/>
                  </a:lnTo>
                  <a:lnTo>
                    <a:pt x="665399" y="261979"/>
                  </a:lnTo>
                  <a:lnTo>
                    <a:pt x="656777" y="249074"/>
                  </a:lnTo>
                  <a:lnTo>
                    <a:pt x="648931" y="243815"/>
                  </a:lnTo>
                  <a:lnTo>
                    <a:pt x="605237" y="243815"/>
                  </a:lnTo>
                  <a:lnTo>
                    <a:pt x="498151" y="186934"/>
                  </a:lnTo>
                  <a:lnTo>
                    <a:pt x="498151" y="78054"/>
                  </a:lnTo>
                  <a:lnTo>
                    <a:pt x="508113" y="71738"/>
                  </a:lnTo>
                  <a:lnTo>
                    <a:pt x="515795" y="62990"/>
                  </a:lnTo>
                  <a:lnTo>
                    <a:pt x="520739" y="52421"/>
                  </a:lnTo>
                  <a:lnTo>
                    <a:pt x="522488" y="40645"/>
                  </a:lnTo>
                  <a:lnTo>
                    <a:pt x="519345" y="24690"/>
                  </a:lnTo>
                  <a:lnTo>
                    <a:pt x="510725" y="11786"/>
                  </a:lnTo>
                  <a:lnTo>
                    <a:pt x="497846" y="3149"/>
                  </a:lnTo>
                  <a:lnTo>
                    <a:pt x="481925" y="0"/>
                  </a:lnTo>
                  <a:close/>
                </a:path>
                <a:path w="668654" h="829310">
                  <a:moveTo>
                    <a:pt x="48679" y="237288"/>
                  </a:moveTo>
                  <a:lnTo>
                    <a:pt x="40566" y="237288"/>
                  </a:lnTo>
                  <a:lnTo>
                    <a:pt x="24644" y="240438"/>
                  </a:lnTo>
                  <a:lnTo>
                    <a:pt x="11764" y="249074"/>
                  </a:lnTo>
                  <a:lnTo>
                    <a:pt x="3143" y="261979"/>
                  </a:lnTo>
                  <a:lnTo>
                    <a:pt x="0" y="277933"/>
                  </a:lnTo>
                  <a:lnTo>
                    <a:pt x="1470" y="289491"/>
                  </a:lnTo>
                  <a:lnTo>
                    <a:pt x="5679" y="299674"/>
                  </a:lnTo>
                  <a:lnTo>
                    <a:pt x="12322" y="308333"/>
                  </a:lnTo>
                  <a:lnTo>
                    <a:pt x="21095" y="315315"/>
                  </a:lnTo>
                  <a:lnTo>
                    <a:pt x="21095" y="581856"/>
                  </a:lnTo>
                  <a:lnTo>
                    <a:pt x="12322" y="588128"/>
                  </a:lnTo>
                  <a:lnTo>
                    <a:pt x="5679" y="596686"/>
                  </a:lnTo>
                  <a:lnTo>
                    <a:pt x="1470" y="606769"/>
                  </a:lnTo>
                  <a:lnTo>
                    <a:pt x="0" y="617614"/>
                  </a:lnTo>
                  <a:lnTo>
                    <a:pt x="3143" y="633561"/>
                  </a:lnTo>
                  <a:lnTo>
                    <a:pt x="11764" y="646460"/>
                  </a:lnTo>
                  <a:lnTo>
                    <a:pt x="24644" y="655094"/>
                  </a:lnTo>
                  <a:lnTo>
                    <a:pt x="40566" y="658242"/>
                  </a:lnTo>
                  <a:lnTo>
                    <a:pt x="48679" y="658242"/>
                  </a:lnTo>
                  <a:lnTo>
                    <a:pt x="55171" y="656619"/>
                  </a:lnTo>
                  <a:lnTo>
                    <a:pt x="61660" y="651742"/>
                  </a:lnTo>
                  <a:lnTo>
                    <a:pt x="126245" y="651742"/>
                  </a:lnTo>
                  <a:lnTo>
                    <a:pt x="81134" y="625737"/>
                  </a:lnTo>
                  <a:lnTo>
                    <a:pt x="81134" y="617614"/>
                  </a:lnTo>
                  <a:lnTo>
                    <a:pt x="79106" y="604889"/>
                  </a:lnTo>
                  <a:lnTo>
                    <a:pt x="73426" y="593842"/>
                  </a:lnTo>
                  <a:lnTo>
                    <a:pt x="64703" y="584928"/>
                  </a:lnTo>
                  <a:lnTo>
                    <a:pt x="53544" y="578603"/>
                  </a:lnTo>
                  <a:lnTo>
                    <a:pt x="53544" y="316944"/>
                  </a:lnTo>
                  <a:lnTo>
                    <a:pt x="64703" y="310621"/>
                  </a:lnTo>
                  <a:lnTo>
                    <a:pt x="73426" y="301707"/>
                  </a:lnTo>
                  <a:lnTo>
                    <a:pt x="79106" y="290658"/>
                  </a:lnTo>
                  <a:lnTo>
                    <a:pt x="81134" y="277933"/>
                  </a:lnTo>
                  <a:lnTo>
                    <a:pt x="81134" y="276288"/>
                  </a:lnTo>
                  <a:lnTo>
                    <a:pt x="79508" y="274697"/>
                  </a:lnTo>
                  <a:lnTo>
                    <a:pt x="79508" y="271461"/>
                  </a:lnTo>
                  <a:lnTo>
                    <a:pt x="130664" y="243815"/>
                  </a:lnTo>
                  <a:lnTo>
                    <a:pt x="61660" y="243815"/>
                  </a:lnTo>
                  <a:lnTo>
                    <a:pt x="48679" y="237288"/>
                  </a:lnTo>
                  <a:close/>
                </a:path>
                <a:path w="668654" h="829310">
                  <a:moveTo>
                    <a:pt x="648894" y="651742"/>
                  </a:moveTo>
                  <a:lnTo>
                    <a:pt x="605237" y="651742"/>
                  </a:lnTo>
                  <a:lnTo>
                    <a:pt x="611754" y="656619"/>
                  </a:lnTo>
                  <a:lnTo>
                    <a:pt x="619859" y="658242"/>
                  </a:lnTo>
                  <a:lnTo>
                    <a:pt x="627964" y="658242"/>
                  </a:lnTo>
                  <a:lnTo>
                    <a:pt x="643893" y="655094"/>
                  </a:lnTo>
                  <a:lnTo>
                    <a:pt x="648894" y="651742"/>
                  </a:lnTo>
                  <a:close/>
                </a:path>
                <a:path w="668654" h="829310">
                  <a:moveTo>
                    <a:pt x="186604" y="0"/>
                  </a:moveTo>
                  <a:lnTo>
                    <a:pt x="170682" y="3149"/>
                  </a:lnTo>
                  <a:lnTo>
                    <a:pt x="157801" y="11786"/>
                  </a:lnTo>
                  <a:lnTo>
                    <a:pt x="149179" y="24690"/>
                  </a:lnTo>
                  <a:lnTo>
                    <a:pt x="146035" y="40645"/>
                  </a:lnTo>
                  <a:lnTo>
                    <a:pt x="147785" y="52421"/>
                  </a:lnTo>
                  <a:lnTo>
                    <a:pt x="152729" y="62990"/>
                  </a:lnTo>
                  <a:lnTo>
                    <a:pt x="160412" y="71738"/>
                  </a:lnTo>
                  <a:lnTo>
                    <a:pt x="170378" y="78054"/>
                  </a:lnTo>
                  <a:lnTo>
                    <a:pt x="170378" y="185289"/>
                  </a:lnTo>
                  <a:lnTo>
                    <a:pt x="61660" y="243815"/>
                  </a:lnTo>
                  <a:lnTo>
                    <a:pt x="130664" y="243815"/>
                  </a:lnTo>
                  <a:lnTo>
                    <a:pt x="202831" y="204816"/>
                  </a:lnTo>
                  <a:lnTo>
                    <a:pt x="202831" y="78054"/>
                  </a:lnTo>
                  <a:lnTo>
                    <a:pt x="212795" y="71738"/>
                  </a:lnTo>
                  <a:lnTo>
                    <a:pt x="220476" y="62990"/>
                  </a:lnTo>
                  <a:lnTo>
                    <a:pt x="225419" y="52421"/>
                  </a:lnTo>
                  <a:lnTo>
                    <a:pt x="227168" y="40645"/>
                  </a:lnTo>
                  <a:lnTo>
                    <a:pt x="224024" y="24690"/>
                  </a:lnTo>
                  <a:lnTo>
                    <a:pt x="215405" y="11786"/>
                  </a:lnTo>
                  <a:lnTo>
                    <a:pt x="202526" y="3149"/>
                  </a:lnTo>
                  <a:lnTo>
                    <a:pt x="186604" y="0"/>
                  </a:lnTo>
                  <a:close/>
                </a:path>
                <a:path w="668654" h="829310">
                  <a:moveTo>
                    <a:pt x="627964" y="237288"/>
                  </a:moveTo>
                  <a:lnTo>
                    <a:pt x="619859" y="237288"/>
                  </a:lnTo>
                  <a:lnTo>
                    <a:pt x="611754" y="240579"/>
                  </a:lnTo>
                  <a:lnTo>
                    <a:pt x="605237" y="243815"/>
                  </a:lnTo>
                  <a:lnTo>
                    <a:pt x="648931" y="243815"/>
                  </a:lnTo>
                  <a:lnTo>
                    <a:pt x="643893" y="240438"/>
                  </a:lnTo>
                  <a:lnTo>
                    <a:pt x="627964" y="237288"/>
                  </a:lnTo>
                  <a:close/>
                </a:path>
              </a:pathLst>
            </a:custGeom>
            <a:solidFill>
              <a:srgbClr val="1D70B8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6" name="object 6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11164899" y="466804"/>
              <a:ext cx="115207" cy="115408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1195725" y="236043"/>
              <a:ext cx="79511" cy="79644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1293085" y="336806"/>
              <a:ext cx="95738" cy="95880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1150293" y="954381"/>
              <a:ext cx="193092" cy="203154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11054555" y="855264"/>
              <a:ext cx="386080" cy="388620"/>
            </a:xfrm>
            <a:custGeom>
              <a:avLst/>
              <a:gdLst/>
              <a:ahLst/>
              <a:cxnLst/>
              <a:rect l="l" t="t" r="r" b="b"/>
              <a:pathLst>
                <a:path w="386079" h="388619">
                  <a:moveTo>
                    <a:pt x="193097" y="0"/>
                  </a:moveTo>
                  <a:lnTo>
                    <a:pt x="148680" y="5173"/>
                  </a:lnTo>
                  <a:lnTo>
                    <a:pt x="107980" y="19896"/>
                  </a:lnTo>
                  <a:lnTo>
                    <a:pt x="72135" y="42977"/>
                  </a:lnTo>
                  <a:lnTo>
                    <a:pt x="42279" y="73222"/>
                  </a:lnTo>
                  <a:lnTo>
                    <a:pt x="19547" y="109438"/>
                  </a:lnTo>
                  <a:lnTo>
                    <a:pt x="5076" y="150431"/>
                  </a:lnTo>
                  <a:lnTo>
                    <a:pt x="0" y="195008"/>
                  </a:lnTo>
                  <a:lnTo>
                    <a:pt x="5076" y="238984"/>
                  </a:lnTo>
                  <a:lnTo>
                    <a:pt x="19547" y="279548"/>
                  </a:lnTo>
                  <a:lnTo>
                    <a:pt x="42279" y="315478"/>
                  </a:lnTo>
                  <a:lnTo>
                    <a:pt x="72135" y="345552"/>
                  </a:lnTo>
                  <a:lnTo>
                    <a:pt x="107980" y="368547"/>
                  </a:lnTo>
                  <a:lnTo>
                    <a:pt x="148680" y="383241"/>
                  </a:lnTo>
                  <a:lnTo>
                    <a:pt x="193097" y="388410"/>
                  </a:lnTo>
                  <a:lnTo>
                    <a:pt x="224080" y="385059"/>
                  </a:lnTo>
                  <a:lnTo>
                    <a:pt x="253541" y="377440"/>
                  </a:lnTo>
                  <a:lnTo>
                    <a:pt x="281175" y="365555"/>
                  </a:lnTo>
                  <a:lnTo>
                    <a:pt x="296414" y="355905"/>
                  </a:lnTo>
                  <a:lnTo>
                    <a:pt x="193097" y="355905"/>
                  </a:lnTo>
                  <a:lnTo>
                    <a:pt x="150090" y="350081"/>
                  </a:lnTo>
                  <a:lnTo>
                    <a:pt x="111365" y="333694"/>
                  </a:lnTo>
                  <a:lnTo>
                    <a:pt x="78498" y="308368"/>
                  </a:lnTo>
                  <a:lnTo>
                    <a:pt x="53069" y="275728"/>
                  </a:lnTo>
                  <a:lnTo>
                    <a:pt x="36654" y="237400"/>
                  </a:lnTo>
                  <a:lnTo>
                    <a:pt x="30832" y="195008"/>
                  </a:lnTo>
                  <a:lnTo>
                    <a:pt x="36654" y="151930"/>
                  </a:lnTo>
                  <a:lnTo>
                    <a:pt x="53069" y="113140"/>
                  </a:lnTo>
                  <a:lnTo>
                    <a:pt x="78498" y="80218"/>
                  </a:lnTo>
                  <a:lnTo>
                    <a:pt x="111365" y="54746"/>
                  </a:lnTo>
                  <a:lnTo>
                    <a:pt x="150090" y="38304"/>
                  </a:lnTo>
                  <a:lnTo>
                    <a:pt x="193097" y="32472"/>
                  </a:lnTo>
                  <a:lnTo>
                    <a:pt x="326658" y="32472"/>
                  </a:lnTo>
                  <a:lnTo>
                    <a:pt x="324531" y="30881"/>
                  </a:lnTo>
                  <a:lnTo>
                    <a:pt x="295325" y="30881"/>
                  </a:lnTo>
                  <a:lnTo>
                    <a:pt x="271365" y="17818"/>
                  </a:lnTo>
                  <a:lnTo>
                    <a:pt x="246035" y="8118"/>
                  </a:lnTo>
                  <a:lnTo>
                    <a:pt x="219794" y="2079"/>
                  </a:lnTo>
                  <a:lnTo>
                    <a:pt x="193097" y="0"/>
                  </a:lnTo>
                  <a:close/>
                </a:path>
                <a:path w="386079" h="388619">
                  <a:moveTo>
                    <a:pt x="376453" y="162503"/>
                  </a:moveTo>
                  <a:lnTo>
                    <a:pt x="363474" y="162503"/>
                  </a:lnTo>
                  <a:lnTo>
                    <a:pt x="353737" y="172256"/>
                  </a:lnTo>
                  <a:lnTo>
                    <a:pt x="353737" y="180379"/>
                  </a:lnTo>
                  <a:lnTo>
                    <a:pt x="354356" y="190562"/>
                  </a:lnTo>
                  <a:lnTo>
                    <a:pt x="354305" y="202930"/>
                  </a:lnTo>
                  <a:lnTo>
                    <a:pt x="340756" y="257985"/>
                  </a:lnTo>
                  <a:lnTo>
                    <a:pt x="318042" y="295771"/>
                  </a:lnTo>
                  <a:lnTo>
                    <a:pt x="270907" y="335338"/>
                  </a:lnTo>
                  <a:lnTo>
                    <a:pt x="220657" y="353518"/>
                  </a:lnTo>
                  <a:lnTo>
                    <a:pt x="193097" y="355905"/>
                  </a:lnTo>
                  <a:lnTo>
                    <a:pt x="296414" y="355905"/>
                  </a:lnTo>
                  <a:lnTo>
                    <a:pt x="334268" y="325023"/>
                  </a:lnTo>
                  <a:lnTo>
                    <a:pt x="367937" y="275658"/>
                  </a:lnTo>
                  <a:lnTo>
                    <a:pt x="384569" y="217761"/>
                  </a:lnTo>
                  <a:lnTo>
                    <a:pt x="385937" y="190562"/>
                  </a:lnTo>
                  <a:lnTo>
                    <a:pt x="384569" y="177127"/>
                  </a:lnTo>
                  <a:lnTo>
                    <a:pt x="384569" y="172256"/>
                  </a:lnTo>
                  <a:lnTo>
                    <a:pt x="382948" y="169003"/>
                  </a:lnTo>
                  <a:lnTo>
                    <a:pt x="376453" y="162503"/>
                  </a:lnTo>
                  <a:close/>
                </a:path>
                <a:path w="386079" h="388619">
                  <a:moveTo>
                    <a:pt x="326658" y="32472"/>
                  </a:moveTo>
                  <a:lnTo>
                    <a:pt x="193097" y="32472"/>
                  </a:lnTo>
                  <a:lnTo>
                    <a:pt x="214952" y="33998"/>
                  </a:lnTo>
                  <a:lnTo>
                    <a:pt x="236503" y="38573"/>
                  </a:lnTo>
                  <a:lnTo>
                    <a:pt x="257445" y="46196"/>
                  </a:lnTo>
                  <a:lnTo>
                    <a:pt x="277472" y="56864"/>
                  </a:lnTo>
                  <a:lnTo>
                    <a:pt x="277472" y="58488"/>
                  </a:lnTo>
                  <a:lnTo>
                    <a:pt x="279780" y="71108"/>
                  </a:lnTo>
                  <a:lnTo>
                    <a:pt x="286196" y="81444"/>
                  </a:lnTo>
                  <a:lnTo>
                    <a:pt x="295958" y="88428"/>
                  </a:lnTo>
                  <a:lnTo>
                    <a:pt x="308305" y="90993"/>
                  </a:lnTo>
                  <a:lnTo>
                    <a:pt x="320905" y="88428"/>
                  </a:lnTo>
                  <a:lnTo>
                    <a:pt x="331224" y="81444"/>
                  </a:lnTo>
                  <a:lnTo>
                    <a:pt x="338197" y="71108"/>
                  </a:lnTo>
                  <a:lnTo>
                    <a:pt x="340758" y="58488"/>
                  </a:lnTo>
                  <a:lnTo>
                    <a:pt x="340758" y="50359"/>
                  </a:lnTo>
                  <a:lnTo>
                    <a:pt x="337510" y="42235"/>
                  </a:lnTo>
                  <a:lnTo>
                    <a:pt x="331021" y="35735"/>
                  </a:lnTo>
                  <a:lnTo>
                    <a:pt x="326658" y="32472"/>
                  </a:lnTo>
                  <a:close/>
                </a:path>
                <a:path w="386079" h="388619">
                  <a:moveTo>
                    <a:pt x="316415" y="27590"/>
                  </a:moveTo>
                  <a:lnTo>
                    <a:pt x="298567" y="27590"/>
                  </a:lnTo>
                  <a:lnTo>
                    <a:pt x="295325" y="30881"/>
                  </a:lnTo>
                  <a:lnTo>
                    <a:pt x="324531" y="30881"/>
                  </a:lnTo>
                  <a:lnTo>
                    <a:pt x="316415" y="27590"/>
                  </a:lnTo>
                  <a:close/>
                </a:path>
              </a:pathLst>
            </a:custGeom>
            <a:solidFill>
              <a:srgbClr val="1D70B8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3" name="object 13"/>
          <p:cNvSpPr txBox="1"/>
          <p:nvPr/>
        </p:nvSpPr>
        <p:spPr>
          <a:xfrm>
            <a:off x="2141193" y="1814769"/>
            <a:ext cx="5633187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endParaRPr sz="1800" dirty="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14" name="Заголовок 13"/>
          <p:cNvSpPr>
            <a:spLocks noGrp="1"/>
          </p:cNvSpPr>
          <p:nvPr>
            <p:ph type="title"/>
          </p:nvPr>
        </p:nvSpPr>
        <p:spPr>
          <a:xfrm>
            <a:off x="309522" y="357166"/>
            <a:ext cx="11343385" cy="1046440"/>
          </a:xfrm>
        </p:spPr>
        <p:txBody>
          <a:bodyPr>
            <a:normAutofit/>
          </a:bodyPr>
          <a:lstStyle/>
          <a:p>
            <a:pPr algn="ctr"/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Филиал ФГБОУ ВО «Российский химико-технологический университет</a:t>
            </a:r>
            <a:b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имени Д. И. Менделеева» в г. Ташкенте (Республика Узбекистан)</a:t>
            </a:r>
            <a:b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Кафедра технологии органических веществ</a:t>
            </a:r>
            <a:br>
              <a:rPr lang="ru-RU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endParaRPr lang="ru-RU" sz="1400" dirty="0"/>
          </a:p>
        </p:txBody>
      </p:sp>
      <p:sp>
        <p:nvSpPr>
          <p:cNvPr id="16" name="TextBox 15"/>
          <p:cNvSpPr txBox="1"/>
          <p:nvPr/>
        </p:nvSpPr>
        <p:spPr>
          <a:xfrm>
            <a:off x="1343660" y="1746250"/>
            <a:ext cx="9688830" cy="174451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80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0" lang="ru-RU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ВЫПУСКНАЯ КВАЛИФИКАЦИОННАЯ РАБОТА БАКАЛАВРА</a:t>
            </a:r>
            <a:endParaRPr kumimoji="0" lang="ru-RU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80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0" lang="ru-RU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на тему</a:t>
            </a:r>
            <a:r>
              <a:rPr kumimoji="0" lang="ru-RU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kumimoji="0" lang="ru-RU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ctr">
              <a:lnSpc>
                <a:spcPct val="107000"/>
              </a:lnSpc>
              <a:spcBef>
                <a:spcPct val="20000"/>
              </a:spcBef>
              <a:spcAft>
                <a:spcPts val="800"/>
              </a:spcAft>
              <a:defRPr/>
            </a:pPr>
            <a:r>
              <a:rPr kumimoji="0" lang="ru-RU" sz="2400" b="1" u="none" strike="noStrike" kern="1200" cap="none" spc="0" normalizeH="0" baseline="0" noProof="0" dirty="0">
                <a:uLnTx/>
                <a:uFillTx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«</a:t>
            </a:r>
            <a:r>
              <a:rPr kumimoji="0" lang="en-US" altLang="en-US" sz="2400" b="1" u="none" strike="noStrike" kern="1200" cap="none" spc="0" normalizeH="0" baseline="0" noProof="0" dirty="0">
                <a:uLnTx/>
                <a:uFillTx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Синтез</a:t>
            </a:r>
            <a:r>
              <a:rPr kumimoji="0" lang="en-US" altLang="ru-RU" sz="2400" b="1" u="none" strike="noStrike" kern="1200" cap="none" spc="0" normalizeH="0" baseline="0" noProof="0" dirty="0">
                <a:uLnTx/>
                <a:uFillTx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400" b="1" u="none" strike="noStrike" kern="1200" cap="none" spc="0" normalizeH="0" baseline="0" noProof="0" dirty="0">
                <a:uLnTx/>
                <a:uFillTx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олигонуклеотидов</a:t>
            </a:r>
            <a:r>
              <a:rPr kumimoji="0" lang="en-US" altLang="ru-RU" sz="2400" b="1" u="none" strike="noStrike" kern="1200" cap="none" spc="0" normalizeH="0" baseline="0" noProof="0" dirty="0">
                <a:uLnTx/>
                <a:uFillTx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400" b="1" u="none" strike="noStrike" kern="1200" cap="none" spc="0" normalizeH="0" baseline="0" noProof="0" dirty="0">
                <a:uLnTx/>
                <a:uFillTx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для</a:t>
            </a:r>
            <a:r>
              <a:rPr kumimoji="0" lang="en-US" altLang="ru-RU" sz="2400" b="1" u="none" strike="noStrike" kern="1200" cap="none" spc="0" normalizeH="0" baseline="0" noProof="0" dirty="0">
                <a:uLnTx/>
                <a:uFillTx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400" b="1" u="none" strike="noStrike" kern="1200" cap="none" spc="0" normalizeH="0" baseline="0" noProof="0" dirty="0">
                <a:uLnTx/>
                <a:uFillTx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изучения</a:t>
            </a:r>
            <a:r>
              <a:rPr kumimoji="0" lang="en-US" altLang="ru-RU" sz="2400" b="1" u="none" strike="noStrike" kern="1200" cap="none" spc="0" normalizeH="0" baseline="0" noProof="0" dirty="0">
                <a:uLnTx/>
                <a:uFillTx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400" b="1" u="none" strike="noStrike" kern="1200" cap="none" spc="0" normalizeH="0" baseline="0" noProof="0" dirty="0">
                <a:uLnTx/>
                <a:uFillTx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экспрессии</a:t>
            </a:r>
            <a:r>
              <a:rPr kumimoji="0" lang="en-US" altLang="ru-RU" sz="2400" b="1" u="none" strike="noStrike" kern="1200" cap="none" spc="0" normalizeH="0" baseline="0" noProof="0" dirty="0">
                <a:uLnTx/>
                <a:uFillTx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400" b="1" u="none" strike="noStrike" kern="1200" cap="none" spc="0" normalizeH="0" baseline="0" noProof="0" dirty="0">
                <a:uLnTx/>
                <a:uFillTx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человеческого</a:t>
            </a:r>
            <a:r>
              <a:rPr kumimoji="0" lang="en-US" altLang="ru-RU" sz="2400" b="1" u="none" strike="noStrike" kern="1200" cap="none" spc="0" normalizeH="0" baseline="0" noProof="0" dirty="0">
                <a:uLnTx/>
                <a:uFillTx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400" b="1" u="none" strike="noStrike" kern="1200" cap="none" spc="0" normalizeH="0" baseline="0" noProof="0" dirty="0" err="1">
                <a:uLnTx/>
                <a:uFillTx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гена</a:t>
            </a:r>
            <a:r>
              <a:rPr kumimoji="0" lang="en-US" altLang="ru-RU" sz="2400" b="1" u="none" strike="noStrike" kern="1200" cap="none" spc="0" normalizeH="0" baseline="0" noProof="0" dirty="0">
                <a:uLnTx/>
                <a:uFillTx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ru-RU" sz="2400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TOP</a:t>
            </a:r>
            <a:r>
              <a:rPr kumimoji="0" lang="en-US" altLang="ru-RU" sz="2400" b="1" u="none" strike="noStrike" kern="1200" cap="none" spc="0" normalizeH="0" baseline="0" noProof="0" dirty="0">
                <a:uLnTx/>
                <a:uFillTx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ru-RU" sz="2400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kumimoji="0" lang="en-US" altLang="ru-RU" sz="2400" b="1" u="none" strike="noStrike" kern="1200" cap="none" spc="0" normalizeH="0" baseline="0" noProof="0" dirty="0">
                <a:uLnTx/>
                <a:uFillTx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kumimoji="0" lang="en-US" altLang="en-US" sz="2400" b="1" u="none" strike="noStrike" kern="1200" cap="none" spc="0" normalizeH="0" baseline="0" noProof="0" dirty="0">
                <a:uLnTx/>
                <a:uFillTx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методом</a:t>
            </a:r>
            <a:r>
              <a:rPr kumimoji="0" lang="en-US" altLang="ru-RU" sz="2400" b="1" u="none" strike="noStrike" kern="1200" cap="none" spc="0" normalizeH="0" baseline="0" noProof="0" dirty="0">
                <a:uLnTx/>
                <a:uFillTx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400" b="1" u="none" strike="noStrike" kern="1200" cap="none" spc="0" normalizeH="0" baseline="0" noProof="0" dirty="0">
                <a:uLnTx/>
                <a:uFillTx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ПЦР</a:t>
            </a:r>
            <a:r>
              <a:rPr kumimoji="0" lang="ru-RU" sz="2400" b="1" u="none" strike="noStrike" kern="1200" cap="none" spc="0" normalizeH="0" baseline="0" noProof="0" dirty="0">
                <a:uLnTx/>
                <a:uFillTx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»</a:t>
            </a:r>
            <a:endParaRPr kumimoji="0" lang="ru-RU" sz="2400" b="1" u="none" strike="noStrike" kern="1200" cap="none" spc="0" normalizeH="0" baseline="0" noProof="0" dirty="0">
              <a:uLnTx/>
              <a:uFillTx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96290" y="3717290"/>
            <a:ext cx="10644505" cy="307911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800"/>
              </a:spcAft>
              <a:defRPr/>
            </a:pPr>
            <a:r>
              <a:rPr lang="ru-RU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Декан</a:t>
            </a:r>
            <a:br>
              <a:rPr lang="en-US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en-US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к.т.н.</a:t>
            </a:r>
            <a:r>
              <a:rPr lang="ru-RU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                                                                                                                                        А. У. Абдурахимова </a:t>
            </a:r>
            <a:endParaRPr kumimoji="0" lang="ru-RU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defRPr/>
            </a:pPr>
            <a:r>
              <a:rPr lang="ru-RU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Руководитель ВКР</a:t>
            </a:r>
            <a:r>
              <a:rPr kumimoji="0" lang="ru-RU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      </a:t>
            </a:r>
            <a:br>
              <a:rPr kumimoji="0" lang="ru-RU" b="1" i="0" u="none" strike="noStrike" kern="1200" cap="none" spc="0" normalizeH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kumimoji="0" lang="ru-RU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к. х. н., доцент                                                                                                                       </a:t>
            </a:r>
            <a:r>
              <a:rPr lang="en-US" altLang="ru-RU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altLang="en-US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И</a:t>
            </a:r>
            <a:r>
              <a:rPr lang="en-US" altLang="ru-RU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r>
              <a:rPr lang="en-US" altLang="en-US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Н</a:t>
            </a:r>
            <a:r>
              <a:rPr lang="en-US" altLang="ru-RU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r>
              <a:rPr lang="en-US" altLang="en-US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Соловьева</a:t>
            </a:r>
            <a:endParaRPr lang="en-US" altLang="en-US" b="1" dirty="0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defRPr/>
            </a:pPr>
            <a:r>
              <a:rPr lang="ru-RU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Научный руководитель </a:t>
            </a:r>
            <a:br>
              <a:rPr lang="ru-RU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ru-RU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к.х.н.                                                                                                                                         </a:t>
            </a:r>
            <a:r>
              <a:rPr lang="en-US" altLang="en-US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С</a:t>
            </a:r>
            <a:r>
              <a:rPr lang="en-US" altLang="ru-RU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r>
              <a:rPr lang="en-US" altLang="en-US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А</a:t>
            </a:r>
            <a:r>
              <a:rPr lang="en-US" altLang="ru-RU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. </a:t>
            </a:r>
            <a:r>
              <a:rPr lang="en-US" altLang="en-US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Икрамов</a:t>
            </a:r>
            <a:endParaRPr lang="en-US" altLang="en-US" b="1" dirty="0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defTabSz="914400" rtl="0" eaLnBrk="1" fontAlgn="auto" latinLnBrk="0" hangingPunct="1"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defRPr/>
            </a:pPr>
            <a:r>
              <a:rPr lang="ru-RU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Студентка группы Т1/22-ХТЛ                                                                                             Ж. О. </a:t>
            </a:r>
            <a:r>
              <a:rPr lang="ru-RU" b="1" dirty="0" err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Бахромов</a:t>
            </a:r>
            <a:r>
              <a:rPr lang="ru-RU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lang="ru-RU" b="1" dirty="0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defTabSz="914400" rtl="0" eaLnBrk="1" fontAlgn="auto" latinLnBrk="0" hangingPunct="1"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defRPr/>
            </a:pPr>
            <a:endParaRPr kumimoji="0" lang="ru-RU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defRPr/>
            </a:pPr>
            <a:r>
              <a:rPr kumimoji="0" lang="ru-RU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  </a:t>
            </a:r>
            <a:r>
              <a:rPr lang="ru-RU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Ташкент</a:t>
            </a:r>
            <a:r>
              <a:rPr kumimoji="0" lang="ru-RU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2026</a:t>
            </a:r>
            <a:endParaRPr kumimoji="0" lang="ru-RU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9522" y="336806"/>
            <a:ext cx="1252492" cy="1252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493776" y="1043939"/>
            <a:ext cx="9946005" cy="0"/>
          </a:xfrm>
          <a:custGeom>
            <a:avLst/>
            <a:gdLst/>
            <a:ahLst/>
            <a:cxnLst/>
            <a:rect l="l" t="t" r="r" b="b"/>
            <a:pathLst>
              <a:path w="9946005">
                <a:moveTo>
                  <a:pt x="0" y="0"/>
                </a:moveTo>
                <a:lnTo>
                  <a:pt x="9946005" y="0"/>
                </a:lnTo>
              </a:path>
            </a:pathLst>
          </a:custGeom>
          <a:ln w="6096">
            <a:solidFill>
              <a:srgbClr val="5B9BD4"/>
            </a:solidFill>
          </a:ln>
        </p:spPr>
        <p:txBody>
          <a:bodyPr wrap="square" lIns="0" tIns="0" rIns="0" bIns="0" rtlCol="0"/>
          <a:lstStyle/>
          <a:p/>
        </p:txBody>
      </p:sp>
      <p:grpSp>
        <p:nvGrpSpPr>
          <p:cNvPr id="4" name="object 4"/>
          <p:cNvGrpSpPr/>
          <p:nvPr/>
        </p:nvGrpSpPr>
        <p:grpSpPr>
          <a:xfrm>
            <a:off x="10913388" y="236043"/>
            <a:ext cx="668655" cy="1195070"/>
            <a:chOff x="10913388" y="236043"/>
            <a:chExt cx="668655" cy="1195070"/>
          </a:xfrm>
        </p:grpSpPr>
        <p:sp>
          <p:nvSpPr>
            <p:cNvPr id="5" name="object 5"/>
            <p:cNvSpPr/>
            <p:nvPr/>
          </p:nvSpPr>
          <p:spPr>
            <a:xfrm>
              <a:off x="10913388" y="601685"/>
              <a:ext cx="668655" cy="829310"/>
            </a:xfrm>
            <a:custGeom>
              <a:avLst/>
              <a:gdLst/>
              <a:ahLst/>
              <a:cxnLst/>
              <a:rect l="l" t="t" r="r" b="b"/>
              <a:pathLst>
                <a:path w="668654" h="829310">
                  <a:moveTo>
                    <a:pt x="126245" y="651742"/>
                  </a:moveTo>
                  <a:lnTo>
                    <a:pt x="61660" y="651742"/>
                  </a:lnTo>
                  <a:lnTo>
                    <a:pt x="293695" y="785010"/>
                  </a:lnTo>
                  <a:lnTo>
                    <a:pt x="293695" y="788261"/>
                  </a:lnTo>
                  <a:lnTo>
                    <a:pt x="296840" y="803522"/>
                  </a:lnTo>
                  <a:lnTo>
                    <a:pt x="305461" y="816499"/>
                  </a:lnTo>
                  <a:lnTo>
                    <a:pt x="318342" y="825514"/>
                  </a:lnTo>
                  <a:lnTo>
                    <a:pt x="334264" y="828892"/>
                  </a:lnTo>
                  <a:lnTo>
                    <a:pt x="350186" y="825514"/>
                  </a:lnTo>
                  <a:lnTo>
                    <a:pt x="363065" y="816499"/>
                  </a:lnTo>
                  <a:lnTo>
                    <a:pt x="371685" y="803522"/>
                  </a:lnTo>
                  <a:lnTo>
                    <a:pt x="374828" y="788261"/>
                  </a:lnTo>
                  <a:lnTo>
                    <a:pt x="374828" y="785010"/>
                  </a:lnTo>
                  <a:lnTo>
                    <a:pt x="425403" y="755758"/>
                  </a:lnTo>
                  <a:lnTo>
                    <a:pt x="306680" y="755758"/>
                  </a:lnTo>
                  <a:lnTo>
                    <a:pt x="126245" y="651742"/>
                  </a:lnTo>
                  <a:close/>
                </a:path>
                <a:path w="668654" h="829310">
                  <a:moveTo>
                    <a:pt x="334061" y="747226"/>
                  </a:moveTo>
                  <a:lnTo>
                    <a:pt x="319838" y="749359"/>
                  </a:lnTo>
                  <a:lnTo>
                    <a:pt x="306680" y="755758"/>
                  </a:lnTo>
                  <a:lnTo>
                    <a:pt x="360223" y="755758"/>
                  </a:lnTo>
                  <a:lnTo>
                    <a:pt x="347979" y="749359"/>
                  </a:lnTo>
                  <a:lnTo>
                    <a:pt x="334061" y="747226"/>
                  </a:lnTo>
                  <a:close/>
                </a:path>
                <a:path w="668654" h="829310">
                  <a:moveTo>
                    <a:pt x="481925" y="0"/>
                  </a:moveTo>
                  <a:lnTo>
                    <a:pt x="466002" y="3149"/>
                  </a:lnTo>
                  <a:lnTo>
                    <a:pt x="453122" y="11786"/>
                  </a:lnTo>
                  <a:lnTo>
                    <a:pt x="444500" y="24690"/>
                  </a:lnTo>
                  <a:lnTo>
                    <a:pt x="441355" y="40645"/>
                  </a:lnTo>
                  <a:lnTo>
                    <a:pt x="443105" y="52421"/>
                  </a:lnTo>
                  <a:lnTo>
                    <a:pt x="448050" y="62990"/>
                  </a:lnTo>
                  <a:lnTo>
                    <a:pt x="455733" y="71738"/>
                  </a:lnTo>
                  <a:lnTo>
                    <a:pt x="465698" y="78054"/>
                  </a:lnTo>
                  <a:lnTo>
                    <a:pt x="465698" y="206407"/>
                  </a:lnTo>
                  <a:lnTo>
                    <a:pt x="587384" y="271461"/>
                  </a:lnTo>
                  <a:lnTo>
                    <a:pt x="587384" y="274697"/>
                  </a:lnTo>
                  <a:lnTo>
                    <a:pt x="585796" y="276288"/>
                  </a:lnTo>
                  <a:lnTo>
                    <a:pt x="585796" y="277933"/>
                  </a:lnTo>
                  <a:lnTo>
                    <a:pt x="587846" y="290887"/>
                  </a:lnTo>
                  <a:lnTo>
                    <a:pt x="593695" y="302316"/>
                  </a:lnTo>
                  <a:lnTo>
                    <a:pt x="602892" y="311306"/>
                  </a:lnTo>
                  <a:lnTo>
                    <a:pt x="614985" y="316944"/>
                  </a:lnTo>
                  <a:lnTo>
                    <a:pt x="614985" y="578603"/>
                  </a:lnTo>
                  <a:lnTo>
                    <a:pt x="602892" y="584928"/>
                  </a:lnTo>
                  <a:lnTo>
                    <a:pt x="593695" y="593842"/>
                  </a:lnTo>
                  <a:lnTo>
                    <a:pt x="587846" y="604889"/>
                  </a:lnTo>
                  <a:lnTo>
                    <a:pt x="585796" y="617614"/>
                  </a:lnTo>
                  <a:lnTo>
                    <a:pt x="585796" y="620861"/>
                  </a:lnTo>
                  <a:lnTo>
                    <a:pt x="587384" y="622484"/>
                  </a:lnTo>
                  <a:lnTo>
                    <a:pt x="587384" y="625737"/>
                  </a:lnTo>
                  <a:lnTo>
                    <a:pt x="360223" y="755758"/>
                  </a:lnTo>
                  <a:lnTo>
                    <a:pt x="425403" y="755758"/>
                  </a:lnTo>
                  <a:lnTo>
                    <a:pt x="605237" y="651742"/>
                  </a:lnTo>
                  <a:lnTo>
                    <a:pt x="648894" y="651742"/>
                  </a:lnTo>
                  <a:lnTo>
                    <a:pt x="656777" y="646460"/>
                  </a:lnTo>
                  <a:lnTo>
                    <a:pt x="665399" y="633561"/>
                  </a:lnTo>
                  <a:lnTo>
                    <a:pt x="668544" y="617614"/>
                  </a:lnTo>
                  <a:lnTo>
                    <a:pt x="667074" y="606997"/>
                  </a:lnTo>
                  <a:lnTo>
                    <a:pt x="662862" y="597295"/>
                  </a:lnTo>
                  <a:lnTo>
                    <a:pt x="656207" y="588813"/>
                  </a:lnTo>
                  <a:lnTo>
                    <a:pt x="647405" y="581856"/>
                  </a:lnTo>
                  <a:lnTo>
                    <a:pt x="647405" y="313691"/>
                  </a:lnTo>
                  <a:lnTo>
                    <a:pt x="656207" y="307648"/>
                  </a:lnTo>
                  <a:lnTo>
                    <a:pt x="662862" y="299471"/>
                  </a:lnTo>
                  <a:lnTo>
                    <a:pt x="667074" y="289465"/>
                  </a:lnTo>
                  <a:lnTo>
                    <a:pt x="668544" y="277933"/>
                  </a:lnTo>
                  <a:lnTo>
                    <a:pt x="665399" y="261979"/>
                  </a:lnTo>
                  <a:lnTo>
                    <a:pt x="656777" y="249074"/>
                  </a:lnTo>
                  <a:lnTo>
                    <a:pt x="648931" y="243815"/>
                  </a:lnTo>
                  <a:lnTo>
                    <a:pt x="605237" y="243815"/>
                  </a:lnTo>
                  <a:lnTo>
                    <a:pt x="498151" y="186934"/>
                  </a:lnTo>
                  <a:lnTo>
                    <a:pt x="498151" y="78054"/>
                  </a:lnTo>
                  <a:lnTo>
                    <a:pt x="508113" y="71738"/>
                  </a:lnTo>
                  <a:lnTo>
                    <a:pt x="515795" y="62990"/>
                  </a:lnTo>
                  <a:lnTo>
                    <a:pt x="520739" y="52421"/>
                  </a:lnTo>
                  <a:lnTo>
                    <a:pt x="522488" y="40645"/>
                  </a:lnTo>
                  <a:lnTo>
                    <a:pt x="519345" y="24690"/>
                  </a:lnTo>
                  <a:lnTo>
                    <a:pt x="510725" y="11786"/>
                  </a:lnTo>
                  <a:lnTo>
                    <a:pt x="497846" y="3149"/>
                  </a:lnTo>
                  <a:lnTo>
                    <a:pt x="481925" y="0"/>
                  </a:lnTo>
                  <a:close/>
                </a:path>
                <a:path w="668654" h="829310">
                  <a:moveTo>
                    <a:pt x="48679" y="237288"/>
                  </a:moveTo>
                  <a:lnTo>
                    <a:pt x="40566" y="237288"/>
                  </a:lnTo>
                  <a:lnTo>
                    <a:pt x="24644" y="240438"/>
                  </a:lnTo>
                  <a:lnTo>
                    <a:pt x="11764" y="249074"/>
                  </a:lnTo>
                  <a:lnTo>
                    <a:pt x="3143" y="261979"/>
                  </a:lnTo>
                  <a:lnTo>
                    <a:pt x="0" y="277933"/>
                  </a:lnTo>
                  <a:lnTo>
                    <a:pt x="1470" y="289491"/>
                  </a:lnTo>
                  <a:lnTo>
                    <a:pt x="5679" y="299674"/>
                  </a:lnTo>
                  <a:lnTo>
                    <a:pt x="12322" y="308333"/>
                  </a:lnTo>
                  <a:lnTo>
                    <a:pt x="21095" y="315315"/>
                  </a:lnTo>
                  <a:lnTo>
                    <a:pt x="21095" y="581856"/>
                  </a:lnTo>
                  <a:lnTo>
                    <a:pt x="12322" y="588128"/>
                  </a:lnTo>
                  <a:lnTo>
                    <a:pt x="5679" y="596686"/>
                  </a:lnTo>
                  <a:lnTo>
                    <a:pt x="1470" y="606769"/>
                  </a:lnTo>
                  <a:lnTo>
                    <a:pt x="0" y="617614"/>
                  </a:lnTo>
                  <a:lnTo>
                    <a:pt x="3143" y="633561"/>
                  </a:lnTo>
                  <a:lnTo>
                    <a:pt x="11764" y="646460"/>
                  </a:lnTo>
                  <a:lnTo>
                    <a:pt x="24644" y="655094"/>
                  </a:lnTo>
                  <a:lnTo>
                    <a:pt x="40566" y="658242"/>
                  </a:lnTo>
                  <a:lnTo>
                    <a:pt x="48679" y="658242"/>
                  </a:lnTo>
                  <a:lnTo>
                    <a:pt x="55171" y="656619"/>
                  </a:lnTo>
                  <a:lnTo>
                    <a:pt x="61660" y="651742"/>
                  </a:lnTo>
                  <a:lnTo>
                    <a:pt x="126245" y="651742"/>
                  </a:lnTo>
                  <a:lnTo>
                    <a:pt x="81134" y="625737"/>
                  </a:lnTo>
                  <a:lnTo>
                    <a:pt x="81134" y="617614"/>
                  </a:lnTo>
                  <a:lnTo>
                    <a:pt x="79106" y="604889"/>
                  </a:lnTo>
                  <a:lnTo>
                    <a:pt x="73426" y="593842"/>
                  </a:lnTo>
                  <a:lnTo>
                    <a:pt x="64703" y="584928"/>
                  </a:lnTo>
                  <a:lnTo>
                    <a:pt x="53544" y="578603"/>
                  </a:lnTo>
                  <a:lnTo>
                    <a:pt x="53544" y="316944"/>
                  </a:lnTo>
                  <a:lnTo>
                    <a:pt x="64703" y="310621"/>
                  </a:lnTo>
                  <a:lnTo>
                    <a:pt x="73426" y="301707"/>
                  </a:lnTo>
                  <a:lnTo>
                    <a:pt x="79106" y="290658"/>
                  </a:lnTo>
                  <a:lnTo>
                    <a:pt x="81134" y="277933"/>
                  </a:lnTo>
                  <a:lnTo>
                    <a:pt x="81134" y="276288"/>
                  </a:lnTo>
                  <a:lnTo>
                    <a:pt x="79508" y="274697"/>
                  </a:lnTo>
                  <a:lnTo>
                    <a:pt x="79508" y="271461"/>
                  </a:lnTo>
                  <a:lnTo>
                    <a:pt x="130664" y="243815"/>
                  </a:lnTo>
                  <a:lnTo>
                    <a:pt x="61660" y="243815"/>
                  </a:lnTo>
                  <a:lnTo>
                    <a:pt x="48679" y="237288"/>
                  </a:lnTo>
                  <a:close/>
                </a:path>
                <a:path w="668654" h="829310">
                  <a:moveTo>
                    <a:pt x="648894" y="651742"/>
                  </a:moveTo>
                  <a:lnTo>
                    <a:pt x="605237" y="651742"/>
                  </a:lnTo>
                  <a:lnTo>
                    <a:pt x="611754" y="656619"/>
                  </a:lnTo>
                  <a:lnTo>
                    <a:pt x="619859" y="658242"/>
                  </a:lnTo>
                  <a:lnTo>
                    <a:pt x="627964" y="658242"/>
                  </a:lnTo>
                  <a:lnTo>
                    <a:pt x="643893" y="655094"/>
                  </a:lnTo>
                  <a:lnTo>
                    <a:pt x="648894" y="651742"/>
                  </a:lnTo>
                  <a:close/>
                </a:path>
                <a:path w="668654" h="829310">
                  <a:moveTo>
                    <a:pt x="186604" y="0"/>
                  </a:moveTo>
                  <a:lnTo>
                    <a:pt x="170682" y="3149"/>
                  </a:lnTo>
                  <a:lnTo>
                    <a:pt x="157801" y="11786"/>
                  </a:lnTo>
                  <a:lnTo>
                    <a:pt x="149179" y="24690"/>
                  </a:lnTo>
                  <a:lnTo>
                    <a:pt x="146035" y="40645"/>
                  </a:lnTo>
                  <a:lnTo>
                    <a:pt x="147785" y="52421"/>
                  </a:lnTo>
                  <a:lnTo>
                    <a:pt x="152729" y="62990"/>
                  </a:lnTo>
                  <a:lnTo>
                    <a:pt x="160412" y="71738"/>
                  </a:lnTo>
                  <a:lnTo>
                    <a:pt x="170378" y="78054"/>
                  </a:lnTo>
                  <a:lnTo>
                    <a:pt x="170378" y="185289"/>
                  </a:lnTo>
                  <a:lnTo>
                    <a:pt x="61660" y="243815"/>
                  </a:lnTo>
                  <a:lnTo>
                    <a:pt x="130664" y="243815"/>
                  </a:lnTo>
                  <a:lnTo>
                    <a:pt x="202831" y="204816"/>
                  </a:lnTo>
                  <a:lnTo>
                    <a:pt x="202831" y="78054"/>
                  </a:lnTo>
                  <a:lnTo>
                    <a:pt x="212795" y="71738"/>
                  </a:lnTo>
                  <a:lnTo>
                    <a:pt x="220476" y="62990"/>
                  </a:lnTo>
                  <a:lnTo>
                    <a:pt x="225419" y="52421"/>
                  </a:lnTo>
                  <a:lnTo>
                    <a:pt x="227168" y="40645"/>
                  </a:lnTo>
                  <a:lnTo>
                    <a:pt x="224024" y="24690"/>
                  </a:lnTo>
                  <a:lnTo>
                    <a:pt x="215405" y="11786"/>
                  </a:lnTo>
                  <a:lnTo>
                    <a:pt x="202526" y="3149"/>
                  </a:lnTo>
                  <a:lnTo>
                    <a:pt x="186604" y="0"/>
                  </a:lnTo>
                  <a:close/>
                </a:path>
                <a:path w="668654" h="829310">
                  <a:moveTo>
                    <a:pt x="627964" y="237288"/>
                  </a:moveTo>
                  <a:lnTo>
                    <a:pt x="619859" y="237288"/>
                  </a:lnTo>
                  <a:lnTo>
                    <a:pt x="611754" y="240579"/>
                  </a:lnTo>
                  <a:lnTo>
                    <a:pt x="605237" y="243815"/>
                  </a:lnTo>
                  <a:lnTo>
                    <a:pt x="648931" y="243815"/>
                  </a:lnTo>
                  <a:lnTo>
                    <a:pt x="643893" y="240438"/>
                  </a:lnTo>
                  <a:lnTo>
                    <a:pt x="627964" y="237288"/>
                  </a:lnTo>
                  <a:close/>
                </a:path>
              </a:pathLst>
            </a:custGeom>
            <a:solidFill>
              <a:srgbClr val="1D70B8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6" name="object 6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11164899" y="466804"/>
              <a:ext cx="115207" cy="115408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1195725" y="236043"/>
              <a:ext cx="79511" cy="79644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1293085" y="336806"/>
              <a:ext cx="95738" cy="95880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1150293" y="954381"/>
              <a:ext cx="193092" cy="203154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11054555" y="855264"/>
              <a:ext cx="386080" cy="388620"/>
            </a:xfrm>
            <a:custGeom>
              <a:avLst/>
              <a:gdLst/>
              <a:ahLst/>
              <a:cxnLst/>
              <a:rect l="l" t="t" r="r" b="b"/>
              <a:pathLst>
                <a:path w="386079" h="388619">
                  <a:moveTo>
                    <a:pt x="193097" y="0"/>
                  </a:moveTo>
                  <a:lnTo>
                    <a:pt x="148680" y="5173"/>
                  </a:lnTo>
                  <a:lnTo>
                    <a:pt x="107980" y="19896"/>
                  </a:lnTo>
                  <a:lnTo>
                    <a:pt x="72135" y="42977"/>
                  </a:lnTo>
                  <a:lnTo>
                    <a:pt x="42279" y="73222"/>
                  </a:lnTo>
                  <a:lnTo>
                    <a:pt x="19547" y="109438"/>
                  </a:lnTo>
                  <a:lnTo>
                    <a:pt x="5076" y="150431"/>
                  </a:lnTo>
                  <a:lnTo>
                    <a:pt x="0" y="195008"/>
                  </a:lnTo>
                  <a:lnTo>
                    <a:pt x="5076" y="238984"/>
                  </a:lnTo>
                  <a:lnTo>
                    <a:pt x="19547" y="279548"/>
                  </a:lnTo>
                  <a:lnTo>
                    <a:pt x="42279" y="315478"/>
                  </a:lnTo>
                  <a:lnTo>
                    <a:pt x="72135" y="345552"/>
                  </a:lnTo>
                  <a:lnTo>
                    <a:pt x="107980" y="368547"/>
                  </a:lnTo>
                  <a:lnTo>
                    <a:pt x="148680" y="383241"/>
                  </a:lnTo>
                  <a:lnTo>
                    <a:pt x="193097" y="388410"/>
                  </a:lnTo>
                  <a:lnTo>
                    <a:pt x="224080" y="385059"/>
                  </a:lnTo>
                  <a:lnTo>
                    <a:pt x="253541" y="377440"/>
                  </a:lnTo>
                  <a:lnTo>
                    <a:pt x="281175" y="365555"/>
                  </a:lnTo>
                  <a:lnTo>
                    <a:pt x="296414" y="355905"/>
                  </a:lnTo>
                  <a:lnTo>
                    <a:pt x="193097" y="355905"/>
                  </a:lnTo>
                  <a:lnTo>
                    <a:pt x="150090" y="350081"/>
                  </a:lnTo>
                  <a:lnTo>
                    <a:pt x="111365" y="333694"/>
                  </a:lnTo>
                  <a:lnTo>
                    <a:pt x="78498" y="308368"/>
                  </a:lnTo>
                  <a:lnTo>
                    <a:pt x="53069" y="275728"/>
                  </a:lnTo>
                  <a:lnTo>
                    <a:pt x="36654" y="237400"/>
                  </a:lnTo>
                  <a:lnTo>
                    <a:pt x="30832" y="195008"/>
                  </a:lnTo>
                  <a:lnTo>
                    <a:pt x="36654" y="151930"/>
                  </a:lnTo>
                  <a:lnTo>
                    <a:pt x="53069" y="113140"/>
                  </a:lnTo>
                  <a:lnTo>
                    <a:pt x="78498" y="80218"/>
                  </a:lnTo>
                  <a:lnTo>
                    <a:pt x="111365" y="54746"/>
                  </a:lnTo>
                  <a:lnTo>
                    <a:pt x="150090" y="38304"/>
                  </a:lnTo>
                  <a:lnTo>
                    <a:pt x="193097" y="32472"/>
                  </a:lnTo>
                  <a:lnTo>
                    <a:pt x="326658" y="32472"/>
                  </a:lnTo>
                  <a:lnTo>
                    <a:pt x="324531" y="30881"/>
                  </a:lnTo>
                  <a:lnTo>
                    <a:pt x="295325" y="30881"/>
                  </a:lnTo>
                  <a:lnTo>
                    <a:pt x="271365" y="17818"/>
                  </a:lnTo>
                  <a:lnTo>
                    <a:pt x="246035" y="8118"/>
                  </a:lnTo>
                  <a:lnTo>
                    <a:pt x="219794" y="2079"/>
                  </a:lnTo>
                  <a:lnTo>
                    <a:pt x="193097" y="0"/>
                  </a:lnTo>
                  <a:close/>
                </a:path>
                <a:path w="386079" h="388619">
                  <a:moveTo>
                    <a:pt x="376453" y="162503"/>
                  </a:moveTo>
                  <a:lnTo>
                    <a:pt x="363474" y="162503"/>
                  </a:lnTo>
                  <a:lnTo>
                    <a:pt x="353737" y="172256"/>
                  </a:lnTo>
                  <a:lnTo>
                    <a:pt x="353737" y="180379"/>
                  </a:lnTo>
                  <a:lnTo>
                    <a:pt x="354356" y="190562"/>
                  </a:lnTo>
                  <a:lnTo>
                    <a:pt x="354305" y="202930"/>
                  </a:lnTo>
                  <a:lnTo>
                    <a:pt x="340756" y="257985"/>
                  </a:lnTo>
                  <a:lnTo>
                    <a:pt x="318042" y="295771"/>
                  </a:lnTo>
                  <a:lnTo>
                    <a:pt x="270907" y="335338"/>
                  </a:lnTo>
                  <a:lnTo>
                    <a:pt x="220657" y="353518"/>
                  </a:lnTo>
                  <a:lnTo>
                    <a:pt x="193097" y="355905"/>
                  </a:lnTo>
                  <a:lnTo>
                    <a:pt x="296414" y="355905"/>
                  </a:lnTo>
                  <a:lnTo>
                    <a:pt x="334268" y="325023"/>
                  </a:lnTo>
                  <a:lnTo>
                    <a:pt x="367937" y="275658"/>
                  </a:lnTo>
                  <a:lnTo>
                    <a:pt x="384569" y="217761"/>
                  </a:lnTo>
                  <a:lnTo>
                    <a:pt x="385937" y="190562"/>
                  </a:lnTo>
                  <a:lnTo>
                    <a:pt x="384569" y="177127"/>
                  </a:lnTo>
                  <a:lnTo>
                    <a:pt x="384569" y="172256"/>
                  </a:lnTo>
                  <a:lnTo>
                    <a:pt x="382948" y="169003"/>
                  </a:lnTo>
                  <a:lnTo>
                    <a:pt x="376453" y="162503"/>
                  </a:lnTo>
                  <a:close/>
                </a:path>
                <a:path w="386079" h="388619">
                  <a:moveTo>
                    <a:pt x="326658" y="32472"/>
                  </a:moveTo>
                  <a:lnTo>
                    <a:pt x="193097" y="32472"/>
                  </a:lnTo>
                  <a:lnTo>
                    <a:pt x="214952" y="33998"/>
                  </a:lnTo>
                  <a:lnTo>
                    <a:pt x="236503" y="38573"/>
                  </a:lnTo>
                  <a:lnTo>
                    <a:pt x="257445" y="46196"/>
                  </a:lnTo>
                  <a:lnTo>
                    <a:pt x="277472" y="56864"/>
                  </a:lnTo>
                  <a:lnTo>
                    <a:pt x="277472" y="58488"/>
                  </a:lnTo>
                  <a:lnTo>
                    <a:pt x="279780" y="71108"/>
                  </a:lnTo>
                  <a:lnTo>
                    <a:pt x="286196" y="81444"/>
                  </a:lnTo>
                  <a:lnTo>
                    <a:pt x="295958" y="88428"/>
                  </a:lnTo>
                  <a:lnTo>
                    <a:pt x="308305" y="90993"/>
                  </a:lnTo>
                  <a:lnTo>
                    <a:pt x="320905" y="88428"/>
                  </a:lnTo>
                  <a:lnTo>
                    <a:pt x="331224" y="81444"/>
                  </a:lnTo>
                  <a:lnTo>
                    <a:pt x="338197" y="71108"/>
                  </a:lnTo>
                  <a:lnTo>
                    <a:pt x="340758" y="58488"/>
                  </a:lnTo>
                  <a:lnTo>
                    <a:pt x="340758" y="50359"/>
                  </a:lnTo>
                  <a:lnTo>
                    <a:pt x="337510" y="42235"/>
                  </a:lnTo>
                  <a:lnTo>
                    <a:pt x="331021" y="35735"/>
                  </a:lnTo>
                  <a:lnTo>
                    <a:pt x="326658" y="32472"/>
                  </a:lnTo>
                  <a:close/>
                </a:path>
                <a:path w="386079" h="388619">
                  <a:moveTo>
                    <a:pt x="316415" y="27590"/>
                  </a:moveTo>
                  <a:lnTo>
                    <a:pt x="298567" y="27590"/>
                  </a:lnTo>
                  <a:lnTo>
                    <a:pt x="295325" y="30881"/>
                  </a:lnTo>
                  <a:lnTo>
                    <a:pt x="324531" y="30881"/>
                  </a:lnTo>
                  <a:lnTo>
                    <a:pt x="316415" y="27590"/>
                  </a:lnTo>
                  <a:close/>
                </a:path>
              </a:pathLst>
            </a:custGeom>
            <a:solidFill>
              <a:srgbClr val="1D70B8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4" name="Номер слайда 13"/>
          <p:cNvSpPr>
            <a:spLocks noGrp="1"/>
          </p:cNvSpPr>
          <p:nvPr>
            <p:ph type="sldNum" sz="quarter" idx="12"/>
          </p:nvPr>
        </p:nvSpPr>
        <p:spPr>
          <a:xfrm>
            <a:off x="11240768" y="6397751"/>
            <a:ext cx="373931" cy="274955"/>
          </a:xfrm>
        </p:spPr>
        <p:txBody>
          <a:bodyPr/>
          <a:lstStyle/>
          <a:p>
            <a:pPr marL="38100">
              <a:lnSpc>
                <a:spcPts val="2145"/>
              </a:lnSpc>
            </a:pPr>
            <a:fld id="{81D60167-4931-47E6-BA6A-407CBD079E47}" type="slidenum">
              <a:rPr lang="ru-RU" sz="2400" b="0" smtClean="0"/>
            </a:fld>
            <a:endParaRPr lang="ru-RU" sz="2400" b="0" dirty="0"/>
          </a:p>
        </p:txBody>
      </p:sp>
      <p:sp>
        <p:nvSpPr>
          <p:cNvPr id="100" name="Заголовок"/>
          <p:cNvSpPr txBox="1"/>
          <p:nvPr/>
        </p:nvSpPr>
        <p:spPr>
          <a:xfrm>
            <a:off x="839470" y="431075"/>
            <a:ext cx="9658350" cy="540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ru-RU" alt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Важность изучения топоизомеразы II, кодируемого геном TOP2</a:t>
            </a:r>
          </a:p>
        </p:txBody>
      </p:sp>
      <p:sp>
        <p:nvSpPr>
          <p:cNvPr id="101" name="Текст важности"/>
          <p:cNvSpPr txBox="1"/>
          <p:nvPr/>
        </p:nvSpPr>
        <p:spPr>
          <a:xfrm>
            <a:off x="600000" y="1180000"/>
            <a:ext cx="6050000" cy="5200000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 algn="just">
              <a:spcBef>
                <a:spcPts val="0"/>
              </a:spcBef>
              <a:buNone/>
            </a:pPr>
            <a:r>
              <a:rPr lang="ru-RU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Регуляция топологии ДНК — фундаментальный механизм сохранения стабильности генома и нормального деления клетки. Нарушение этих процессов напрямую связано с развитием тяжёлых патологий, прежде всего онкологических заболеваний.</a:t>
            </a:r>
          </a:p>
          <a:p>
            <a:pPr marL="0" indent="0" algn="just">
              <a:spcBef>
                <a:spcPts val="600"/>
              </a:spcBef>
              <a:buNone/>
            </a:pPr>
            <a:r>
              <a:rPr lang="ru-RU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Ферментом, управляющим структурой ДНК, является топоизомераза II, кодируемая геном </a:t>
            </a:r>
            <a:r>
              <a:rPr lang="ru-RU" altLang="en-US" sz="1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TOP2</a:t>
            </a:r>
            <a:r>
              <a:rPr lang="ru-RU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Изучение её экспрессии позволяет оценить пролиферативную активность клеток.</a:t>
            </a:r>
          </a:p>
          <a:p>
            <a:pPr marL="0" indent="0" algn="l">
              <a:spcBef>
                <a:spcPts val="400"/>
              </a:spcBef>
              <a:buNone/>
            </a:pPr>
            <a:r>
              <a:rPr lang="ru-RU" altLang="en-US" sz="1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Изучение экспрессии гена TOP2 необходимо для:</a:t>
            </a:r>
          </a:p>
          <a:p>
            <a:pPr marL="342900" indent="-342900" algn="l">
              <a:spcBef>
                <a:spcPts val="200"/>
              </a:spcBef>
              <a:buFont typeface="Arial" panose="020B0604020202020204" pitchFamily="34" charset="0"/>
              <a:buChar char="•"/>
            </a:pPr>
            <a:r>
              <a:rPr lang="ru-RU" altLang="en-US" sz="1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молекулярной диагностики</a:t>
            </a:r>
            <a:r>
              <a:rPr lang="ru-RU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онкологических заболеваний;</a:t>
            </a:r>
          </a:p>
          <a:p>
            <a:pPr marL="342900" indent="-342900" algn="l">
              <a:spcBef>
                <a:spcPts val="200"/>
              </a:spcBef>
              <a:buFont typeface="Arial" panose="020B0604020202020204" pitchFamily="34" charset="0"/>
              <a:buChar char="•"/>
            </a:pPr>
            <a:r>
              <a:rPr lang="ru-RU" altLang="en-US" sz="1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оценки скорости деления</a:t>
            </a:r>
            <a:r>
              <a:rPr lang="ru-RU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(пролиферации) клеток;</a:t>
            </a:r>
          </a:p>
          <a:p>
            <a:pPr marL="342900" indent="-342900" algn="l">
              <a:spcBef>
                <a:spcPts val="200"/>
              </a:spcBef>
              <a:buFont typeface="Arial" panose="020B0604020202020204" pitchFamily="34" charset="0"/>
              <a:buChar char="•"/>
            </a:pPr>
            <a:r>
              <a:rPr lang="ru-RU" altLang="en-US" sz="1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исследования эффективности</a:t>
            </a:r>
            <a:r>
              <a:rPr lang="ru-RU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противоопухолевых препаратов (многие нацелены именно на TOP2);</a:t>
            </a:r>
          </a:p>
          <a:p>
            <a:pPr marL="342900" indent="-342900" algn="l">
              <a:spcBef>
                <a:spcPts val="200"/>
              </a:spcBef>
              <a:buFont typeface="Arial" panose="020B0604020202020204" pitchFamily="34" charset="0"/>
              <a:buChar char="•"/>
            </a:pPr>
            <a:r>
              <a:rPr lang="ru-RU" altLang="en-US" sz="1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анализа механизмов</a:t>
            </a:r>
            <a:r>
              <a:rPr lang="ru-RU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стабильности генома.</a:t>
            </a:r>
          </a:p>
        </p:txBody>
      </p:sp>
      <p:sp>
        <p:nvSpPr>
          <p:cNvPr id="110" name="box"/>
          <p:cNvSpPr/>
          <p:nvPr/>
        </p:nvSpPr>
        <p:spPr>
          <a:xfrm>
            <a:off x="7050000" y="1280000"/>
            <a:ext cx="4450000" cy="7600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9525">
            <a:solidFill>
              <a:srgbClr val="FFFFFF"/>
            </a:solidFill>
          </a:ln>
        </p:spPr>
        <p:txBody>
          <a:bodyPr wrap="square" anchor="ctr" lIns="68580" rIns="68580" tIns="27432" bIns="27432">
            <a:norm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altLang="en-US" sz="16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Ген TOP2</a:t>
            </a:r>
          </a:p>
        </p:txBody>
      </p:sp>
      <p:sp>
        <p:nvSpPr>
          <p:cNvPr id="111" name="arrow"/>
          <p:cNvSpPr/>
          <p:nvPr/>
        </p:nvSpPr>
        <p:spPr>
          <a:xfrm>
            <a:off x="9145000" y="2040000"/>
            <a:ext cx="260000" cy="360000"/>
          </a:xfrm>
          <a:prstGeom prst="downArrow">
            <a:avLst/>
          </a:prstGeom>
          <a:solidFill>
            <a:srgbClr val="1F6FB2"/>
          </a:solidFill>
        </p:spPr>
        <p:txBody>
          <a:bodyPr/>
          <a:lstStyle/>
          <a:p>
            <a:pPr>
              <a:buNone/>
            </a:pPr>
            <a:endParaRPr lang="ru-RU"/>
          </a:p>
        </p:txBody>
      </p:sp>
      <p:sp>
        <p:nvSpPr>
          <p:cNvPr id="112" name="box"/>
          <p:cNvSpPr/>
          <p:nvPr/>
        </p:nvSpPr>
        <p:spPr>
          <a:xfrm>
            <a:off x="7050000" y="2400000"/>
            <a:ext cx="4450000" cy="760000"/>
          </a:xfrm>
          <a:prstGeom prst="roundRect">
            <a:avLst>
              <a:gd name="adj" fmla="val 12000"/>
            </a:avLst>
          </a:prstGeom>
          <a:solidFill>
            <a:srgbClr val="1F6FB2"/>
          </a:solidFill>
          <a:ln w="9525">
            <a:solidFill>
              <a:srgbClr val="FFFFFF"/>
            </a:solidFill>
          </a:ln>
        </p:spPr>
        <p:txBody>
          <a:bodyPr wrap="square" anchor="ctr" lIns="68580" rIns="68580" tIns="27432" bIns="27432">
            <a:norm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altLang="en-US" sz="16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Фермент топоизомераза II</a:t>
            </a:r>
          </a:p>
        </p:txBody>
      </p:sp>
      <p:sp>
        <p:nvSpPr>
          <p:cNvPr id="113" name="arrow"/>
          <p:cNvSpPr/>
          <p:nvPr/>
        </p:nvSpPr>
        <p:spPr>
          <a:xfrm>
            <a:off x="9145000" y="3160000"/>
            <a:ext cx="260000" cy="360000"/>
          </a:xfrm>
          <a:prstGeom prst="downArrow">
            <a:avLst/>
          </a:prstGeom>
          <a:solidFill>
            <a:srgbClr val="2E9E8F"/>
          </a:solidFill>
        </p:spPr>
        <p:txBody>
          <a:bodyPr/>
          <a:lstStyle/>
          <a:p>
            <a:pPr>
              <a:buNone/>
            </a:pPr>
            <a:endParaRPr lang="ru-RU"/>
          </a:p>
        </p:txBody>
      </p:sp>
      <p:sp>
        <p:nvSpPr>
          <p:cNvPr id="114" name="box"/>
          <p:cNvSpPr/>
          <p:nvPr/>
        </p:nvSpPr>
        <p:spPr>
          <a:xfrm>
            <a:off x="7050000" y="3520000"/>
            <a:ext cx="4450000" cy="760000"/>
          </a:xfrm>
          <a:prstGeom prst="roundRect">
            <a:avLst>
              <a:gd name="adj" fmla="val 12000"/>
            </a:avLst>
          </a:prstGeom>
          <a:solidFill>
            <a:srgbClr val="2E9E8F"/>
          </a:solidFill>
          <a:ln w="9525">
            <a:solidFill>
              <a:srgbClr val="FFFFFF"/>
            </a:solidFill>
          </a:ln>
        </p:spPr>
        <p:txBody>
          <a:bodyPr wrap="square" anchor="ctr" lIns="68580" rIns="68580" tIns="27432" bIns="27432">
            <a:norm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altLang="en-US" sz="14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Контроль топологии ДНК,</a:t>
            </a:r>
          </a:p>
          <a:p>
            <a:pPr marL="0" indent="0" algn="ctr">
              <a:spcBef>
                <a:spcPts val="200"/>
              </a:spcBef>
              <a:buNone/>
            </a:pPr>
            <a:r>
              <a:rPr lang="ru-RU" altLang="en-US" sz="14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репликация и деление клетки</a:t>
            </a:r>
          </a:p>
        </p:txBody>
      </p:sp>
      <p:sp>
        <p:nvSpPr>
          <p:cNvPr id="115" name="arrow"/>
          <p:cNvSpPr/>
          <p:nvPr/>
        </p:nvSpPr>
        <p:spPr>
          <a:xfrm>
            <a:off x="9145000" y="4280000"/>
            <a:ext cx="260000" cy="360000"/>
          </a:xfrm>
          <a:prstGeom prst="downArrow">
            <a:avLst/>
          </a:prstGeom>
          <a:solidFill>
            <a:srgbClr val="C55A11"/>
          </a:solidFill>
        </p:spPr>
        <p:txBody>
          <a:bodyPr/>
          <a:lstStyle/>
          <a:p>
            <a:pPr>
              <a:buNone/>
            </a:pPr>
            <a:endParaRPr lang="ru-RU"/>
          </a:p>
        </p:txBody>
      </p:sp>
      <p:sp>
        <p:nvSpPr>
          <p:cNvPr id="116" name="box"/>
          <p:cNvSpPr/>
          <p:nvPr/>
        </p:nvSpPr>
        <p:spPr>
          <a:xfrm>
            <a:off x="7050000" y="4640000"/>
            <a:ext cx="4450000" cy="760000"/>
          </a:xfrm>
          <a:prstGeom prst="roundRect">
            <a:avLst>
              <a:gd name="adj" fmla="val 12000"/>
            </a:avLst>
          </a:prstGeom>
          <a:solidFill>
            <a:srgbClr val="C55A11"/>
          </a:solidFill>
          <a:ln w="9525">
            <a:solidFill>
              <a:srgbClr val="FFFFFF"/>
            </a:solidFill>
          </a:ln>
        </p:spPr>
        <p:txBody>
          <a:bodyPr wrap="square" anchor="ctr" lIns="68580" rIns="68580" tIns="27432" bIns="27432">
            <a:norm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altLang="en-US" sz="15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Норма ↔ патология (рак)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023902" y="500042"/>
            <a:ext cx="9464586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ru-RU" sz="2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Цели и задачи</a:t>
            </a:r>
            <a:r>
              <a:rPr lang="en-US" sz="2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работы</a:t>
            </a:r>
            <a:endParaRPr lang="ru-RU" sz="28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Номер слайда 13"/>
          <p:cNvSpPr>
            <a:spLocks noGrp="1"/>
          </p:cNvSpPr>
          <p:nvPr>
            <p:ph type="sldNum" sz="quarter" idx="12"/>
          </p:nvPr>
        </p:nvSpPr>
        <p:spPr>
          <a:xfrm>
            <a:off x="11240770" y="6395085"/>
            <a:ext cx="304800" cy="276860"/>
          </a:xfrm>
        </p:spPr>
        <p:txBody>
          <a:bodyPr>
            <a:noAutofit/>
          </a:bodyPr>
          <a:lstStyle/>
          <a:p>
            <a:pPr marL="38100">
              <a:lnSpc>
                <a:spcPts val="2145"/>
              </a:lnSpc>
            </a:pPr>
            <a:fld id="{81D60167-4931-47E6-BA6A-407CBD079E47}" type="slidenum">
              <a:rPr lang="ru-RU" sz="2400" b="0" smtClean="0"/>
            </a:fld>
            <a:endParaRPr lang="ru-RU" sz="2400" b="0" dirty="0"/>
          </a:p>
        </p:txBody>
      </p:sp>
      <p:sp>
        <p:nvSpPr>
          <p:cNvPr id="3" name="object 3"/>
          <p:cNvSpPr/>
          <p:nvPr/>
        </p:nvSpPr>
        <p:spPr>
          <a:xfrm flipV="1">
            <a:off x="1023902" y="1000108"/>
            <a:ext cx="3643337" cy="142876"/>
          </a:xfrm>
          <a:custGeom>
            <a:avLst/>
            <a:gdLst/>
            <a:ahLst/>
            <a:cxnLst/>
            <a:rect l="l" t="t" r="r" b="b"/>
            <a:pathLst>
              <a:path w="9946005">
                <a:moveTo>
                  <a:pt x="0" y="0"/>
                </a:moveTo>
                <a:lnTo>
                  <a:pt x="9946005" y="0"/>
                </a:lnTo>
              </a:path>
            </a:pathLst>
          </a:custGeom>
          <a:ln w="6096">
            <a:solidFill>
              <a:srgbClr val="14BCBC"/>
            </a:solidFill>
          </a:ln>
        </p:spPr>
        <p:txBody>
          <a:bodyPr wrap="square" lIns="0" tIns="0" rIns="0" bIns="0" rtlCol="0"/>
          <a:lstStyle/>
          <a:p>
            <a:endParaRPr b="1"/>
          </a:p>
        </p:txBody>
      </p:sp>
      <p:grpSp>
        <p:nvGrpSpPr>
          <p:cNvPr id="4" name="object 4"/>
          <p:cNvGrpSpPr/>
          <p:nvPr/>
        </p:nvGrpSpPr>
        <p:grpSpPr>
          <a:xfrm>
            <a:off x="11226007" y="220725"/>
            <a:ext cx="585033" cy="1136573"/>
            <a:chOff x="10913388" y="236043"/>
            <a:chExt cx="668655" cy="1195070"/>
          </a:xfrm>
        </p:grpSpPr>
        <p:sp>
          <p:nvSpPr>
            <p:cNvPr id="5" name="object 5"/>
            <p:cNvSpPr/>
            <p:nvPr/>
          </p:nvSpPr>
          <p:spPr>
            <a:xfrm>
              <a:off x="10913388" y="601685"/>
              <a:ext cx="668655" cy="829310"/>
            </a:xfrm>
            <a:custGeom>
              <a:avLst/>
              <a:gdLst/>
              <a:ahLst/>
              <a:cxnLst/>
              <a:rect l="l" t="t" r="r" b="b"/>
              <a:pathLst>
                <a:path w="668654" h="829310">
                  <a:moveTo>
                    <a:pt x="126245" y="651742"/>
                  </a:moveTo>
                  <a:lnTo>
                    <a:pt x="61660" y="651742"/>
                  </a:lnTo>
                  <a:lnTo>
                    <a:pt x="293695" y="785010"/>
                  </a:lnTo>
                  <a:lnTo>
                    <a:pt x="293695" y="788261"/>
                  </a:lnTo>
                  <a:lnTo>
                    <a:pt x="296840" y="803522"/>
                  </a:lnTo>
                  <a:lnTo>
                    <a:pt x="305461" y="816499"/>
                  </a:lnTo>
                  <a:lnTo>
                    <a:pt x="318342" y="825514"/>
                  </a:lnTo>
                  <a:lnTo>
                    <a:pt x="334264" y="828892"/>
                  </a:lnTo>
                  <a:lnTo>
                    <a:pt x="350186" y="825514"/>
                  </a:lnTo>
                  <a:lnTo>
                    <a:pt x="363065" y="816499"/>
                  </a:lnTo>
                  <a:lnTo>
                    <a:pt x="371685" y="803522"/>
                  </a:lnTo>
                  <a:lnTo>
                    <a:pt x="374828" y="788261"/>
                  </a:lnTo>
                  <a:lnTo>
                    <a:pt x="374828" y="785010"/>
                  </a:lnTo>
                  <a:lnTo>
                    <a:pt x="425403" y="755758"/>
                  </a:lnTo>
                  <a:lnTo>
                    <a:pt x="306680" y="755758"/>
                  </a:lnTo>
                  <a:lnTo>
                    <a:pt x="126245" y="651742"/>
                  </a:lnTo>
                  <a:close/>
                </a:path>
                <a:path w="668654" h="829310">
                  <a:moveTo>
                    <a:pt x="334061" y="747226"/>
                  </a:moveTo>
                  <a:lnTo>
                    <a:pt x="319838" y="749359"/>
                  </a:lnTo>
                  <a:lnTo>
                    <a:pt x="306680" y="755758"/>
                  </a:lnTo>
                  <a:lnTo>
                    <a:pt x="360223" y="755758"/>
                  </a:lnTo>
                  <a:lnTo>
                    <a:pt x="347979" y="749359"/>
                  </a:lnTo>
                  <a:lnTo>
                    <a:pt x="334061" y="747226"/>
                  </a:lnTo>
                  <a:close/>
                </a:path>
                <a:path w="668654" h="829310">
                  <a:moveTo>
                    <a:pt x="481925" y="0"/>
                  </a:moveTo>
                  <a:lnTo>
                    <a:pt x="466002" y="3149"/>
                  </a:lnTo>
                  <a:lnTo>
                    <a:pt x="453122" y="11786"/>
                  </a:lnTo>
                  <a:lnTo>
                    <a:pt x="444500" y="24690"/>
                  </a:lnTo>
                  <a:lnTo>
                    <a:pt x="441355" y="40645"/>
                  </a:lnTo>
                  <a:lnTo>
                    <a:pt x="443105" y="52421"/>
                  </a:lnTo>
                  <a:lnTo>
                    <a:pt x="448050" y="62990"/>
                  </a:lnTo>
                  <a:lnTo>
                    <a:pt x="455733" y="71738"/>
                  </a:lnTo>
                  <a:lnTo>
                    <a:pt x="465698" y="78054"/>
                  </a:lnTo>
                  <a:lnTo>
                    <a:pt x="465698" y="206407"/>
                  </a:lnTo>
                  <a:lnTo>
                    <a:pt x="587384" y="271461"/>
                  </a:lnTo>
                  <a:lnTo>
                    <a:pt x="587384" y="274697"/>
                  </a:lnTo>
                  <a:lnTo>
                    <a:pt x="585796" y="276288"/>
                  </a:lnTo>
                  <a:lnTo>
                    <a:pt x="585796" y="277933"/>
                  </a:lnTo>
                  <a:lnTo>
                    <a:pt x="587846" y="290887"/>
                  </a:lnTo>
                  <a:lnTo>
                    <a:pt x="593695" y="302316"/>
                  </a:lnTo>
                  <a:lnTo>
                    <a:pt x="602892" y="311306"/>
                  </a:lnTo>
                  <a:lnTo>
                    <a:pt x="614985" y="316944"/>
                  </a:lnTo>
                  <a:lnTo>
                    <a:pt x="614985" y="578603"/>
                  </a:lnTo>
                  <a:lnTo>
                    <a:pt x="602892" y="584928"/>
                  </a:lnTo>
                  <a:lnTo>
                    <a:pt x="593695" y="593842"/>
                  </a:lnTo>
                  <a:lnTo>
                    <a:pt x="587846" y="604889"/>
                  </a:lnTo>
                  <a:lnTo>
                    <a:pt x="585796" y="617614"/>
                  </a:lnTo>
                  <a:lnTo>
                    <a:pt x="585796" y="620861"/>
                  </a:lnTo>
                  <a:lnTo>
                    <a:pt x="587384" y="622484"/>
                  </a:lnTo>
                  <a:lnTo>
                    <a:pt x="587384" y="625737"/>
                  </a:lnTo>
                  <a:lnTo>
                    <a:pt x="360223" y="755758"/>
                  </a:lnTo>
                  <a:lnTo>
                    <a:pt x="425403" y="755758"/>
                  </a:lnTo>
                  <a:lnTo>
                    <a:pt x="605237" y="651742"/>
                  </a:lnTo>
                  <a:lnTo>
                    <a:pt x="648894" y="651742"/>
                  </a:lnTo>
                  <a:lnTo>
                    <a:pt x="656777" y="646460"/>
                  </a:lnTo>
                  <a:lnTo>
                    <a:pt x="665399" y="633561"/>
                  </a:lnTo>
                  <a:lnTo>
                    <a:pt x="668544" y="617614"/>
                  </a:lnTo>
                  <a:lnTo>
                    <a:pt x="667074" y="606997"/>
                  </a:lnTo>
                  <a:lnTo>
                    <a:pt x="662862" y="597295"/>
                  </a:lnTo>
                  <a:lnTo>
                    <a:pt x="656207" y="588813"/>
                  </a:lnTo>
                  <a:lnTo>
                    <a:pt x="647405" y="581856"/>
                  </a:lnTo>
                  <a:lnTo>
                    <a:pt x="647405" y="313691"/>
                  </a:lnTo>
                  <a:lnTo>
                    <a:pt x="656207" y="307648"/>
                  </a:lnTo>
                  <a:lnTo>
                    <a:pt x="662862" y="299471"/>
                  </a:lnTo>
                  <a:lnTo>
                    <a:pt x="667074" y="289465"/>
                  </a:lnTo>
                  <a:lnTo>
                    <a:pt x="668544" y="277933"/>
                  </a:lnTo>
                  <a:lnTo>
                    <a:pt x="665399" y="261979"/>
                  </a:lnTo>
                  <a:lnTo>
                    <a:pt x="656777" y="249074"/>
                  </a:lnTo>
                  <a:lnTo>
                    <a:pt x="648931" y="243815"/>
                  </a:lnTo>
                  <a:lnTo>
                    <a:pt x="605237" y="243815"/>
                  </a:lnTo>
                  <a:lnTo>
                    <a:pt x="498151" y="186934"/>
                  </a:lnTo>
                  <a:lnTo>
                    <a:pt x="498151" y="78054"/>
                  </a:lnTo>
                  <a:lnTo>
                    <a:pt x="508113" y="71738"/>
                  </a:lnTo>
                  <a:lnTo>
                    <a:pt x="515795" y="62990"/>
                  </a:lnTo>
                  <a:lnTo>
                    <a:pt x="520739" y="52421"/>
                  </a:lnTo>
                  <a:lnTo>
                    <a:pt x="522488" y="40645"/>
                  </a:lnTo>
                  <a:lnTo>
                    <a:pt x="519345" y="24690"/>
                  </a:lnTo>
                  <a:lnTo>
                    <a:pt x="510725" y="11786"/>
                  </a:lnTo>
                  <a:lnTo>
                    <a:pt x="497846" y="3149"/>
                  </a:lnTo>
                  <a:lnTo>
                    <a:pt x="481925" y="0"/>
                  </a:lnTo>
                  <a:close/>
                </a:path>
                <a:path w="668654" h="829310">
                  <a:moveTo>
                    <a:pt x="48679" y="237288"/>
                  </a:moveTo>
                  <a:lnTo>
                    <a:pt x="40566" y="237288"/>
                  </a:lnTo>
                  <a:lnTo>
                    <a:pt x="24644" y="240438"/>
                  </a:lnTo>
                  <a:lnTo>
                    <a:pt x="11764" y="249074"/>
                  </a:lnTo>
                  <a:lnTo>
                    <a:pt x="3143" y="261979"/>
                  </a:lnTo>
                  <a:lnTo>
                    <a:pt x="0" y="277933"/>
                  </a:lnTo>
                  <a:lnTo>
                    <a:pt x="1470" y="289491"/>
                  </a:lnTo>
                  <a:lnTo>
                    <a:pt x="5679" y="299674"/>
                  </a:lnTo>
                  <a:lnTo>
                    <a:pt x="12322" y="308333"/>
                  </a:lnTo>
                  <a:lnTo>
                    <a:pt x="21095" y="315315"/>
                  </a:lnTo>
                  <a:lnTo>
                    <a:pt x="21095" y="581856"/>
                  </a:lnTo>
                  <a:lnTo>
                    <a:pt x="12322" y="588128"/>
                  </a:lnTo>
                  <a:lnTo>
                    <a:pt x="5679" y="596686"/>
                  </a:lnTo>
                  <a:lnTo>
                    <a:pt x="1470" y="606769"/>
                  </a:lnTo>
                  <a:lnTo>
                    <a:pt x="0" y="617614"/>
                  </a:lnTo>
                  <a:lnTo>
                    <a:pt x="3143" y="633561"/>
                  </a:lnTo>
                  <a:lnTo>
                    <a:pt x="11764" y="646460"/>
                  </a:lnTo>
                  <a:lnTo>
                    <a:pt x="24644" y="655094"/>
                  </a:lnTo>
                  <a:lnTo>
                    <a:pt x="40566" y="658242"/>
                  </a:lnTo>
                  <a:lnTo>
                    <a:pt x="48679" y="658242"/>
                  </a:lnTo>
                  <a:lnTo>
                    <a:pt x="55171" y="656619"/>
                  </a:lnTo>
                  <a:lnTo>
                    <a:pt x="61660" y="651742"/>
                  </a:lnTo>
                  <a:lnTo>
                    <a:pt x="126245" y="651742"/>
                  </a:lnTo>
                  <a:lnTo>
                    <a:pt x="81134" y="625737"/>
                  </a:lnTo>
                  <a:lnTo>
                    <a:pt x="81134" y="617614"/>
                  </a:lnTo>
                  <a:lnTo>
                    <a:pt x="79106" y="604889"/>
                  </a:lnTo>
                  <a:lnTo>
                    <a:pt x="73426" y="593842"/>
                  </a:lnTo>
                  <a:lnTo>
                    <a:pt x="64703" y="584928"/>
                  </a:lnTo>
                  <a:lnTo>
                    <a:pt x="53544" y="578603"/>
                  </a:lnTo>
                  <a:lnTo>
                    <a:pt x="53544" y="316944"/>
                  </a:lnTo>
                  <a:lnTo>
                    <a:pt x="64703" y="310621"/>
                  </a:lnTo>
                  <a:lnTo>
                    <a:pt x="73426" y="301707"/>
                  </a:lnTo>
                  <a:lnTo>
                    <a:pt x="79106" y="290658"/>
                  </a:lnTo>
                  <a:lnTo>
                    <a:pt x="81134" y="277933"/>
                  </a:lnTo>
                  <a:lnTo>
                    <a:pt x="81134" y="276288"/>
                  </a:lnTo>
                  <a:lnTo>
                    <a:pt x="79508" y="274697"/>
                  </a:lnTo>
                  <a:lnTo>
                    <a:pt x="79508" y="271461"/>
                  </a:lnTo>
                  <a:lnTo>
                    <a:pt x="130664" y="243815"/>
                  </a:lnTo>
                  <a:lnTo>
                    <a:pt x="61660" y="243815"/>
                  </a:lnTo>
                  <a:lnTo>
                    <a:pt x="48679" y="237288"/>
                  </a:lnTo>
                  <a:close/>
                </a:path>
                <a:path w="668654" h="829310">
                  <a:moveTo>
                    <a:pt x="648894" y="651742"/>
                  </a:moveTo>
                  <a:lnTo>
                    <a:pt x="605237" y="651742"/>
                  </a:lnTo>
                  <a:lnTo>
                    <a:pt x="611754" y="656619"/>
                  </a:lnTo>
                  <a:lnTo>
                    <a:pt x="619859" y="658242"/>
                  </a:lnTo>
                  <a:lnTo>
                    <a:pt x="627964" y="658242"/>
                  </a:lnTo>
                  <a:lnTo>
                    <a:pt x="643893" y="655094"/>
                  </a:lnTo>
                  <a:lnTo>
                    <a:pt x="648894" y="651742"/>
                  </a:lnTo>
                  <a:close/>
                </a:path>
                <a:path w="668654" h="829310">
                  <a:moveTo>
                    <a:pt x="186604" y="0"/>
                  </a:moveTo>
                  <a:lnTo>
                    <a:pt x="170682" y="3149"/>
                  </a:lnTo>
                  <a:lnTo>
                    <a:pt x="157801" y="11786"/>
                  </a:lnTo>
                  <a:lnTo>
                    <a:pt x="149179" y="24690"/>
                  </a:lnTo>
                  <a:lnTo>
                    <a:pt x="146035" y="40645"/>
                  </a:lnTo>
                  <a:lnTo>
                    <a:pt x="147785" y="52421"/>
                  </a:lnTo>
                  <a:lnTo>
                    <a:pt x="152729" y="62990"/>
                  </a:lnTo>
                  <a:lnTo>
                    <a:pt x="160412" y="71738"/>
                  </a:lnTo>
                  <a:lnTo>
                    <a:pt x="170378" y="78054"/>
                  </a:lnTo>
                  <a:lnTo>
                    <a:pt x="170378" y="185289"/>
                  </a:lnTo>
                  <a:lnTo>
                    <a:pt x="61660" y="243815"/>
                  </a:lnTo>
                  <a:lnTo>
                    <a:pt x="130664" y="243815"/>
                  </a:lnTo>
                  <a:lnTo>
                    <a:pt x="202831" y="204816"/>
                  </a:lnTo>
                  <a:lnTo>
                    <a:pt x="202831" y="78054"/>
                  </a:lnTo>
                  <a:lnTo>
                    <a:pt x="212795" y="71738"/>
                  </a:lnTo>
                  <a:lnTo>
                    <a:pt x="220476" y="62990"/>
                  </a:lnTo>
                  <a:lnTo>
                    <a:pt x="225419" y="52421"/>
                  </a:lnTo>
                  <a:lnTo>
                    <a:pt x="227168" y="40645"/>
                  </a:lnTo>
                  <a:lnTo>
                    <a:pt x="224024" y="24690"/>
                  </a:lnTo>
                  <a:lnTo>
                    <a:pt x="215405" y="11786"/>
                  </a:lnTo>
                  <a:lnTo>
                    <a:pt x="202526" y="3149"/>
                  </a:lnTo>
                  <a:lnTo>
                    <a:pt x="186604" y="0"/>
                  </a:lnTo>
                  <a:close/>
                </a:path>
                <a:path w="668654" h="829310">
                  <a:moveTo>
                    <a:pt x="627964" y="237288"/>
                  </a:moveTo>
                  <a:lnTo>
                    <a:pt x="619859" y="237288"/>
                  </a:lnTo>
                  <a:lnTo>
                    <a:pt x="611754" y="240579"/>
                  </a:lnTo>
                  <a:lnTo>
                    <a:pt x="605237" y="243815"/>
                  </a:lnTo>
                  <a:lnTo>
                    <a:pt x="648931" y="243815"/>
                  </a:lnTo>
                  <a:lnTo>
                    <a:pt x="643893" y="240438"/>
                  </a:lnTo>
                  <a:lnTo>
                    <a:pt x="627964" y="237288"/>
                  </a:lnTo>
                  <a:close/>
                </a:path>
              </a:pathLst>
            </a:custGeom>
            <a:solidFill>
              <a:srgbClr val="1D70B8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6" name="object 6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11164899" y="466804"/>
              <a:ext cx="115207" cy="115408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1195725" y="236043"/>
              <a:ext cx="79511" cy="79644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1293085" y="336806"/>
              <a:ext cx="95738" cy="95880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1150293" y="954381"/>
              <a:ext cx="193092" cy="203154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11054555" y="855264"/>
              <a:ext cx="386080" cy="388620"/>
            </a:xfrm>
            <a:custGeom>
              <a:avLst/>
              <a:gdLst/>
              <a:ahLst/>
              <a:cxnLst/>
              <a:rect l="l" t="t" r="r" b="b"/>
              <a:pathLst>
                <a:path w="386079" h="388619">
                  <a:moveTo>
                    <a:pt x="193097" y="0"/>
                  </a:moveTo>
                  <a:lnTo>
                    <a:pt x="148680" y="5173"/>
                  </a:lnTo>
                  <a:lnTo>
                    <a:pt x="107980" y="19896"/>
                  </a:lnTo>
                  <a:lnTo>
                    <a:pt x="72135" y="42977"/>
                  </a:lnTo>
                  <a:lnTo>
                    <a:pt x="42279" y="73222"/>
                  </a:lnTo>
                  <a:lnTo>
                    <a:pt x="19547" y="109438"/>
                  </a:lnTo>
                  <a:lnTo>
                    <a:pt x="5076" y="150431"/>
                  </a:lnTo>
                  <a:lnTo>
                    <a:pt x="0" y="195008"/>
                  </a:lnTo>
                  <a:lnTo>
                    <a:pt x="5076" y="238984"/>
                  </a:lnTo>
                  <a:lnTo>
                    <a:pt x="19547" y="279548"/>
                  </a:lnTo>
                  <a:lnTo>
                    <a:pt x="42279" y="315478"/>
                  </a:lnTo>
                  <a:lnTo>
                    <a:pt x="72135" y="345552"/>
                  </a:lnTo>
                  <a:lnTo>
                    <a:pt x="107980" y="368547"/>
                  </a:lnTo>
                  <a:lnTo>
                    <a:pt x="148680" y="383241"/>
                  </a:lnTo>
                  <a:lnTo>
                    <a:pt x="193097" y="388410"/>
                  </a:lnTo>
                  <a:lnTo>
                    <a:pt x="224080" y="385059"/>
                  </a:lnTo>
                  <a:lnTo>
                    <a:pt x="253541" y="377440"/>
                  </a:lnTo>
                  <a:lnTo>
                    <a:pt x="281175" y="365555"/>
                  </a:lnTo>
                  <a:lnTo>
                    <a:pt x="296414" y="355905"/>
                  </a:lnTo>
                  <a:lnTo>
                    <a:pt x="193097" y="355905"/>
                  </a:lnTo>
                  <a:lnTo>
                    <a:pt x="150090" y="350081"/>
                  </a:lnTo>
                  <a:lnTo>
                    <a:pt x="111365" y="333694"/>
                  </a:lnTo>
                  <a:lnTo>
                    <a:pt x="78498" y="308368"/>
                  </a:lnTo>
                  <a:lnTo>
                    <a:pt x="53069" y="275728"/>
                  </a:lnTo>
                  <a:lnTo>
                    <a:pt x="36654" y="237400"/>
                  </a:lnTo>
                  <a:lnTo>
                    <a:pt x="30832" y="195008"/>
                  </a:lnTo>
                  <a:lnTo>
                    <a:pt x="36654" y="151930"/>
                  </a:lnTo>
                  <a:lnTo>
                    <a:pt x="53069" y="113140"/>
                  </a:lnTo>
                  <a:lnTo>
                    <a:pt x="78498" y="80218"/>
                  </a:lnTo>
                  <a:lnTo>
                    <a:pt x="111365" y="54746"/>
                  </a:lnTo>
                  <a:lnTo>
                    <a:pt x="150090" y="38304"/>
                  </a:lnTo>
                  <a:lnTo>
                    <a:pt x="193097" y="32472"/>
                  </a:lnTo>
                  <a:lnTo>
                    <a:pt x="326658" y="32472"/>
                  </a:lnTo>
                  <a:lnTo>
                    <a:pt x="324531" y="30881"/>
                  </a:lnTo>
                  <a:lnTo>
                    <a:pt x="295325" y="30881"/>
                  </a:lnTo>
                  <a:lnTo>
                    <a:pt x="271365" y="17818"/>
                  </a:lnTo>
                  <a:lnTo>
                    <a:pt x="246035" y="8118"/>
                  </a:lnTo>
                  <a:lnTo>
                    <a:pt x="219794" y="2079"/>
                  </a:lnTo>
                  <a:lnTo>
                    <a:pt x="193097" y="0"/>
                  </a:lnTo>
                  <a:close/>
                </a:path>
                <a:path w="386079" h="388619">
                  <a:moveTo>
                    <a:pt x="376453" y="162503"/>
                  </a:moveTo>
                  <a:lnTo>
                    <a:pt x="363474" y="162503"/>
                  </a:lnTo>
                  <a:lnTo>
                    <a:pt x="353737" y="172256"/>
                  </a:lnTo>
                  <a:lnTo>
                    <a:pt x="353737" y="180379"/>
                  </a:lnTo>
                  <a:lnTo>
                    <a:pt x="354356" y="190562"/>
                  </a:lnTo>
                  <a:lnTo>
                    <a:pt x="354305" y="202930"/>
                  </a:lnTo>
                  <a:lnTo>
                    <a:pt x="340756" y="257985"/>
                  </a:lnTo>
                  <a:lnTo>
                    <a:pt x="318042" y="295771"/>
                  </a:lnTo>
                  <a:lnTo>
                    <a:pt x="270907" y="335338"/>
                  </a:lnTo>
                  <a:lnTo>
                    <a:pt x="220657" y="353518"/>
                  </a:lnTo>
                  <a:lnTo>
                    <a:pt x="193097" y="355905"/>
                  </a:lnTo>
                  <a:lnTo>
                    <a:pt x="296414" y="355905"/>
                  </a:lnTo>
                  <a:lnTo>
                    <a:pt x="334268" y="325023"/>
                  </a:lnTo>
                  <a:lnTo>
                    <a:pt x="367937" y="275658"/>
                  </a:lnTo>
                  <a:lnTo>
                    <a:pt x="384569" y="217761"/>
                  </a:lnTo>
                  <a:lnTo>
                    <a:pt x="385937" y="190562"/>
                  </a:lnTo>
                  <a:lnTo>
                    <a:pt x="384569" y="177127"/>
                  </a:lnTo>
                  <a:lnTo>
                    <a:pt x="384569" y="172256"/>
                  </a:lnTo>
                  <a:lnTo>
                    <a:pt x="382948" y="169003"/>
                  </a:lnTo>
                  <a:lnTo>
                    <a:pt x="376453" y="162503"/>
                  </a:lnTo>
                  <a:close/>
                </a:path>
                <a:path w="386079" h="388619">
                  <a:moveTo>
                    <a:pt x="326658" y="32472"/>
                  </a:moveTo>
                  <a:lnTo>
                    <a:pt x="193097" y="32472"/>
                  </a:lnTo>
                  <a:lnTo>
                    <a:pt x="214952" y="33998"/>
                  </a:lnTo>
                  <a:lnTo>
                    <a:pt x="236503" y="38573"/>
                  </a:lnTo>
                  <a:lnTo>
                    <a:pt x="257445" y="46196"/>
                  </a:lnTo>
                  <a:lnTo>
                    <a:pt x="277472" y="56864"/>
                  </a:lnTo>
                  <a:lnTo>
                    <a:pt x="277472" y="58488"/>
                  </a:lnTo>
                  <a:lnTo>
                    <a:pt x="279780" y="71108"/>
                  </a:lnTo>
                  <a:lnTo>
                    <a:pt x="286196" y="81444"/>
                  </a:lnTo>
                  <a:lnTo>
                    <a:pt x="295958" y="88428"/>
                  </a:lnTo>
                  <a:lnTo>
                    <a:pt x="308305" y="90993"/>
                  </a:lnTo>
                  <a:lnTo>
                    <a:pt x="320905" y="88428"/>
                  </a:lnTo>
                  <a:lnTo>
                    <a:pt x="331224" y="81444"/>
                  </a:lnTo>
                  <a:lnTo>
                    <a:pt x="338197" y="71108"/>
                  </a:lnTo>
                  <a:lnTo>
                    <a:pt x="340758" y="58488"/>
                  </a:lnTo>
                  <a:lnTo>
                    <a:pt x="340758" y="50359"/>
                  </a:lnTo>
                  <a:lnTo>
                    <a:pt x="337510" y="42235"/>
                  </a:lnTo>
                  <a:lnTo>
                    <a:pt x="331021" y="35735"/>
                  </a:lnTo>
                  <a:lnTo>
                    <a:pt x="326658" y="32472"/>
                  </a:lnTo>
                  <a:close/>
                </a:path>
                <a:path w="386079" h="388619">
                  <a:moveTo>
                    <a:pt x="316415" y="27590"/>
                  </a:moveTo>
                  <a:lnTo>
                    <a:pt x="298567" y="27590"/>
                  </a:lnTo>
                  <a:lnTo>
                    <a:pt x="295325" y="30881"/>
                  </a:lnTo>
                  <a:lnTo>
                    <a:pt x="324531" y="30881"/>
                  </a:lnTo>
                  <a:lnTo>
                    <a:pt x="316415" y="27590"/>
                  </a:lnTo>
                  <a:close/>
                </a:path>
              </a:pathLst>
            </a:custGeom>
            <a:solidFill>
              <a:srgbClr val="1D70B8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0" name="Прямоугольник 19"/>
          <p:cNvSpPr/>
          <p:nvPr/>
        </p:nvSpPr>
        <p:spPr>
          <a:xfrm>
            <a:off x="760574" y="1357185"/>
            <a:ext cx="10480196" cy="3784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indent="449580" algn="just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 –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Синтез и исследование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олигонуклеотидных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праймеров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для изучения экспрессии человеческого гена TOP2 методом полимеразной цепной реакции.</a:t>
            </a:r>
            <a:endParaRPr lang="ru-RU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indent="449580" algn="just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Задачи: </a:t>
            </a:r>
            <a:endParaRPr lang="ru-RU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457200" algn="just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AutoNum type="arabicPeriod"/>
            </a:pPr>
            <a:r>
              <a:rPr lang="ru-RU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Провести </a:t>
            </a:r>
            <a:r>
              <a:rPr lang="ru-RU" alt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биоинформатический</a:t>
            </a:r>
            <a:r>
              <a:rPr lang="ru-RU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анализ нуклеотидной последовательности гена TOP2.</a:t>
            </a:r>
            <a:endParaRPr lang="ru-RU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457200" algn="just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AutoNum type="arabicPeriod"/>
            </a:pPr>
            <a:r>
              <a:rPr lang="ru-RU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Спроектировать и сконструировать специфические </a:t>
            </a:r>
            <a:r>
              <a:rPr lang="ru-RU" alt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праймеры</a:t>
            </a:r>
            <a:r>
              <a:rPr lang="ru-RU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457200" algn="just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AutoNum type="arabicPeriod"/>
            </a:pPr>
            <a:r>
              <a:rPr lang="ru-RU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Выполнить химический синтез целевых </a:t>
            </a:r>
            <a:r>
              <a:rPr lang="ru-RU" alt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олигонуклеотидов</a:t>
            </a:r>
            <a:r>
              <a:rPr lang="ru-RU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457200" algn="just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AutoNum type="arabicPeriod"/>
            </a:pPr>
            <a:r>
              <a:rPr lang="ru-RU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Провести очистку и определить концентрацию полученных </a:t>
            </a:r>
            <a:r>
              <a:rPr lang="ru-RU" alt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праймеров</a:t>
            </a:r>
            <a:r>
              <a:rPr lang="ru-RU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457200" algn="just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AutoNum type="arabicPeriod"/>
            </a:pPr>
            <a:r>
              <a:rPr lang="ru-RU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Исследовать экспрессию гена методом ПЦР.</a:t>
            </a:r>
            <a:endParaRPr lang="ru-RU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 flipV="1">
            <a:off x="738150" y="1043938"/>
            <a:ext cx="9701631" cy="45719"/>
          </a:xfrm>
          <a:custGeom>
            <a:avLst/>
            <a:gdLst/>
            <a:ahLst/>
            <a:cxnLst/>
            <a:rect l="l" t="t" r="r" b="b"/>
            <a:pathLst>
              <a:path w="9946005">
                <a:moveTo>
                  <a:pt x="0" y="0"/>
                </a:moveTo>
                <a:lnTo>
                  <a:pt x="9946005" y="0"/>
                </a:lnTo>
              </a:path>
            </a:pathLst>
          </a:custGeom>
          <a:ln w="6096">
            <a:solidFill>
              <a:srgbClr val="5B9BD4"/>
            </a:solidFill>
          </a:ln>
        </p:spPr>
        <p:txBody>
          <a:bodyPr wrap="square" lIns="0" tIns="0" rIns="0" bIns="0" rtlCol="0"/>
          <a:lstStyle/>
          <a:p/>
        </p:txBody>
      </p:sp>
      <p:grpSp>
        <p:nvGrpSpPr>
          <p:cNvPr id="4" name="object 4"/>
          <p:cNvGrpSpPr/>
          <p:nvPr/>
        </p:nvGrpSpPr>
        <p:grpSpPr>
          <a:xfrm>
            <a:off x="10913388" y="236043"/>
            <a:ext cx="668655" cy="1195070"/>
            <a:chOff x="10913388" y="236043"/>
            <a:chExt cx="668655" cy="1195070"/>
          </a:xfrm>
        </p:grpSpPr>
        <p:sp>
          <p:nvSpPr>
            <p:cNvPr id="5" name="object 5"/>
            <p:cNvSpPr/>
            <p:nvPr/>
          </p:nvSpPr>
          <p:spPr>
            <a:xfrm>
              <a:off x="10913388" y="601685"/>
              <a:ext cx="668655" cy="829310"/>
            </a:xfrm>
            <a:custGeom>
              <a:avLst/>
              <a:gdLst/>
              <a:ahLst/>
              <a:cxnLst/>
              <a:rect l="l" t="t" r="r" b="b"/>
              <a:pathLst>
                <a:path w="668654" h="829310">
                  <a:moveTo>
                    <a:pt x="126245" y="651742"/>
                  </a:moveTo>
                  <a:lnTo>
                    <a:pt x="61660" y="651742"/>
                  </a:lnTo>
                  <a:lnTo>
                    <a:pt x="293695" y="785010"/>
                  </a:lnTo>
                  <a:lnTo>
                    <a:pt x="293695" y="788261"/>
                  </a:lnTo>
                  <a:lnTo>
                    <a:pt x="296840" y="803522"/>
                  </a:lnTo>
                  <a:lnTo>
                    <a:pt x="305461" y="816499"/>
                  </a:lnTo>
                  <a:lnTo>
                    <a:pt x="318342" y="825514"/>
                  </a:lnTo>
                  <a:lnTo>
                    <a:pt x="334264" y="828892"/>
                  </a:lnTo>
                  <a:lnTo>
                    <a:pt x="350186" y="825514"/>
                  </a:lnTo>
                  <a:lnTo>
                    <a:pt x="363065" y="816499"/>
                  </a:lnTo>
                  <a:lnTo>
                    <a:pt x="371685" y="803522"/>
                  </a:lnTo>
                  <a:lnTo>
                    <a:pt x="374828" y="788261"/>
                  </a:lnTo>
                  <a:lnTo>
                    <a:pt x="374828" y="785010"/>
                  </a:lnTo>
                  <a:lnTo>
                    <a:pt x="425403" y="755758"/>
                  </a:lnTo>
                  <a:lnTo>
                    <a:pt x="306680" y="755758"/>
                  </a:lnTo>
                  <a:lnTo>
                    <a:pt x="126245" y="651742"/>
                  </a:lnTo>
                  <a:close/>
                </a:path>
                <a:path w="668654" h="829310">
                  <a:moveTo>
                    <a:pt x="334061" y="747226"/>
                  </a:moveTo>
                  <a:lnTo>
                    <a:pt x="319838" y="749359"/>
                  </a:lnTo>
                  <a:lnTo>
                    <a:pt x="306680" y="755758"/>
                  </a:lnTo>
                  <a:lnTo>
                    <a:pt x="360223" y="755758"/>
                  </a:lnTo>
                  <a:lnTo>
                    <a:pt x="347979" y="749359"/>
                  </a:lnTo>
                  <a:lnTo>
                    <a:pt x="334061" y="747226"/>
                  </a:lnTo>
                  <a:close/>
                </a:path>
                <a:path w="668654" h="829310">
                  <a:moveTo>
                    <a:pt x="481925" y="0"/>
                  </a:moveTo>
                  <a:lnTo>
                    <a:pt x="466002" y="3149"/>
                  </a:lnTo>
                  <a:lnTo>
                    <a:pt x="453122" y="11786"/>
                  </a:lnTo>
                  <a:lnTo>
                    <a:pt x="444500" y="24690"/>
                  </a:lnTo>
                  <a:lnTo>
                    <a:pt x="441355" y="40645"/>
                  </a:lnTo>
                  <a:lnTo>
                    <a:pt x="443105" y="52421"/>
                  </a:lnTo>
                  <a:lnTo>
                    <a:pt x="448050" y="62990"/>
                  </a:lnTo>
                  <a:lnTo>
                    <a:pt x="455733" y="71738"/>
                  </a:lnTo>
                  <a:lnTo>
                    <a:pt x="465698" y="78054"/>
                  </a:lnTo>
                  <a:lnTo>
                    <a:pt x="465698" y="206407"/>
                  </a:lnTo>
                  <a:lnTo>
                    <a:pt x="587384" y="271461"/>
                  </a:lnTo>
                  <a:lnTo>
                    <a:pt x="587384" y="274697"/>
                  </a:lnTo>
                  <a:lnTo>
                    <a:pt x="585796" y="276288"/>
                  </a:lnTo>
                  <a:lnTo>
                    <a:pt x="585796" y="277933"/>
                  </a:lnTo>
                  <a:lnTo>
                    <a:pt x="587846" y="290887"/>
                  </a:lnTo>
                  <a:lnTo>
                    <a:pt x="593695" y="302316"/>
                  </a:lnTo>
                  <a:lnTo>
                    <a:pt x="602892" y="311306"/>
                  </a:lnTo>
                  <a:lnTo>
                    <a:pt x="614985" y="316944"/>
                  </a:lnTo>
                  <a:lnTo>
                    <a:pt x="614985" y="578603"/>
                  </a:lnTo>
                  <a:lnTo>
                    <a:pt x="602892" y="584928"/>
                  </a:lnTo>
                  <a:lnTo>
                    <a:pt x="593695" y="593842"/>
                  </a:lnTo>
                  <a:lnTo>
                    <a:pt x="587846" y="604889"/>
                  </a:lnTo>
                  <a:lnTo>
                    <a:pt x="585796" y="617614"/>
                  </a:lnTo>
                  <a:lnTo>
                    <a:pt x="585796" y="620861"/>
                  </a:lnTo>
                  <a:lnTo>
                    <a:pt x="587384" y="622484"/>
                  </a:lnTo>
                  <a:lnTo>
                    <a:pt x="587384" y="625737"/>
                  </a:lnTo>
                  <a:lnTo>
                    <a:pt x="360223" y="755758"/>
                  </a:lnTo>
                  <a:lnTo>
                    <a:pt x="425403" y="755758"/>
                  </a:lnTo>
                  <a:lnTo>
                    <a:pt x="605237" y="651742"/>
                  </a:lnTo>
                  <a:lnTo>
                    <a:pt x="648894" y="651742"/>
                  </a:lnTo>
                  <a:lnTo>
                    <a:pt x="656777" y="646460"/>
                  </a:lnTo>
                  <a:lnTo>
                    <a:pt x="665399" y="633561"/>
                  </a:lnTo>
                  <a:lnTo>
                    <a:pt x="668544" y="617614"/>
                  </a:lnTo>
                  <a:lnTo>
                    <a:pt x="667074" y="606997"/>
                  </a:lnTo>
                  <a:lnTo>
                    <a:pt x="662862" y="597295"/>
                  </a:lnTo>
                  <a:lnTo>
                    <a:pt x="656207" y="588813"/>
                  </a:lnTo>
                  <a:lnTo>
                    <a:pt x="647405" y="581856"/>
                  </a:lnTo>
                  <a:lnTo>
                    <a:pt x="647405" y="313691"/>
                  </a:lnTo>
                  <a:lnTo>
                    <a:pt x="656207" y="307648"/>
                  </a:lnTo>
                  <a:lnTo>
                    <a:pt x="662862" y="299471"/>
                  </a:lnTo>
                  <a:lnTo>
                    <a:pt x="667074" y="289465"/>
                  </a:lnTo>
                  <a:lnTo>
                    <a:pt x="668544" y="277933"/>
                  </a:lnTo>
                  <a:lnTo>
                    <a:pt x="665399" y="261979"/>
                  </a:lnTo>
                  <a:lnTo>
                    <a:pt x="656777" y="249074"/>
                  </a:lnTo>
                  <a:lnTo>
                    <a:pt x="648931" y="243815"/>
                  </a:lnTo>
                  <a:lnTo>
                    <a:pt x="605237" y="243815"/>
                  </a:lnTo>
                  <a:lnTo>
                    <a:pt x="498151" y="186934"/>
                  </a:lnTo>
                  <a:lnTo>
                    <a:pt x="498151" y="78054"/>
                  </a:lnTo>
                  <a:lnTo>
                    <a:pt x="508113" y="71738"/>
                  </a:lnTo>
                  <a:lnTo>
                    <a:pt x="515795" y="62990"/>
                  </a:lnTo>
                  <a:lnTo>
                    <a:pt x="520739" y="52421"/>
                  </a:lnTo>
                  <a:lnTo>
                    <a:pt x="522488" y="40645"/>
                  </a:lnTo>
                  <a:lnTo>
                    <a:pt x="519345" y="24690"/>
                  </a:lnTo>
                  <a:lnTo>
                    <a:pt x="510725" y="11786"/>
                  </a:lnTo>
                  <a:lnTo>
                    <a:pt x="497846" y="3149"/>
                  </a:lnTo>
                  <a:lnTo>
                    <a:pt x="481925" y="0"/>
                  </a:lnTo>
                  <a:close/>
                </a:path>
                <a:path w="668654" h="829310">
                  <a:moveTo>
                    <a:pt x="48679" y="237288"/>
                  </a:moveTo>
                  <a:lnTo>
                    <a:pt x="40566" y="237288"/>
                  </a:lnTo>
                  <a:lnTo>
                    <a:pt x="24644" y="240438"/>
                  </a:lnTo>
                  <a:lnTo>
                    <a:pt x="11764" y="249074"/>
                  </a:lnTo>
                  <a:lnTo>
                    <a:pt x="3143" y="261979"/>
                  </a:lnTo>
                  <a:lnTo>
                    <a:pt x="0" y="277933"/>
                  </a:lnTo>
                  <a:lnTo>
                    <a:pt x="1470" y="289491"/>
                  </a:lnTo>
                  <a:lnTo>
                    <a:pt x="5679" y="299674"/>
                  </a:lnTo>
                  <a:lnTo>
                    <a:pt x="12322" y="308333"/>
                  </a:lnTo>
                  <a:lnTo>
                    <a:pt x="21095" y="315315"/>
                  </a:lnTo>
                  <a:lnTo>
                    <a:pt x="21095" y="581856"/>
                  </a:lnTo>
                  <a:lnTo>
                    <a:pt x="12322" y="588128"/>
                  </a:lnTo>
                  <a:lnTo>
                    <a:pt x="5679" y="596686"/>
                  </a:lnTo>
                  <a:lnTo>
                    <a:pt x="1470" y="606769"/>
                  </a:lnTo>
                  <a:lnTo>
                    <a:pt x="0" y="617614"/>
                  </a:lnTo>
                  <a:lnTo>
                    <a:pt x="3143" y="633561"/>
                  </a:lnTo>
                  <a:lnTo>
                    <a:pt x="11764" y="646460"/>
                  </a:lnTo>
                  <a:lnTo>
                    <a:pt x="24644" y="655094"/>
                  </a:lnTo>
                  <a:lnTo>
                    <a:pt x="40566" y="658242"/>
                  </a:lnTo>
                  <a:lnTo>
                    <a:pt x="48679" y="658242"/>
                  </a:lnTo>
                  <a:lnTo>
                    <a:pt x="55171" y="656619"/>
                  </a:lnTo>
                  <a:lnTo>
                    <a:pt x="61660" y="651742"/>
                  </a:lnTo>
                  <a:lnTo>
                    <a:pt x="126245" y="651742"/>
                  </a:lnTo>
                  <a:lnTo>
                    <a:pt x="81134" y="625737"/>
                  </a:lnTo>
                  <a:lnTo>
                    <a:pt x="81134" y="617614"/>
                  </a:lnTo>
                  <a:lnTo>
                    <a:pt x="79106" y="604889"/>
                  </a:lnTo>
                  <a:lnTo>
                    <a:pt x="73426" y="593842"/>
                  </a:lnTo>
                  <a:lnTo>
                    <a:pt x="64703" y="584928"/>
                  </a:lnTo>
                  <a:lnTo>
                    <a:pt x="53544" y="578603"/>
                  </a:lnTo>
                  <a:lnTo>
                    <a:pt x="53544" y="316944"/>
                  </a:lnTo>
                  <a:lnTo>
                    <a:pt x="64703" y="310621"/>
                  </a:lnTo>
                  <a:lnTo>
                    <a:pt x="73426" y="301707"/>
                  </a:lnTo>
                  <a:lnTo>
                    <a:pt x="79106" y="290658"/>
                  </a:lnTo>
                  <a:lnTo>
                    <a:pt x="81134" y="277933"/>
                  </a:lnTo>
                  <a:lnTo>
                    <a:pt x="81134" y="276288"/>
                  </a:lnTo>
                  <a:lnTo>
                    <a:pt x="79508" y="274697"/>
                  </a:lnTo>
                  <a:lnTo>
                    <a:pt x="79508" y="271461"/>
                  </a:lnTo>
                  <a:lnTo>
                    <a:pt x="130664" y="243815"/>
                  </a:lnTo>
                  <a:lnTo>
                    <a:pt x="61660" y="243815"/>
                  </a:lnTo>
                  <a:lnTo>
                    <a:pt x="48679" y="237288"/>
                  </a:lnTo>
                  <a:close/>
                </a:path>
                <a:path w="668654" h="829310">
                  <a:moveTo>
                    <a:pt x="648894" y="651742"/>
                  </a:moveTo>
                  <a:lnTo>
                    <a:pt x="605237" y="651742"/>
                  </a:lnTo>
                  <a:lnTo>
                    <a:pt x="611754" y="656619"/>
                  </a:lnTo>
                  <a:lnTo>
                    <a:pt x="619859" y="658242"/>
                  </a:lnTo>
                  <a:lnTo>
                    <a:pt x="627964" y="658242"/>
                  </a:lnTo>
                  <a:lnTo>
                    <a:pt x="643893" y="655094"/>
                  </a:lnTo>
                  <a:lnTo>
                    <a:pt x="648894" y="651742"/>
                  </a:lnTo>
                  <a:close/>
                </a:path>
                <a:path w="668654" h="829310">
                  <a:moveTo>
                    <a:pt x="186604" y="0"/>
                  </a:moveTo>
                  <a:lnTo>
                    <a:pt x="170682" y="3149"/>
                  </a:lnTo>
                  <a:lnTo>
                    <a:pt x="157801" y="11786"/>
                  </a:lnTo>
                  <a:lnTo>
                    <a:pt x="149179" y="24690"/>
                  </a:lnTo>
                  <a:lnTo>
                    <a:pt x="146035" y="40645"/>
                  </a:lnTo>
                  <a:lnTo>
                    <a:pt x="147785" y="52421"/>
                  </a:lnTo>
                  <a:lnTo>
                    <a:pt x="152729" y="62990"/>
                  </a:lnTo>
                  <a:lnTo>
                    <a:pt x="160412" y="71738"/>
                  </a:lnTo>
                  <a:lnTo>
                    <a:pt x="170378" y="78054"/>
                  </a:lnTo>
                  <a:lnTo>
                    <a:pt x="170378" y="185289"/>
                  </a:lnTo>
                  <a:lnTo>
                    <a:pt x="61660" y="243815"/>
                  </a:lnTo>
                  <a:lnTo>
                    <a:pt x="130664" y="243815"/>
                  </a:lnTo>
                  <a:lnTo>
                    <a:pt x="202831" y="204816"/>
                  </a:lnTo>
                  <a:lnTo>
                    <a:pt x="202831" y="78054"/>
                  </a:lnTo>
                  <a:lnTo>
                    <a:pt x="212795" y="71738"/>
                  </a:lnTo>
                  <a:lnTo>
                    <a:pt x="220476" y="62990"/>
                  </a:lnTo>
                  <a:lnTo>
                    <a:pt x="225419" y="52421"/>
                  </a:lnTo>
                  <a:lnTo>
                    <a:pt x="227168" y="40645"/>
                  </a:lnTo>
                  <a:lnTo>
                    <a:pt x="224024" y="24690"/>
                  </a:lnTo>
                  <a:lnTo>
                    <a:pt x="215405" y="11786"/>
                  </a:lnTo>
                  <a:lnTo>
                    <a:pt x="202526" y="3149"/>
                  </a:lnTo>
                  <a:lnTo>
                    <a:pt x="186604" y="0"/>
                  </a:lnTo>
                  <a:close/>
                </a:path>
                <a:path w="668654" h="829310">
                  <a:moveTo>
                    <a:pt x="627964" y="237288"/>
                  </a:moveTo>
                  <a:lnTo>
                    <a:pt x="619859" y="237288"/>
                  </a:lnTo>
                  <a:lnTo>
                    <a:pt x="611754" y="240579"/>
                  </a:lnTo>
                  <a:lnTo>
                    <a:pt x="605237" y="243815"/>
                  </a:lnTo>
                  <a:lnTo>
                    <a:pt x="648931" y="243815"/>
                  </a:lnTo>
                  <a:lnTo>
                    <a:pt x="643893" y="240438"/>
                  </a:lnTo>
                  <a:lnTo>
                    <a:pt x="627964" y="237288"/>
                  </a:lnTo>
                  <a:close/>
                </a:path>
              </a:pathLst>
            </a:custGeom>
            <a:solidFill>
              <a:srgbClr val="1D70B8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6" name="object 6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11164899" y="466804"/>
              <a:ext cx="115207" cy="115408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1195725" y="236043"/>
              <a:ext cx="79511" cy="79644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1293085" y="336806"/>
              <a:ext cx="95738" cy="95880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1150293" y="954381"/>
              <a:ext cx="193092" cy="203154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11054555" y="855264"/>
              <a:ext cx="386080" cy="388620"/>
            </a:xfrm>
            <a:custGeom>
              <a:avLst/>
              <a:gdLst/>
              <a:ahLst/>
              <a:cxnLst/>
              <a:rect l="l" t="t" r="r" b="b"/>
              <a:pathLst>
                <a:path w="386079" h="388619">
                  <a:moveTo>
                    <a:pt x="193097" y="0"/>
                  </a:moveTo>
                  <a:lnTo>
                    <a:pt x="148680" y="5173"/>
                  </a:lnTo>
                  <a:lnTo>
                    <a:pt x="107980" y="19896"/>
                  </a:lnTo>
                  <a:lnTo>
                    <a:pt x="72135" y="42977"/>
                  </a:lnTo>
                  <a:lnTo>
                    <a:pt x="42279" y="73222"/>
                  </a:lnTo>
                  <a:lnTo>
                    <a:pt x="19547" y="109438"/>
                  </a:lnTo>
                  <a:lnTo>
                    <a:pt x="5076" y="150431"/>
                  </a:lnTo>
                  <a:lnTo>
                    <a:pt x="0" y="195008"/>
                  </a:lnTo>
                  <a:lnTo>
                    <a:pt x="5076" y="238984"/>
                  </a:lnTo>
                  <a:lnTo>
                    <a:pt x="19547" y="279548"/>
                  </a:lnTo>
                  <a:lnTo>
                    <a:pt x="42279" y="315478"/>
                  </a:lnTo>
                  <a:lnTo>
                    <a:pt x="72135" y="345552"/>
                  </a:lnTo>
                  <a:lnTo>
                    <a:pt x="107980" y="368547"/>
                  </a:lnTo>
                  <a:lnTo>
                    <a:pt x="148680" y="383241"/>
                  </a:lnTo>
                  <a:lnTo>
                    <a:pt x="193097" y="388410"/>
                  </a:lnTo>
                  <a:lnTo>
                    <a:pt x="224080" y="385059"/>
                  </a:lnTo>
                  <a:lnTo>
                    <a:pt x="253541" y="377440"/>
                  </a:lnTo>
                  <a:lnTo>
                    <a:pt x="281175" y="365555"/>
                  </a:lnTo>
                  <a:lnTo>
                    <a:pt x="296414" y="355905"/>
                  </a:lnTo>
                  <a:lnTo>
                    <a:pt x="193097" y="355905"/>
                  </a:lnTo>
                  <a:lnTo>
                    <a:pt x="150090" y="350081"/>
                  </a:lnTo>
                  <a:lnTo>
                    <a:pt x="111365" y="333694"/>
                  </a:lnTo>
                  <a:lnTo>
                    <a:pt x="78498" y="308368"/>
                  </a:lnTo>
                  <a:lnTo>
                    <a:pt x="53069" y="275728"/>
                  </a:lnTo>
                  <a:lnTo>
                    <a:pt x="36654" y="237400"/>
                  </a:lnTo>
                  <a:lnTo>
                    <a:pt x="30832" y="195008"/>
                  </a:lnTo>
                  <a:lnTo>
                    <a:pt x="36654" y="151930"/>
                  </a:lnTo>
                  <a:lnTo>
                    <a:pt x="53069" y="113140"/>
                  </a:lnTo>
                  <a:lnTo>
                    <a:pt x="78498" y="80218"/>
                  </a:lnTo>
                  <a:lnTo>
                    <a:pt x="111365" y="54746"/>
                  </a:lnTo>
                  <a:lnTo>
                    <a:pt x="150090" y="38304"/>
                  </a:lnTo>
                  <a:lnTo>
                    <a:pt x="193097" y="32472"/>
                  </a:lnTo>
                  <a:lnTo>
                    <a:pt x="326658" y="32472"/>
                  </a:lnTo>
                  <a:lnTo>
                    <a:pt x="324531" y="30881"/>
                  </a:lnTo>
                  <a:lnTo>
                    <a:pt x="295325" y="30881"/>
                  </a:lnTo>
                  <a:lnTo>
                    <a:pt x="271365" y="17818"/>
                  </a:lnTo>
                  <a:lnTo>
                    <a:pt x="246035" y="8118"/>
                  </a:lnTo>
                  <a:lnTo>
                    <a:pt x="219794" y="2079"/>
                  </a:lnTo>
                  <a:lnTo>
                    <a:pt x="193097" y="0"/>
                  </a:lnTo>
                  <a:close/>
                </a:path>
                <a:path w="386079" h="388619">
                  <a:moveTo>
                    <a:pt x="376453" y="162503"/>
                  </a:moveTo>
                  <a:lnTo>
                    <a:pt x="363474" y="162503"/>
                  </a:lnTo>
                  <a:lnTo>
                    <a:pt x="353737" y="172256"/>
                  </a:lnTo>
                  <a:lnTo>
                    <a:pt x="353737" y="180379"/>
                  </a:lnTo>
                  <a:lnTo>
                    <a:pt x="354356" y="190562"/>
                  </a:lnTo>
                  <a:lnTo>
                    <a:pt x="354305" y="202930"/>
                  </a:lnTo>
                  <a:lnTo>
                    <a:pt x="340756" y="257985"/>
                  </a:lnTo>
                  <a:lnTo>
                    <a:pt x="318042" y="295771"/>
                  </a:lnTo>
                  <a:lnTo>
                    <a:pt x="270907" y="335338"/>
                  </a:lnTo>
                  <a:lnTo>
                    <a:pt x="220657" y="353518"/>
                  </a:lnTo>
                  <a:lnTo>
                    <a:pt x="193097" y="355905"/>
                  </a:lnTo>
                  <a:lnTo>
                    <a:pt x="296414" y="355905"/>
                  </a:lnTo>
                  <a:lnTo>
                    <a:pt x="334268" y="325023"/>
                  </a:lnTo>
                  <a:lnTo>
                    <a:pt x="367937" y="275658"/>
                  </a:lnTo>
                  <a:lnTo>
                    <a:pt x="384569" y="217761"/>
                  </a:lnTo>
                  <a:lnTo>
                    <a:pt x="385937" y="190562"/>
                  </a:lnTo>
                  <a:lnTo>
                    <a:pt x="384569" y="177127"/>
                  </a:lnTo>
                  <a:lnTo>
                    <a:pt x="384569" y="172256"/>
                  </a:lnTo>
                  <a:lnTo>
                    <a:pt x="382948" y="169003"/>
                  </a:lnTo>
                  <a:lnTo>
                    <a:pt x="376453" y="162503"/>
                  </a:lnTo>
                  <a:close/>
                </a:path>
                <a:path w="386079" h="388619">
                  <a:moveTo>
                    <a:pt x="326658" y="32472"/>
                  </a:moveTo>
                  <a:lnTo>
                    <a:pt x="193097" y="32472"/>
                  </a:lnTo>
                  <a:lnTo>
                    <a:pt x="214952" y="33998"/>
                  </a:lnTo>
                  <a:lnTo>
                    <a:pt x="236503" y="38573"/>
                  </a:lnTo>
                  <a:lnTo>
                    <a:pt x="257445" y="46196"/>
                  </a:lnTo>
                  <a:lnTo>
                    <a:pt x="277472" y="56864"/>
                  </a:lnTo>
                  <a:lnTo>
                    <a:pt x="277472" y="58488"/>
                  </a:lnTo>
                  <a:lnTo>
                    <a:pt x="279780" y="71108"/>
                  </a:lnTo>
                  <a:lnTo>
                    <a:pt x="286196" y="81444"/>
                  </a:lnTo>
                  <a:lnTo>
                    <a:pt x="295958" y="88428"/>
                  </a:lnTo>
                  <a:lnTo>
                    <a:pt x="308305" y="90993"/>
                  </a:lnTo>
                  <a:lnTo>
                    <a:pt x="320905" y="88428"/>
                  </a:lnTo>
                  <a:lnTo>
                    <a:pt x="331224" y="81444"/>
                  </a:lnTo>
                  <a:lnTo>
                    <a:pt x="338197" y="71108"/>
                  </a:lnTo>
                  <a:lnTo>
                    <a:pt x="340758" y="58488"/>
                  </a:lnTo>
                  <a:lnTo>
                    <a:pt x="340758" y="50359"/>
                  </a:lnTo>
                  <a:lnTo>
                    <a:pt x="337510" y="42235"/>
                  </a:lnTo>
                  <a:lnTo>
                    <a:pt x="331021" y="35735"/>
                  </a:lnTo>
                  <a:lnTo>
                    <a:pt x="326658" y="32472"/>
                  </a:lnTo>
                  <a:close/>
                </a:path>
                <a:path w="386079" h="388619">
                  <a:moveTo>
                    <a:pt x="316415" y="27590"/>
                  </a:moveTo>
                  <a:lnTo>
                    <a:pt x="298567" y="27590"/>
                  </a:lnTo>
                  <a:lnTo>
                    <a:pt x="295325" y="30881"/>
                  </a:lnTo>
                  <a:lnTo>
                    <a:pt x="324531" y="30881"/>
                  </a:lnTo>
                  <a:lnTo>
                    <a:pt x="316415" y="27590"/>
                  </a:lnTo>
                  <a:close/>
                </a:path>
              </a:pathLst>
            </a:custGeom>
            <a:solidFill>
              <a:srgbClr val="1D70B8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1" name="Заголовок 10"/>
          <p:cNvSpPr>
            <a:spLocks noGrp="1"/>
          </p:cNvSpPr>
          <p:nvPr>
            <p:ph type="title"/>
          </p:nvPr>
        </p:nvSpPr>
        <p:spPr>
          <a:xfrm>
            <a:off x="767079" y="601929"/>
            <a:ext cx="9411335" cy="430530"/>
          </a:xfrm>
        </p:spPr>
        <p:txBody>
          <a:bodyPr>
            <a:normAutofit fontScale="90000"/>
          </a:bodyPr>
          <a:lstStyle/>
          <a:p>
            <a:r>
              <a:rPr lang="en-US" alt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Ген</a:t>
            </a:r>
            <a:r>
              <a:rPr lang="en-US" altLang="ru-RU" sz="2400" b="1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 TOP2</a:t>
            </a:r>
            <a:endParaRPr lang="en-US" altLang="ru-RU" sz="2400" b="1" dirty="0"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2" name="Номер слайда 11"/>
          <p:cNvSpPr>
            <a:spLocks noGrp="1"/>
          </p:cNvSpPr>
          <p:nvPr>
            <p:ph type="sldNum" sz="quarter" idx="12"/>
          </p:nvPr>
        </p:nvSpPr>
        <p:spPr>
          <a:xfrm>
            <a:off x="11240769" y="6397751"/>
            <a:ext cx="450944" cy="274955"/>
          </a:xfrm>
        </p:spPr>
        <p:txBody>
          <a:bodyPr/>
          <a:lstStyle/>
          <a:p>
            <a:pPr marL="38100">
              <a:lnSpc>
                <a:spcPts val="2145"/>
              </a:lnSpc>
            </a:pPr>
            <a:fld id="{81D60167-4931-47E6-BA6A-407CBD079E47}" type="slidenum">
              <a:rPr lang="ru-RU" sz="2400" b="0" smtClean="0"/>
            </a:fld>
            <a:endParaRPr lang="ru-RU" sz="2400" b="0" dirty="0"/>
          </a:p>
        </p:txBody>
      </p:sp>
      <p:sp>
        <p:nvSpPr>
          <p:cNvPr id="19" name="Текстовое поле 18"/>
          <p:cNvSpPr txBox="1"/>
          <p:nvPr/>
        </p:nvSpPr>
        <p:spPr>
          <a:xfrm>
            <a:off x="1287145" y="1992630"/>
            <a:ext cx="783272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ru-RU"/>
          </a:p>
          <a:p>
            <a:endParaRPr lang="en-US" altLang="en-US"/>
          </a:p>
        </p:txBody>
      </p:sp>
      <p:sp>
        <p:nvSpPr>
          <p:cNvPr id="21" name="Текстовое поле 20"/>
          <p:cNvSpPr txBox="1"/>
          <p:nvPr/>
        </p:nvSpPr>
        <p:spPr>
          <a:xfrm>
            <a:off x="767079" y="1190093"/>
            <a:ext cx="7273137" cy="5482613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just"/>
            <a:r>
              <a:rPr lang="ru-RU" sz="2000" b="1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TOP2A (ДНК-</a:t>
            </a:r>
            <a:r>
              <a:rPr lang="ru-RU" sz="2000" b="1" dirty="0" err="1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топоизомераза</a:t>
            </a:r>
            <a:r>
              <a:rPr lang="ru-RU" sz="2000" b="1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II-альфа)</a:t>
            </a:r>
            <a:r>
              <a:rPr lang="ru-RU" sz="2000" dirty="0">
                <a:solidFill>
                  <a:srgbClr val="3341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— это человеческий ген, кодирующий ядерный фермент, который контролирует топологическое состояние ДНК во время репликации и транскрипции.</a:t>
            </a:r>
            <a:endParaRPr lang="en-US" alt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en-US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Основные</a:t>
            </a:r>
            <a:r>
              <a:rPr lang="en-US" alt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характеристики</a:t>
            </a:r>
            <a:r>
              <a:rPr lang="en-US" alt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гена</a:t>
            </a:r>
            <a:r>
              <a:rPr lang="en-US" alt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altLang="ru-RU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Расположен на 17-й хромосоме человека (17q21.2)</a:t>
            </a:r>
            <a:endParaRPr lang="ru-RU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Кодирует белок длиной 1531 аминокислота</a:t>
            </a:r>
            <a:endParaRPr lang="ru-RU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Кодирующая последовательность (CDS) — 4593</a:t>
            </a:r>
            <a:endParaRPr lang="en-US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Структура фермента: функционирует как АТФ-зависимый </a:t>
            </a:r>
            <a:r>
              <a:rPr lang="ru-RU" alt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гомодимер</a:t>
            </a:r>
            <a:r>
              <a:rPr lang="ru-RU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Функциональная роль: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Белок TOP2A вносит временные двуцепочечные разрывы в спираль ДНК, что позволяет цепям проходить сквозь друг друга. Данный механизм является критически важным для разделения дочерних хроматид при делении клетки.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ru-RU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0216" y="1446666"/>
            <a:ext cx="3775611" cy="383577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040216" y="5284122"/>
            <a:ext cx="377561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17-я хромосома человека 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493776" y="1043939"/>
            <a:ext cx="9946005" cy="0"/>
          </a:xfrm>
          <a:custGeom>
            <a:avLst/>
            <a:gdLst/>
            <a:ahLst/>
            <a:cxnLst/>
            <a:rect l="l" t="t" r="r" b="b"/>
            <a:pathLst>
              <a:path w="9946005">
                <a:moveTo>
                  <a:pt x="0" y="0"/>
                </a:moveTo>
                <a:lnTo>
                  <a:pt x="9946005" y="0"/>
                </a:lnTo>
              </a:path>
            </a:pathLst>
          </a:custGeom>
          <a:ln w="6096">
            <a:solidFill>
              <a:srgbClr val="5B9BD4"/>
            </a:solidFill>
          </a:ln>
        </p:spPr>
        <p:txBody>
          <a:bodyPr wrap="square" lIns="0" tIns="0" rIns="0" bIns="0" rtlCol="0"/>
          <a:lstStyle/>
          <a:p/>
        </p:txBody>
      </p:sp>
      <p:grpSp>
        <p:nvGrpSpPr>
          <p:cNvPr id="4" name="object 4"/>
          <p:cNvGrpSpPr/>
          <p:nvPr/>
        </p:nvGrpSpPr>
        <p:grpSpPr>
          <a:xfrm>
            <a:off x="10913388" y="236043"/>
            <a:ext cx="668655" cy="1195070"/>
            <a:chOff x="10913388" y="236043"/>
            <a:chExt cx="668655" cy="1195070"/>
          </a:xfrm>
        </p:grpSpPr>
        <p:sp>
          <p:nvSpPr>
            <p:cNvPr id="5" name="object 5"/>
            <p:cNvSpPr/>
            <p:nvPr/>
          </p:nvSpPr>
          <p:spPr>
            <a:xfrm>
              <a:off x="10913388" y="601685"/>
              <a:ext cx="668655" cy="829310"/>
            </a:xfrm>
            <a:custGeom>
              <a:avLst/>
              <a:gdLst/>
              <a:ahLst/>
              <a:cxnLst/>
              <a:rect l="l" t="t" r="r" b="b"/>
              <a:pathLst>
                <a:path w="668654" h="829310">
                  <a:moveTo>
                    <a:pt x="126245" y="651742"/>
                  </a:moveTo>
                  <a:lnTo>
                    <a:pt x="61660" y="651742"/>
                  </a:lnTo>
                  <a:lnTo>
                    <a:pt x="293695" y="785010"/>
                  </a:lnTo>
                  <a:lnTo>
                    <a:pt x="293695" y="788261"/>
                  </a:lnTo>
                  <a:lnTo>
                    <a:pt x="296840" y="803522"/>
                  </a:lnTo>
                  <a:lnTo>
                    <a:pt x="305461" y="816499"/>
                  </a:lnTo>
                  <a:lnTo>
                    <a:pt x="318342" y="825514"/>
                  </a:lnTo>
                  <a:lnTo>
                    <a:pt x="334264" y="828892"/>
                  </a:lnTo>
                  <a:lnTo>
                    <a:pt x="350186" y="825514"/>
                  </a:lnTo>
                  <a:lnTo>
                    <a:pt x="363065" y="816499"/>
                  </a:lnTo>
                  <a:lnTo>
                    <a:pt x="371685" y="803522"/>
                  </a:lnTo>
                  <a:lnTo>
                    <a:pt x="374828" y="788261"/>
                  </a:lnTo>
                  <a:lnTo>
                    <a:pt x="374828" y="785010"/>
                  </a:lnTo>
                  <a:lnTo>
                    <a:pt x="425403" y="755758"/>
                  </a:lnTo>
                  <a:lnTo>
                    <a:pt x="306680" y="755758"/>
                  </a:lnTo>
                  <a:lnTo>
                    <a:pt x="126245" y="651742"/>
                  </a:lnTo>
                  <a:close/>
                </a:path>
                <a:path w="668654" h="829310">
                  <a:moveTo>
                    <a:pt x="334061" y="747226"/>
                  </a:moveTo>
                  <a:lnTo>
                    <a:pt x="319838" y="749359"/>
                  </a:lnTo>
                  <a:lnTo>
                    <a:pt x="306680" y="755758"/>
                  </a:lnTo>
                  <a:lnTo>
                    <a:pt x="360223" y="755758"/>
                  </a:lnTo>
                  <a:lnTo>
                    <a:pt x="347979" y="749359"/>
                  </a:lnTo>
                  <a:lnTo>
                    <a:pt x="334061" y="747226"/>
                  </a:lnTo>
                  <a:close/>
                </a:path>
                <a:path w="668654" h="829310">
                  <a:moveTo>
                    <a:pt x="481925" y="0"/>
                  </a:moveTo>
                  <a:lnTo>
                    <a:pt x="466002" y="3149"/>
                  </a:lnTo>
                  <a:lnTo>
                    <a:pt x="453122" y="11786"/>
                  </a:lnTo>
                  <a:lnTo>
                    <a:pt x="444500" y="24690"/>
                  </a:lnTo>
                  <a:lnTo>
                    <a:pt x="441355" y="40645"/>
                  </a:lnTo>
                  <a:lnTo>
                    <a:pt x="443105" y="52421"/>
                  </a:lnTo>
                  <a:lnTo>
                    <a:pt x="448050" y="62990"/>
                  </a:lnTo>
                  <a:lnTo>
                    <a:pt x="455733" y="71738"/>
                  </a:lnTo>
                  <a:lnTo>
                    <a:pt x="465698" y="78054"/>
                  </a:lnTo>
                  <a:lnTo>
                    <a:pt x="465698" y="206407"/>
                  </a:lnTo>
                  <a:lnTo>
                    <a:pt x="587384" y="271461"/>
                  </a:lnTo>
                  <a:lnTo>
                    <a:pt x="587384" y="274697"/>
                  </a:lnTo>
                  <a:lnTo>
                    <a:pt x="585796" y="276288"/>
                  </a:lnTo>
                  <a:lnTo>
                    <a:pt x="585796" y="277933"/>
                  </a:lnTo>
                  <a:lnTo>
                    <a:pt x="587846" y="290887"/>
                  </a:lnTo>
                  <a:lnTo>
                    <a:pt x="593695" y="302316"/>
                  </a:lnTo>
                  <a:lnTo>
                    <a:pt x="602892" y="311306"/>
                  </a:lnTo>
                  <a:lnTo>
                    <a:pt x="614985" y="316944"/>
                  </a:lnTo>
                  <a:lnTo>
                    <a:pt x="614985" y="578603"/>
                  </a:lnTo>
                  <a:lnTo>
                    <a:pt x="602892" y="584928"/>
                  </a:lnTo>
                  <a:lnTo>
                    <a:pt x="593695" y="593842"/>
                  </a:lnTo>
                  <a:lnTo>
                    <a:pt x="587846" y="604889"/>
                  </a:lnTo>
                  <a:lnTo>
                    <a:pt x="585796" y="617614"/>
                  </a:lnTo>
                  <a:lnTo>
                    <a:pt x="585796" y="620861"/>
                  </a:lnTo>
                  <a:lnTo>
                    <a:pt x="587384" y="622484"/>
                  </a:lnTo>
                  <a:lnTo>
                    <a:pt x="587384" y="625737"/>
                  </a:lnTo>
                  <a:lnTo>
                    <a:pt x="360223" y="755758"/>
                  </a:lnTo>
                  <a:lnTo>
                    <a:pt x="425403" y="755758"/>
                  </a:lnTo>
                  <a:lnTo>
                    <a:pt x="605237" y="651742"/>
                  </a:lnTo>
                  <a:lnTo>
                    <a:pt x="648894" y="651742"/>
                  </a:lnTo>
                  <a:lnTo>
                    <a:pt x="656777" y="646460"/>
                  </a:lnTo>
                  <a:lnTo>
                    <a:pt x="665399" y="633561"/>
                  </a:lnTo>
                  <a:lnTo>
                    <a:pt x="668544" y="617614"/>
                  </a:lnTo>
                  <a:lnTo>
                    <a:pt x="667074" y="606997"/>
                  </a:lnTo>
                  <a:lnTo>
                    <a:pt x="662862" y="597295"/>
                  </a:lnTo>
                  <a:lnTo>
                    <a:pt x="656207" y="588813"/>
                  </a:lnTo>
                  <a:lnTo>
                    <a:pt x="647405" y="581856"/>
                  </a:lnTo>
                  <a:lnTo>
                    <a:pt x="647405" y="313691"/>
                  </a:lnTo>
                  <a:lnTo>
                    <a:pt x="656207" y="307648"/>
                  </a:lnTo>
                  <a:lnTo>
                    <a:pt x="662862" y="299471"/>
                  </a:lnTo>
                  <a:lnTo>
                    <a:pt x="667074" y="289465"/>
                  </a:lnTo>
                  <a:lnTo>
                    <a:pt x="668544" y="277933"/>
                  </a:lnTo>
                  <a:lnTo>
                    <a:pt x="665399" y="261979"/>
                  </a:lnTo>
                  <a:lnTo>
                    <a:pt x="656777" y="249074"/>
                  </a:lnTo>
                  <a:lnTo>
                    <a:pt x="648931" y="243815"/>
                  </a:lnTo>
                  <a:lnTo>
                    <a:pt x="605237" y="243815"/>
                  </a:lnTo>
                  <a:lnTo>
                    <a:pt x="498151" y="186934"/>
                  </a:lnTo>
                  <a:lnTo>
                    <a:pt x="498151" y="78054"/>
                  </a:lnTo>
                  <a:lnTo>
                    <a:pt x="508113" y="71738"/>
                  </a:lnTo>
                  <a:lnTo>
                    <a:pt x="515795" y="62990"/>
                  </a:lnTo>
                  <a:lnTo>
                    <a:pt x="520739" y="52421"/>
                  </a:lnTo>
                  <a:lnTo>
                    <a:pt x="522488" y="40645"/>
                  </a:lnTo>
                  <a:lnTo>
                    <a:pt x="519345" y="24690"/>
                  </a:lnTo>
                  <a:lnTo>
                    <a:pt x="510725" y="11786"/>
                  </a:lnTo>
                  <a:lnTo>
                    <a:pt x="497846" y="3149"/>
                  </a:lnTo>
                  <a:lnTo>
                    <a:pt x="481925" y="0"/>
                  </a:lnTo>
                  <a:close/>
                </a:path>
                <a:path w="668654" h="829310">
                  <a:moveTo>
                    <a:pt x="48679" y="237288"/>
                  </a:moveTo>
                  <a:lnTo>
                    <a:pt x="40566" y="237288"/>
                  </a:lnTo>
                  <a:lnTo>
                    <a:pt x="24644" y="240438"/>
                  </a:lnTo>
                  <a:lnTo>
                    <a:pt x="11764" y="249074"/>
                  </a:lnTo>
                  <a:lnTo>
                    <a:pt x="3143" y="261979"/>
                  </a:lnTo>
                  <a:lnTo>
                    <a:pt x="0" y="277933"/>
                  </a:lnTo>
                  <a:lnTo>
                    <a:pt x="1470" y="289491"/>
                  </a:lnTo>
                  <a:lnTo>
                    <a:pt x="5679" y="299674"/>
                  </a:lnTo>
                  <a:lnTo>
                    <a:pt x="12322" y="308333"/>
                  </a:lnTo>
                  <a:lnTo>
                    <a:pt x="21095" y="315315"/>
                  </a:lnTo>
                  <a:lnTo>
                    <a:pt x="21095" y="581856"/>
                  </a:lnTo>
                  <a:lnTo>
                    <a:pt x="12322" y="588128"/>
                  </a:lnTo>
                  <a:lnTo>
                    <a:pt x="5679" y="596686"/>
                  </a:lnTo>
                  <a:lnTo>
                    <a:pt x="1470" y="606769"/>
                  </a:lnTo>
                  <a:lnTo>
                    <a:pt x="0" y="617614"/>
                  </a:lnTo>
                  <a:lnTo>
                    <a:pt x="3143" y="633561"/>
                  </a:lnTo>
                  <a:lnTo>
                    <a:pt x="11764" y="646460"/>
                  </a:lnTo>
                  <a:lnTo>
                    <a:pt x="24644" y="655094"/>
                  </a:lnTo>
                  <a:lnTo>
                    <a:pt x="40566" y="658242"/>
                  </a:lnTo>
                  <a:lnTo>
                    <a:pt x="48679" y="658242"/>
                  </a:lnTo>
                  <a:lnTo>
                    <a:pt x="55171" y="656619"/>
                  </a:lnTo>
                  <a:lnTo>
                    <a:pt x="61660" y="651742"/>
                  </a:lnTo>
                  <a:lnTo>
                    <a:pt x="126245" y="651742"/>
                  </a:lnTo>
                  <a:lnTo>
                    <a:pt x="81134" y="625737"/>
                  </a:lnTo>
                  <a:lnTo>
                    <a:pt x="81134" y="617614"/>
                  </a:lnTo>
                  <a:lnTo>
                    <a:pt x="79106" y="604889"/>
                  </a:lnTo>
                  <a:lnTo>
                    <a:pt x="73426" y="593842"/>
                  </a:lnTo>
                  <a:lnTo>
                    <a:pt x="64703" y="584928"/>
                  </a:lnTo>
                  <a:lnTo>
                    <a:pt x="53544" y="578603"/>
                  </a:lnTo>
                  <a:lnTo>
                    <a:pt x="53544" y="316944"/>
                  </a:lnTo>
                  <a:lnTo>
                    <a:pt x="64703" y="310621"/>
                  </a:lnTo>
                  <a:lnTo>
                    <a:pt x="73426" y="301707"/>
                  </a:lnTo>
                  <a:lnTo>
                    <a:pt x="79106" y="290658"/>
                  </a:lnTo>
                  <a:lnTo>
                    <a:pt x="81134" y="277933"/>
                  </a:lnTo>
                  <a:lnTo>
                    <a:pt x="81134" y="276288"/>
                  </a:lnTo>
                  <a:lnTo>
                    <a:pt x="79508" y="274697"/>
                  </a:lnTo>
                  <a:lnTo>
                    <a:pt x="79508" y="271461"/>
                  </a:lnTo>
                  <a:lnTo>
                    <a:pt x="130664" y="243815"/>
                  </a:lnTo>
                  <a:lnTo>
                    <a:pt x="61660" y="243815"/>
                  </a:lnTo>
                  <a:lnTo>
                    <a:pt x="48679" y="237288"/>
                  </a:lnTo>
                  <a:close/>
                </a:path>
                <a:path w="668654" h="829310">
                  <a:moveTo>
                    <a:pt x="648894" y="651742"/>
                  </a:moveTo>
                  <a:lnTo>
                    <a:pt x="605237" y="651742"/>
                  </a:lnTo>
                  <a:lnTo>
                    <a:pt x="611754" y="656619"/>
                  </a:lnTo>
                  <a:lnTo>
                    <a:pt x="619859" y="658242"/>
                  </a:lnTo>
                  <a:lnTo>
                    <a:pt x="627964" y="658242"/>
                  </a:lnTo>
                  <a:lnTo>
                    <a:pt x="643893" y="655094"/>
                  </a:lnTo>
                  <a:lnTo>
                    <a:pt x="648894" y="651742"/>
                  </a:lnTo>
                  <a:close/>
                </a:path>
                <a:path w="668654" h="829310">
                  <a:moveTo>
                    <a:pt x="186604" y="0"/>
                  </a:moveTo>
                  <a:lnTo>
                    <a:pt x="170682" y="3149"/>
                  </a:lnTo>
                  <a:lnTo>
                    <a:pt x="157801" y="11786"/>
                  </a:lnTo>
                  <a:lnTo>
                    <a:pt x="149179" y="24690"/>
                  </a:lnTo>
                  <a:lnTo>
                    <a:pt x="146035" y="40645"/>
                  </a:lnTo>
                  <a:lnTo>
                    <a:pt x="147785" y="52421"/>
                  </a:lnTo>
                  <a:lnTo>
                    <a:pt x="152729" y="62990"/>
                  </a:lnTo>
                  <a:lnTo>
                    <a:pt x="160412" y="71738"/>
                  </a:lnTo>
                  <a:lnTo>
                    <a:pt x="170378" y="78054"/>
                  </a:lnTo>
                  <a:lnTo>
                    <a:pt x="170378" y="185289"/>
                  </a:lnTo>
                  <a:lnTo>
                    <a:pt x="61660" y="243815"/>
                  </a:lnTo>
                  <a:lnTo>
                    <a:pt x="130664" y="243815"/>
                  </a:lnTo>
                  <a:lnTo>
                    <a:pt x="202831" y="204816"/>
                  </a:lnTo>
                  <a:lnTo>
                    <a:pt x="202831" y="78054"/>
                  </a:lnTo>
                  <a:lnTo>
                    <a:pt x="212795" y="71738"/>
                  </a:lnTo>
                  <a:lnTo>
                    <a:pt x="220476" y="62990"/>
                  </a:lnTo>
                  <a:lnTo>
                    <a:pt x="225419" y="52421"/>
                  </a:lnTo>
                  <a:lnTo>
                    <a:pt x="227168" y="40645"/>
                  </a:lnTo>
                  <a:lnTo>
                    <a:pt x="224024" y="24690"/>
                  </a:lnTo>
                  <a:lnTo>
                    <a:pt x="215405" y="11786"/>
                  </a:lnTo>
                  <a:lnTo>
                    <a:pt x="202526" y="3149"/>
                  </a:lnTo>
                  <a:lnTo>
                    <a:pt x="186604" y="0"/>
                  </a:lnTo>
                  <a:close/>
                </a:path>
                <a:path w="668654" h="829310">
                  <a:moveTo>
                    <a:pt x="627964" y="237288"/>
                  </a:moveTo>
                  <a:lnTo>
                    <a:pt x="619859" y="237288"/>
                  </a:lnTo>
                  <a:lnTo>
                    <a:pt x="611754" y="240579"/>
                  </a:lnTo>
                  <a:lnTo>
                    <a:pt x="605237" y="243815"/>
                  </a:lnTo>
                  <a:lnTo>
                    <a:pt x="648931" y="243815"/>
                  </a:lnTo>
                  <a:lnTo>
                    <a:pt x="643893" y="240438"/>
                  </a:lnTo>
                  <a:lnTo>
                    <a:pt x="627964" y="237288"/>
                  </a:lnTo>
                  <a:close/>
                </a:path>
              </a:pathLst>
            </a:custGeom>
            <a:solidFill>
              <a:srgbClr val="1D70B8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6" name="object 6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11164899" y="466804"/>
              <a:ext cx="115207" cy="115408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1195725" y="236043"/>
              <a:ext cx="79511" cy="79644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1293085" y="336806"/>
              <a:ext cx="95738" cy="95880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1150293" y="954381"/>
              <a:ext cx="193092" cy="203154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11054555" y="855264"/>
              <a:ext cx="386080" cy="388620"/>
            </a:xfrm>
            <a:custGeom>
              <a:avLst/>
              <a:gdLst/>
              <a:ahLst/>
              <a:cxnLst/>
              <a:rect l="l" t="t" r="r" b="b"/>
              <a:pathLst>
                <a:path w="386079" h="388619">
                  <a:moveTo>
                    <a:pt x="193097" y="0"/>
                  </a:moveTo>
                  <a:lnTo>
                    <a:pt x="148680" y="5173"/>
                  </a:lnTo>
                  <a:lnTo>
                    <a:pt x="107980" y="19896"/>
                  </a:lnTo>
                  <a:lnTo>
                    <a:pt x="72135" y="42977"/>
                  </a:lnTo>
                  <a:lnTo>
                    <a:pt x="42279" y="73222"/>
                  </a:lnTo>
                  <a:lnTo>
                    <a:pt x="19547" y="109438"/>
                  </a:lnTo>
                  <a:lnTo>
                    <a:pt x="5076" y="150431"/>
                  </a:lnTo>
                  <a:lnTo>
                    <a:pt x="0" y="195008"/>
                  </a:lnTo>
                  <a:lnTo>
                    <a:pt x="5076" y="238984"/>
                  </a:lnTo>
                  <a:lnTo>
                    <a:pt x="19547" y="279548"/>
                  </a:lnTo>
                  <a:lnTo>
                    <a:pt x="42279" y="315478"/>
                  </a:lnTo>
                  <a:lnTo>
                    <a:pt x="72135" y="345552"/>
                  </a:lnTo>
                  <a:lnTo>
                    <a:pt x="107980" y="368547"/>
                  </a:lnTo>
                  <a:lnTo>
                    <a:pt x="148680" y="383241"/>
                  </a:lnTo>
                  <a:lnTo>
                    <a:pt x="193097" y="388410"/>
                  </a:lnTo>
                  <a:lnTo>
                    <a:pt x="224080" y="385059"/>
                  </a:lnTo>
                  <a:lnTo>
                    <a:pt x="253541" y="377440"/>
                  </a:lnTo>
                  <a:lnTo>
                    <a:pt x="281175" y="365555"/>
                  </a:lnTo>
                  <a:lnTo>
                    <a:pt x="296414" y="355905"/>
                  </a:lnTo>
                  <a:lnTo>
                    <a:pt x="193097" y="355905"/>
                  </a:lnTo>
                  <a:lnTo>
                    <a:pt x="150090" y="350081"/>
                  </a:lnTo>
                  <a:lnTo>
                    <a:pt x="111365" y="333694"/>
                  </a:lnTo>
                  <a:lnTo>
                    <a:pt x="78498" y="308368"/>
                  </a:lnTo>
                  <a:lnTo>
                    <a:pt x="53069" y="275728"/>
                  </a:lnTo>
                  <a:lnTo>
                    <a:pt x="36654" y="237400"/>
                  </a:lnTo>
                  <a:lnTo>
                    <a:pt x="30832" y="195008"/>
                  </a:lnTo>
                  <a:lnTo>
                    <a:pt x="36654" y="151930"/>
                  </a:lnTo>
                  <a:lnTo>
                    <a:pt x="53069" y="113140"/>
                  </a:lnTo>
                  <a:lnTo>
                    <a:pt x="78498" y="80218"/>
                  </a:lnTo>
                  <a:lnTo>
                    <a:pt x="111365" y="54746"/>
                  </a:lnTo>
                  <a:lnTo>
                    <a:pt x="150090" y="38304"/>
                  </a:lnTo>
                  <a:lnTo>
                    <a:pt x="193097" y="32472"/>
                  </a:lnTo>
                  <a:lnTo>
                    <a:pt x="326658" y="32472"/>
                  </a:lnTo>
                  <a:lnTo>
                    <a:pt x="324531" y="30881"/>
                  </a:lnTo>
                  <a:lnTo>
                    <a:pt x="295325" y="30881"/>
                  </a:lnTo>
                  <a:lnTo>
                    <a:pt x="271365" y="17818"/>
                  </a:lnTo>
                  <a:lnTo>
                    <a:pt x="246035" y="8118"/>
                  </a:lnTo>
                  <a:lnTo>
                    <a:pt x="219794" y="2079"/>
                  </a:lnTo>
                  <a:lnTo>
                    <a:pt x="193097" y="0"/>
                  </a:lnTo>
                  <a:close/>
                </a:path>
                <a:path w="386079" h="388619">
                  <a:moveTo>
                    <a:pt x="376453" y="162503"/>
                  </a:moveTo>
                  <a:lnTo>
                    <a:pt x="363474" y="162503"/>
                  </a:lnTo>
                  <a:lnTo>
                    <a:pt x="353737" y="172256"/>
                  </a:lnTo>
                  <a:lnTo>
                    <a:pt x="353737" y="180379"/>
                  </a:lnTo>
                  <a:lnTo>
                    <a:pt x="354356" y="190562"/>
                  </a:lnTo>
                  <a:lnTo>
                    <a:pt x="354305" y="202930"/>
                  </a:lnTo>
                  <a:lnTo>
                    <a:pt x="340756" y="257985"/>
                  </a:lnTo>
                  <a:lnTo>
                    <a:pt x="318042" y="295771"/>
                  </a:lnTo>
                  <a:lnTo>
                    <a:pt x="270907" y="335338"/>
                  </a:lnTo>
                  <a:lnTo>
                    <a:pt x="220657" y="353518"/>
                  </a:lnTo>
                  <a:lnTo>
                    <a:pt x="193097" y="355905"/>
                  </a:lnTo>
                  <a:lnTo>
                    <a:pt x="296414" y="355905"/>
                  </a:lnTo>
                  <a:lnTo>
                    <a:pt x="334268" y="325023"/>
                  </a:lnTo>
                  <a:lnTo>
                    <a:pt x="367937" y="275658"/>
                  </a:lnTo>
                  <a:lnTo>
                    <a:pt x="384569" y="217761"/>
                  </a:lnTo>
                  <a:lnTo>
                    <a:pt x="385937" y="190562"/>
                  </a:lnTo>
                  <a:lnTo>
                    <a:pt x="384569" y="177127"/>
                  </a:lnTo>
                  <a:lnTo>
                    <a:pt x="384569" y="172256"/>
                  </a:lnTo>
                  <a:lnTo>
                    <a:pt x="382948" y="169003"/>
                  </a:lnTo>
                  <a:lnTo>
                    <a:pt x="376453" y="162503"/>
                  </a:lnTo>
                  <a:close/>
                </a:path>
                <a:path w="386079" h="388619">
                  <a:moveTo>
                    <a:pt x="326658" y="32472"/>
                  </a:moveTo>
                  <a:lnTo>
                    <a:pt x="193097" y="32472"/>
                  </a:lnTo>
                  <a:lnTo>
                    <a:pt x="214952" y="33998"/>
                  </a:lnTo>
                  <a:lnTo>
                    <a:pt x="236503" y="38573"/>
                  </a:lnTo>
                  <a:lnTo>
                    <a:pt x="257445" y="46196"/>
                  </a:lnTo>
                  <a:lnTo>
                    <a:pt x="277472" y="56864"/>
                  </a:lnTo>
                  <a:lnTo>
                    <a:pt x="277472" y="58488"/>
                  </a:lnTo>
                  <a:lnTo>
                    <a:pt x="279780" y="71108"/>
                  </a:lnTo>
                  <a:lnTo>
                    <a:pt x="286196" y="81444"/>
                  </a:lnTo>
                  <a:lnTo>
                    <a:pt x="295958" y="88428"/>
                  </a:lnTo>
                  <a:lnTo>
                    <a:pt x="308305" y="90993"/>
                  </a:lnTo>
                  <a:lnTo>
                    <a:pt x="320905" y="88428"/>
                  </a:lnTo>
                  <a:lnTo>
                    <a:pt x="331224" y="81444"/>
                  </a:lnTo>
                  <a:lnTo>
                    <a:pt x="338197" y="71108"/>
                  </a:lnTo>
                  <a:lnTo>
                    <a:pt x="340758" y="58488"/>
                  </a:lnTo>
                  <a:lnTo>
                    <a:pt x="340758" y="50359"/>
                  </a:lnTo>
                  <a:lnTo>
                    <a:pt x="337510" y="42235"/>
                  </a:lnTo>
                  <a:lnTo>
                    <a:pt x="331021" y="35735"/>
                  </a:lnTo>
                  <a:lnTo>
                    <a:pt x="326658" y="32472"/>
                  </a:lnTo>
                  <a:close/>
                </a:path>
                <a:path w="386079" h="388619">
                  <a:moveTo>
                    <a:pt x="316415" y="27590"/>
                  </a:moveTo>
                  <a:lnTo>
                    <a:pt x="298567" y="27590"/>
                  </a:lnTo>
                  <a:lnTo>
                    <a:pt x="295325" y="30881"/>
                  </a:lnTo>
                  <a:lnTo>
                    <a:pt x="324531" y="30881"/>
                  </a:lnTo>
                  <a:lnTo>
                    <a:pt x="316415" y="27590"/>
                  </a:lnTo>
                  <a:close/>
                </a:path>
              </a:pathLst>
            </a:custGeom>
            <a:solidFill>
              <a:srgbClr val="1D70B8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1" name="Заголовок 10"/>
          <p:cNvSpPr>
            <a:spLocks noGrp="1"/>
          </p:cNvSpPr>
          <p:nvPr>
            <p:ph type="title"/>
          </p:nvPr>
        </p:nvSpPr>
        <p:spPr>
          <a:xfrm>
            <a:off x="601349" y="582212"/>
            <a:ext cx="9411335" cy="430530"/>
          </a:xfrm>
        </p:spPr>
        <p:txBody>
          <a:bodyPr>
            <a:normAutofit fontScale="90000"/>
          </a:bodyPr>
          <a:lstStyle/>
          <a:p>
            <a:r>
              <a:rPr lang="ru-RU" alt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Термодинамический анализ </a:t>
            </a:r>
            <a:r>
              <a:rPr lang="ru-RU" alt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праймеров</a:t>
            </a:r>
            <a:endParaRPr lang="ru-RU" alt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Номер слайда 13"/>
          <p:cNvSpPr>
            <a:spLocks noGrp="1"/>
          </p:cNvSpPr>
          <p:nvPr>
            <p:ph type="sldNum" sz="quarter" idx="12"/>
          </p:nvPr>
        </p:nvSpPr>
        <p:spPr>
          <a:xfrm>
            <a:off x="11240768" y="6397751"/>
            <a:ext cx="373931" cy="274955"/>
          </a:xfrm>
        </p:spPr>
        <p:txBody>
          <a:bodyPr/>
          <a:lstStyle/>
          <a:p>
            <a:pPr marL="38100">
              <a:lnSpc>
                <a:spcPts val="2145"/>
              </a:lnSpc>
            </a:pPr>
            <a:fld id="{81D60167-4931-47E6-BA6A-407CBD079E47}" type="slidenum">
              <a:rPr lang="ru-RU" sz="2400" b="0" smtClean="0"/>
            </a:fld>
            <a:endParaRPr lang="ru-RU" sz="2400" b="0" dirty="0"/>
          </a:p>
        </p:txBody>
      </p:sp>
      <p:sp>
        <p:nvSpPr>
          <p:cNvPr id="2" name="TextBox 1"/>
          <p:cNvSpPr txBox="1"/>
          <p:nvPr/>
        </p:nvSpPr>
        <p:spPr>
          <a:xfrm>
            <a:off x="577649" y="1156985"/>
            <a:ext cx="5566659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Подобраные</a:t>
            </a:r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праймеры</a:t>
            </a:r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для гена </a:t>
            </a:r>
            <a:r>
              <a:rPr lang="en-US" alt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TOP2</a:t>
            </a:r>
            <a:endParaRPr lang="en-US" altLang="ru-RU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01349" y="1724191"/>
            <a:ext cx="5882311" cy="707886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Forward:</a:t>
            </a:r>
            <a:r>
              <a:rPr lang="ru-RU" sz="20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5'-ACC ATT GCA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GCA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TTG TCC TG-3’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Revers:</a:t>
            </a:r>
            <a:r>
              <a:rPr lang="ru-RU" sz="20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5'-GTC TGT TCC TTC  CTC AGT CC-3'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Прямоугольник 14"/>
          <p:cNvSpPr/>
          <p:nvPr/>
        </p:nvSpPr>
        <p:spPr>
          <a:xfrm>
            <a:off x="601349" y="2599174"/>
            <a:ext cx="6096000" cy="1631216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проведения ПЦР-анализа экспрессии гена TOP2A были сконструированы специфические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олигонуклеотиды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Расчет их параметров проводился с помощью программного обеспечения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SnapGene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(визуализация и подбор зон отжига) и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OligoAnalyzer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0" name="ампликон-подпись"/>
          <p:cNvSpPr txBox="1"/>
          <p:nvPr/>
        </p:nvSpPr>
        <p:spPr>
          <a:xfrm>
            <a:off x="2400000" y="4460000"/>
            <a:ext cx="7400000" cy="340000"/>
          </a:xfrm>
          <a:prstGeom prst="rect">
            <a:avLst/>
          </a:prstGeom>
          <a:noFill/>
        </p:spPr>
        <p:txBody>
          <a:bodyPr wrap="square" rtlCol="0" anchor="b">
            <a:norm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altLang="en-US" sz="1400" b="1" dirty="0">
                <a:solidFill>
                  <a:srgbClr val="1F386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Ампликон ≈ 150 п.н.</a:t>
            </a:r>
          </a:p>
        </p:txBody>
      </p:sp>
      <p:cxnSp>
        <p:nvCxnSpPr>
          <p:cNvPr id="211" name="amplicon"/>
          <p:cNvCxnSpPr/>
          <p:nvPr/>
        </p:nvCxnSpPr>
        <p:spPr>
          <a:xfrm>
            <a:off x="2400000" y="4860000"/>
            <a:ext cx="7400000" cy="1"/>
          </a:xfrm>
          <a:prstGeom prst="line">
            <a:avLst/>
          </a:prstGeom>
          <a:ln w="22225">
            <a:solidFill>
              <a:srgbClr val="1F3864"/>
            </a:solidFill>
            <a:headEnd type="triangle" w="med" len="med"/>
            <a:tailEnd type="triangle" w="med" len="med"/>
          </a:ln>
        </p:spPr>
      </p:cxnSp>
      <p:sp>
        <p:nvSpPr>
          <p:cNvPr id="212" name="primer"/>
          <p:cNvSpPr/>
          <p:nvPr/>
        </p:nvSpPr>
        <p:spPr>
          <a:xfrm>
            <a:off x="2400000" y="5000000"/>
            <a:ext cx="2100000" cy="300000"/>
          </a:xfrm>
          <a:prstGeom prst="rightArrow">
            <a:avLst>
              <a:gd name="adj1" fmla="val 50000"/>
              <a:gd name="adj2" fmla="val 40000"/>
            </a:avLst>
          </a:prstGeom>
          <a:solidFill>
            <a:srgbClr val="1F6FB2"/>
          </a:solidFill>
        </p:spPr>
        <p:txBody>
          <a:bodyPr wrap="square" anchor="ctr" lIns="36576" rIns="36576" tIns="9144" bIns="9144">
            <a:norm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altLang="en-US" sz="11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Forward (прямой) →</a:t>
            </a:r>
          </a:p>
        </p:txBody>
      </p:sp>
      <p:sp>
        <p:nvSpPr>
          <p:cNvPr id="213" name="template"/>
          <p:cNvSpPr/>
          <p:nvPr/>
        </p:nvSpPr>
        <p:spPr>
          <a:xfrm>
            <a:off x="900000" y="5380000"/>
            <a:ext cx="10400000" cy="300000"/>
          </a:xfrm>
          <a:prstGeom prst="rect">
            <a:avLst/>
          </a:prstGeom>
          <a:solidFill>
            <a:srgbClr val="D9D9D9"/>
          </a:solidFill>
          <a:ln w="9525">
            <a:solidFill>
              <a:srgbClr val="A6A6A6"/>
            </a:solidFill>
          </a:ln>
        </p:spPr>
        <p:txBody>
          <a:bodyPr wrap="square" anchor="ctr">
            <a:norm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altLang="en-US" sz="1300" b="1" dirty="0">
                <a:solidFill>
                  <a:srgbClr val="1F1F1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Матрица — ген TOP2A (экзонный стык)</a:t>
            </a:r>
          </a:p>
        </p:txBody>
      </p:sp>
      <p:sp>
        <p:nvSpPr>
          <p:cNvPr id="214" name="primer"/>
          <p:cNvSpPr/>
          <p:nvPr/>
        </p:nvSpPr>
        <p:spPr>
          <a:xfrm>
            <a:off x="7700000" y="5760000"/>
            <a:ext cx="2100000" cy="300000"/>
          </a:xfrm>
          <a:prstGeom prst="leftArrow">
            <a:avLst>
              <a:gd name="adj1" fmla="val 50000"/>
              <a:gd name="adj2" fmla="val 40000"/>
            </a:avLst>
          </a:prstGeom>
          <a:solidFill>
            <a:srgbClr val="2E9E8F"/>
          </a:solidFill>
        </p:spPr>
        <p:txBody>
          <a:bodyPr wrap="square" anchor="ctr" lIns="36576" rIns="36576" tIns="9144" bIns="9144">
            <a:norm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altLang="en-US" sz="11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← Reverse (обратный)</a:t>
            </a:r>
          </a:p>
        </p:txBody>
      </p:sp>
      <p:sp>
        <p:nvSpPr>
          <p:cNvPr id="215" name="5prime"/>
          <p:cNvSpPr txBox="1"/>
          <p:nvPr/>
        </p:nvSpPr>
        <p:spPr>
          <a:xfrm>
            <a:off x="560000" y="5380000"/>
            <a:ext cx="320000" cy="3000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altLang="en-US" sz="1100" b="1" dirty="0">
                <a:solidFill>
                  <a:srgbClr val="59595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5′</a:t>
            </a:r>
          </a:p>
        </p:txBody>
      </p:sp>
      <p:sp>
        <p:nvSpPr>
          <p:cNvPr id="216" name="3prime"/>
          <p:cNvSpPr txBox="1"/>
          <p:nvPr/>
        </p:nvSpPr>
        <p:spPr>
          <a:xfrm>
            <a:off x="11320000" y="5380000"/>
            <a:ext cx="340000" cy="3000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altLang="en-US" sz="1100" b="1" dirty="0">
                <a:solidFill>
                  <a:srgbClr val="59595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3′</a:t>
            </a:r>
          </a:p>
        </p:txBody>
      </p:sp>
      <p:sp>
        <p:nvSpPr>
          <p:cNvPr id="217" name="рис-подпись"/>
          <p:cNvSpPr txBox="1"/>
          <p:nvPr/>
        </p:nvSpPr>
        <p:spPr>
          <a:xfrm>
            <a:off x="900000" y="6060000"/>
            <a:ext cx="10400000" cy="320000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altLang="en-US" sz="1200" i="1" dirty="0">
                <a:solidFill>
                  <a:srgbClr val="59595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Схема отжига праймеров на матрице (визуализация в SnapGene)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493776" y="928710"/>
            <a:ext cx="9946005" cy="0"/>
          </a:xfrm>
          <a:custGeom>
            <a:avLst/>
            <a:gdLst/>
            <a:ahLst/>
            <a:cxnLst/>
            <a:rect l="l" t="t" r="r" b="b"/>
            <a:pathLst>
              <a:path w="9946005">
                <a:moveTo>
                  <a:pt x="0" y="0"/>
                </a:moveTo>
                <a:lnTo>
                  <a:pt x="9946005" y="0"/>
                </a:lnTo>
              </a:path>
            </a:pathLst>
          </a:custGeom>
          <a:ln w="6096">
            <a:solidFill>
              <a:srgbClr val="5B9BD4"/>
            </a:solidFill>
          </a:ln>
        </p:spPr>
        <p:txBody>
          <a:bodyPr wrap="square" lIns="0" tIns="0" rIns="0" bIns="0" rtlCol="0"/>
          <a:lstStyle/>
          <a:p/>
        </p:txBody>
      </p:sp>
      <p:grpSp>
        <p:nvGrpSpPr>
          <p:cNvPr id="4" name="object 4"/>
          <p:cNvGrpSpPr/>
          <p:nvPr/>
        </p:nvGrpSpPr>
        <p:grpSpPr>
          <a:xfrm>
            <a:off x="10913388" y="236043"/>
            <a:ext cx="668655" cy="1195070"/>
            <a:chOff x="10913388" y="236043"/>
            <a:chExt cx="668655" cy="1195070"/>
          </a:xfrm>
        </p:grpSpPr>
        <p:sp>
          <p:nvSpPr>
            <p:cNvPr id="5" name="object 5"/>
            <p:cNvSpPr/>
            <p:nvPr/>
          </p:nvSpPr>
          <p:spPr>
            <a:xfrm>
              <a:off x="10913388" y="601685"/>
              <a:ext cx="668655" cy="829310"/>
            </a:xfrm>
            <a:custGeom>
              <a:avLst/>
              <a:gdLst/>
              <a:ahLst/>
              <a:cxnLst/>
              <a:rect l="l" t="t" r="r" b="b"/>
              <a:pathLst>
                <a:path w="668654" h="829310">
                  <a:moveTo>
                    <a:pt x="126245" y="651742"/>
                  </a:moveTo>
                  <a:lnTo>
                    <a:pt x="61660" y="651742"/>
                  </a:lnTo>
                  <a:lnTo>
                    <a:pt x="293695" y="785010"/>
                  </a:lnTo>
                  <a:lnTo>
                    <a:pt x="293695" y="788261"/>
                  </a:lnTo>
                  <a:lnTo>
                    <a:pt x="296840" y="803522"/>
                  </a:lnTo>
                  <a:lnTo>
                    <a:pt x="305461" y="816499"/>
                  </a:lnTo>
                  <a:lnTo>
                    <a:pt x="318342" y="825514"/>
                  </a:lnTo>
                  <a:lnTo>
                    <a:pt x="334264" y="828892"/>
                  </a:lnTo>
                  <a:lnTo>
                    <a:pt x="350186" y="825514"/>
                  </a:lnTo>
                  <a:lnTo>
                    <a:pt x="363065" y="816499"/>
                  </a:lnTo>
                  <a:lnTo>
                    <a:pt x="371685" y="803522"/>
                  </a:lnTo>
                  <a:lnTo>
                    <a:pt x="374828" y="788261"/>
                  </a:lnTo>
                  <a:lnTo>
                    <a:pt x="374828" y="785010"/>
                  </a:lnTo>
                  <a:lnTo>
                    <a:pt x="425403" y="755758"/>
                  </a:lnTo>
                  <a:lnTo>
                    <a:pt x="306680" y="755758"/>
                  </a:lnTo>
                  <a:lnTo>
                    <a:pt x="126245" y="651742"/>
                  </a:lnTo>
                  <a:close/>
                </a:path>
                <a:path w="668654" h="829310">
                  <a:moveTo>
                    <a:pt x="334061" y="747226"/>
                  </a:moveTo>
                  <a:lnTo>
                    <a:pt x="319838" y="749359"/>
                  </a:lnTo>
                  <a:lnTo>
                    <a:pt x="306680" y="755758"/>
                  </a:lnTo>
                  <a:lnTo>
                    <a:pt x="360223" y="755758"/>
                  </a:lnTo>
                  <a:lnTo>
                    <a:pt x="347979" y="749359"/>
                  </a:lnTo>
                  <a:lnTo>
                    <a:pt x="334061" y="747226"/>
                  </a:lnTo>
                  <a:close/>
                </a:path>
                <a:path w="668654" h="829310">
                  <a:moveTo>
                    <a:pt x="481925" y="0"/>
                  </a:moveTo>
                  <a:lnTo>
                    <a:pt x="466002" y="3149"/>
                  </a:lnTo>
                  <a:lnTo>
                    <a:pt x="453122" y="11786"/>
                  </a:lnTo>
                  <a:lnTo>
                    <a:pt x="444500" y="24690"/>
                  </a:lnTo>
                  <a:lnTo>
                    <a:pt x="441355" y="40645"/>
                  </a:lnTo>
                  <a:lnTo>
                    <a:pt x="443105" y="52421"/>
                  </a:lnTo>
                  <a:lnTo>
                    <a:pt x="448050" y="62990"/>
                  </a:lnTo>
                  <a:lnTo>
                    <a:pt x="455733" y="71738"/>
                  </a:lnTo>
                  <a:lnTo>
                    <a:pt x="465698" y="78054"/>
                  </a:lnTo>
                  <a:lnTo>
                    <a:pt x="465698" y="206407"/>
                  </a:lnTo>
                  <a:lnTo>
                    <a:pt x="587384" y="271461"/>
                  </a:lnTo>
                  <a:lnTo>
                    <a:pt x="587384" y="274697"/>
                  </a:lnTo>
                  <a:lnTo>
                    <a:pt x="585796" y="276288"/>
                  </a:lnTo>
                  <a:lnTo>
                    <a:pt x="585796" y="277933"/>
                  </a:lnTo>
                  <a:lnTo>
                    <a:pt x="587846" y="290887"/>
                  </a:lnTo>
                  <a:lnTo>
                    <a:pt x="593695" y="302316"/>
                  </a:lnTo>
                  <a:lnTo>
                    <a:pt x="602892" y="311306"/>
                  </a:lnTo>
                  <a:lnTo>
                    <a:pt x="614985" y="316944"/>
                  </a:lnTo>
                  <a:lnTo>
                    <a:pt x="614985" y="578603"/>
                  </a:lnTo>
                  <a:lnTo>
                    <a:pt x="602892" y="584928"/>
                  </a:lnTo>
                  <a:lnTo>
                    <a:pt x="593695" y="593842"/>
                  </a:lnTo>
                  <a:lnTo>
                    <a:pt x="587846" y="604889"/>
                  </a:lnTo>
                  <a:lnTo>
                    <a:pt x="585796" y="617614"/>
                  </a:lnTo>
                  <a:lnTo>
                    <a:pt x="585796" y="620861"/>
                  </a:lnTo>
                  <a:lnTo>
                    <a:pt x="587384" y="622484"/>
                  </a:lnTo>
                  <a:lnTo>
                    <a:pt x="587384" y="625737"/>
                  </a:lnTo>
                  <a:lnTo>
                    <a:pt x="360223" y="755758"/>
                  </a:lnTo>
                  <a:lnTo>
                    <a:pt x="425403" y="755758"/>
                  </a:lnTo>
                  <a:lnTo>
                    <a:pt x="605237" y="651742"/>
                  </a:lnTo>
                  <a:lnTo>
                    <a:pt x="648894" y="651742"/>
                  </a:lnTo>
                  <a:lnTo>
                    <a:pt x="656777" y="646460"/>
                  </a:lnTo>
                  <a:lnTo>
                    <a:pt x="665399" y="633561"/>
                  </a:lnTo>
                  <a:lnTo>
                    <a:pt x="668544" y="617614"/>
                  </a:lnTo>
                  <a:lnTo>
                    <a:pt x="667074" y="606997"/>
                  </a:lnTo>
                  <a:lnTo>
                    <a:pt x="662862" y="597295"/>
                  </a:lnTo>
                  <a:lnTo>
                    <a:pt x="656207" y="588813"/>
                  </a:lnTo>
                  <a:lnTo>
                    <a:pt x="647405" y="581856"/>
                  </a:lnTo>
                  <a:lnTo>
                    <a:pt x="647405" y="313691"/>
                  </a:lnTo>
                  <a:lnTo>
                    <a:pt x="656207" y="307648"/>
                  </a:lnTo>
                  <a:lnTo>
                    <a:pt x="662862" y="299471"/>
                  </a:lnTo>
                  <a:lnTo>
                    <a:pt x="667074" y="289465"/>
                  </a:lnTo>
                  <a:lnTo>
                    <a:pt x="668544" y="277933"/>
                  </a:lnTo>
                  <a:lnTo>
                    <a:pt x="665399" y="261979"/>
                  </a:lnTo>
                  <a:lnTo>
                    <a:pt x="656777" y="249074"/>
                  </a:lnTo>
                  <a:lnTo>
                    <a:pt x="648931" y="243815"/>
                  </a:lnTo>
                  <a:lnTo>
                    <a:pt x="605237" y="243815"/>
                  </a:lnTo>
                  <a:lnTo>
                    <a:pt x="498151" y="186934"/>
                  </a:lnTo>
                  <a:lnTo>
                    <a:pt x="498151" y="78054"/>
                  </a:lnTo>
                  <a:lnTo>
                    <a:pt x="508113" y="71738"/>
                  </a:lnTo>
                  <a:lnTo>
                    <a:pt x="515795" y="62990"/>
                  </a:lnTo>
                  <a:lnTo>
                    <a:pt x="520739" y="52421"/>
                  </a:lnTo>
                  <a:lnTo>
                    <a:pt x="522488" y="40645"/>
                  </a:lnTo>
                  <a:lnTo>
                    <a:pt x="519345" y="24690"/>
                  </a:lnTo>
                  <a:lnTo>
                    <a:pt x="510725" y="11786"/>
                  </a:lnTo>
                  <a:lnTo>
                    <a:pt x="497846" y="3149"/>
                  </a:lnTo>
                  <a:lnTo>
                    <a:pt x="481925" y="0"/>
                  </a:lnTo>
                  <a:close/>
                </a:path>
                <a:path w="668654" h="829310">
                  <a:moveTo>
                    <a:pt x="48679" y="237288"/>
                  </a:moveTo>
                  <a:lnTo>
                    <a:pt x="40566" y="237288"/>
                  </a:lnTo>
                  <a:lnTo>
                    <a:pt x="24644" y="240438"/>
                  </a:lnTo>
                  <a:lnTo>
                    <a:pt x="11764" y="249074"/>
                  </a:lnTo>
                  <a:lnTo>
                    <a:pt x="3143" y="261979"/>
                  </a:lnTo>
                  <a:lnTo>
                    <a:pt x="0" y="277933"/>
                  </a:lnTo>
                  <a:lnTo>
                    <a:pt x="1470" y="289491"/>
                  </a:lnTo>
                  <a:lnTo>
                    <a:pt x="5679" y="299674"/>
                  </a:lnTo>
                  <a:lnTo>
                    <a:pt x="12322" y="308333"/>
                  </a:lnTo>
                  <a:lnTo>
                    <a:pt x="21095" y="315315"/>
                  </a:lnTo>
                  <a:lnTo>
                    <a:pt x="21095" y="581856"/>
                  </a:lnTo>
                  <a:lnTo>
                    <a:pt x="12322" y="588128"/>
                  </a:lnTo>
                  <a:lnTo>
                    <a:pt x="5679" y="596686"/>
                  </a:lnTo>
                  <a:lnTo>
                    <a:pt x="1470" y="606769"/>
                  </a:lnTo>
                  <a:lnTo>
                    <a:pt x="0" y="617614"/>
                  </a:lnTo>
                  <a:lnTo>
                    <a:pt x="3143" y="633561"/>
                  </a:lnTo>
                  <a:lnTo>
                    <a:pt x="11764" y="646460"/>
                  </a:lnTo>
                  <a:lnTo>
                    <a:pt x="24644" y="655094"/>
                  </a:lnTo>
                  <a:lnTo>
                    <a:pt x="40566" y="658242"/>
                  </a:lnTo>
                  <a:lnTo>
                    <a:pt x="48679" y="658242"/>
                  </a:lnTo>
                  <a:lnTo>
                    <a:pt x="55171" y="656619"/>
                  </a:lnTo>
                  <a:lnTo>
                    <a:pt x="61660" y="651742"/>
                  </a:lnTo>
                  <a:lnTo>
                    <a:pt x="126245" y="651742"/>
                  </a:lnTo>
                  <a:lnTo>
                    <a:pt x="81134" y="625737"/>
                  </a:lnTo>
                  <a:lnTo>
                    <a:pt x="81134" y="617614"/>
                  </a:lnTo>
                  <a:lnTo>
                    <a:pt x="79106" y="604889"/>
                  </a:lnTo>
                  <a:lnTo>
                    <a:pt x="73426" y="593842"/>
                  </a:lnTo>
                  <a:lnTo>
                    <a:pt x="64703" y="584928"/>
                  </a:lnTo>
                  <a:lnTo>
                    <a:pt x="53544" y="578603"/>
                  </a:lnTo>
                  <a:lnTo>
                    <a:pt x="53544" y="316944"/>
                  </a:lnTo>
                  <a:lnTo>
                    <a:pt x="64703" y="310621"/>
                  </a:lnTo>
                  <a:lnTo>
                    <a:pt x="73426" y="301707"/>
                  </a:lnTo>
                  <a:lnTo>
                    <a:pt x="79106" y="290658"/>
                  </a:lnTo>
                  <a:lnTo>
                    <a:pt x="81134" y="277933"/>
                  </a:lnTo>
                  <a:lnTo>
                    <a:pt x="81134" y="276288"/>
                  </a:lnTo>
                  <a:lnTo>
                    <a:pt x="79508" y="274697"/>
                  </a:lnTo>
                  <a:lnTo>
                    <a:pt x="79508" y="271461"/>
                  </a:lnTo>
                  <a:lnTo>
                    <a:pt x="130664" y="243815"/>
                  </a:lnTo>
                  <a:lnTo>
                    <a:pt x="61660" y="243815"/>
                  </a:lnTo>
                  <a:lnTo>
                    <a:pt x="48679" y="237288"/>
                  </a:lnTo>
                  <a:close/>
                </a:path>
                <a:path w="668654" h="829310">
                  <a:moveTo>
                    <a:pt x="648894" y="651742"/>
                  </a:moveTo>
                  <a:lnTo>
                    <a:pt x="605237" y="651742"/>
                  </a:lnTo>
                  <a:lnTo>
                    <a:pt x="611754" y="656619"/>
                  </a:lnTo>
                  <a:lnTo>
                    <a:pt x="619859" y="658242"/>
                  </a:lnTo>
                  <a:lnTo>
                    <a:pt x="627964" y="658242"/>
                  </a:lnTo>
                  <a:lnTo>
                    <a:pt x="643893" y="655094"/>
                  </a:lnTo>
                  <a:lnTo>
                    <a:pt x="648894" y="651742"/>
                  </a:lnTo>
                  <a:close/>
                </a:path>
                <a:path w="668654" h="829310">
                  <a:moveTo>
                    <a:pt x="186604" y="0"/>
                  </a:moveTo>
                  <a:lnTo>
                    <a:pt x="170682" y="3149"/>
                  </a:lnTo>
                  <a:lnTo>
                    <a:pt x="157801" y="11786"/>
                  </a:lnTo>
                  <a:lnTo>
                    <a:pt x="149179" y="24690"/>
                  </a:lnTo>
                  <a:lnTo>
                    <a:pt x="146035" y="40645"/>
                  </a:lnTo>
                  <a:lnTo>
                    <a:pt x="147785" y="52421"/>
                  </a:lnTo>
                  <a:lnTo>
                    <a:pt x="152729" y="62990"/>
                  </a:lnTo>
                  <a:lnTo>
                    <a:pt x="160412" y="71738"/>
                  </a:lnTo>
                  <a:lnTo>
                    <a:pt x="170378" y="78054"/>
                  </a:lnTo>
                  <a:lnTo>
                    <a:pt x="170378" y="185289"/>
                  </a:lnTo>
                  <a:lnTo>
                    <a:pt x="61660" y="243815"/>
                  </a:lnTo>
                  <a:lnTo>
                    <a:pt x="130664" y="243815"/>
                  </a:lnTo>
                  <a:lnTo>
                    <a:pt x="202831" y="204816"/>
                  </a:lnTo>
                  <a:lnTo>
                    <a:pt x="202831" y="78054"/>
                  </a:lnTo>
                  <a:lnTo>
                    <a:pt x="212795" y="71738"/>
                  </a:lnTo>
                  <a:lnTo>
                    <a:pt x="220476" y="62990"/>
                  </a:lnTo>
                  <a:lnTo>
                    <a:pt x="225419" y="52421"/>
                  </a:lnTo>
                  <a:lnTo>
                    <a:pt x="227168" y="40645"/>
                  </a:lnTo>
                  <a:lnTo>
                    <a:pt x="224024" y="24690"/>
                  </a:lnTo>
                  <a:lnTo>
                    <a:pt x="215405" y="11786"/>
                  </a:lnTo>
                  <a:lnTo>
                    <a:pt x="202526" y="3149"/>
                  </a:lnTo>
                  <a:lnTo>
                    <a:pt x="186604" y="0"/>
                  </a:lnTo>
                  <a:close/>
                </a:path>
                <a:path w="668654" h="829310">
                  <a:moveTo>
                    <a:pt x="627964" y="237288"/>
                  </a:moveTo>
                  <a:lnTo>
                    <a:pt x="619859" y="237288"/>
                  </a:lnTo>
                  <a:lnTo>
                    <a:pt x="611754" y="240579"/>
                  </a:lnTo>
                  <a:lnTo>
                    <a:pt x="605237" y="243815"/>
                  </a:lnTo>
                  <a:lnTo>
                    <a:pt x="648931" y="243815"/>
                  </a:lnTo>
                  <a:lnTo>
                    <a:pt x="643893" y="240438"/>
                  </a:lnTo>
                  <a:lnTo>
                    <a:pt x="627964" y="237288"/>
                  </a:lnTo>
                  <a:close/>
                </a:path>
              </a:pathLst>
            </a:custGeom>
            <a:solidFill>
              <a:srgbClr val="1D70B8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6" name="object 6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11164899" y="466804"/>
              <a:ext cx="115207" cy="115408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1195725" y="236043"/>
              <a:ext cx="79511" cy="79644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1293085" y="336806"/>
              <a:ext cx="95738" cy="95880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1150293" y="954381"/>
              <a:ext cx="193092" cy="203154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11054555" y="855264"/>
              <a:ext cx="386080" cy="388620"/>
            </a:xfrm>
            <a:custGeom>
              <a:avLst/>
              <a:gdLst/>
              <a:ahLst/>
              <a:cxnLst/>
              <a:rect l="l" t="t" r="r" b="b"/>
              <a:pathLst>
                <a:path w="386079" h="388619">
                  <a:moveTo>
                    <a:pt x="193097" y="0"/>
                  </a:moveTo>
                  <a:lnTo>
                    <a:pt x="148680" y="5173"/>
                  </a:lnTo>
                  <a:lnTo>
                    <a:pt x="107980" y="19896"/>
                  </a:lnTo>
                  <a:lnTo>
                    <a:pt x="72135" y="42977"/>
                  </a:lnTo>
                  <a:lnTo>
                    <a:pt x="42279" y="73222"/>
                  </a:lnTo>
                  <a:lnTo>
                    <a:pt x="19547" y="109438"/>
                  </a:lnTo>
                  <a:lnTo>
                    <a:pt x="5076" y="150431"/>
                  </a:lnTo>
                  <a:lnTo>
                    <a:pt x="0" y="195008"/>
                  </a:lnTo>
                  <a:lnTo>
                    <a:pt x="5076" y="238984"/>
                  </a:lnTo>
                  <a:lnTo>
                    <a:pt x="19547" y="279548"/>
                  </a:lnTo>
                  <a:lnTo>
                    <a:pt x="42279" y="315478"/>
                  </a:lnTo>
                  <a:lnTo>
                    <a:pt x="72135" y="345552"/>
                  </a:lnTo>
                  <a:lnTo>
                    <a:pt x="107980" y="368547"/>
                  </a:lnTo>
                  <a:lnTo>
                    <a:pt x="148680" y="383241"/>
                  </a:lnTo>
                  <a:lnTo>
                    <a:pt x="193097" y="388410"/>
                  </a:lnTo>
                  <a:lnTo>
                    <a:pt x="224080" y="385059"/>
                  </a:lnTo>
                  <a:lnTo>
                    <a:pt x="253541" y="377440"/>
                  </a:lnTo>
                  <a:lnTo>
                    <a:pt x="281175" y="365555"/>
                  </a:lnTo>
                  <a:lnTo>
                    <a:pt x="296414" y="355905"/>
                  </a:lnTo>
                  <a:lnTo>
                    <a:pt x="193097" y="355905"/>
                  </a:lnTo>
                  <a:lnTo>
                    <a:pt x="150090" y="350081"/>
                  </a:lnTo>
                  <a:lnTo>
                    <a:pt x="111365" y="333694"/>
                  </a:lnTo>
                  <a:lnTo>
                    <a:pt x="78498" y="308368"/>
                  </a:lnTo>
                  <a:lnTo>
                    <a:pt x="53069" y="275728"/>
                  </a:lnTo>
                  <a:lnTo>
                    <a:pt x="36654" y="237400"/>
                  </a:lnTo>
                  <a:lnTo>
                    <a:pt x="30832" y="195008"/>
                  </a:lnTo>
                  <a:lnTo>
                    <a:pt x="36654" y="151930"/>
                  </a:lnTo>
                  <a:lnTo>
                    <a:pt x="53069" y="113140"/>
                  </a:lnTo>
                  <a:lnTo>
                    <a:pt x="78498" y="80218"/>
                  </a:lnTo>
                  <a:lnTo>
                    <a:pt x="111365" y="54746"/>
                  </a:lnTo>
                  <a:lnTo>
                    <a:pt x="150090" y="38304"/>
                  </a:lnTo>
                  <a:lnTo>
                    <a:pt x="193097" y="32472"/>
                  </a:lnTo>
                  <a:lnTo>
                    <a:pt x="326658" y="32472"/>
                  </a:lnTo>
                  <a:lnTo>
                    <a:pt x="324531" y="30881"/>
                  </a:lnTo>
                  <a:lnTo>
                    <a:pt x="295325" y="30881"/>
                  </a:lnTo>
                  <a:lnTo>
                    <a:pt x="271365" y="17818"/>
                  </a:lnTo>
                  <a:lnTo>
                    <a:pt x="246035" y="8118"/>
                  </a:lnTo>
                  <a:lnTo>
                    <a:pt x="219794" y="2079"/>
                  </a:lnTo>
                  <a:lnTo>
                    <a:pt x="193097" y="0"/>
                  </a:lnTo>
                  <a:close/>
                </a:path>
                <a:path w="386079" h="388619">
                  <a:moveTo>
                    <a:pt x="376453" y="162503"/>
                  </a:moveTo>
                  <a:lnTo>
                    <a:pt x="363474" y="162503"/>
                  </a:lnTo>
                  <a:lnTo>
                    <a:pt x="353737" y="172256"/>
                  </a:lnTo>
                  <a:lnTo>
                    <a:pt x="353737" y="180379"/>
                  </a:lnTo>
                  <a:lnTo>
                    <a:pt x="354356" y="190562"/>
                  </a:lnTo>
                  <a:lnTo>
                    <a:pt x="354305" y="202930"/>
                  </a:lnTo>
                  <a:lnTo>
                    <a:pt x="340756" y="257985"/>
                  </a:lnTo>
                  <a:lnTo>
                    <a:pt x="318042" y="295771"/>
                  </a:lnTo>
                  <a:lnTo>
                    <a:pt x="270907" y="335338"/>
                  </a:lnTo>
                  <a:lnTo>
                    <a:pt x="220657" y="353518"/>
                  </a:lnTo>
                  <a:lnTo>
                    <a:pt x="193097" y="355905"/>
                  </a:lnTo>
                  <a:lnTo>
                    <a:pt x="296414" y="355905"/>
                  </a:lnTo>
                  <a:lnTo>
                    <a:pt x="334268" y="325023"/>
                  </a:lnTo>
                  <a:lnTo>
                    <a:pt x="367937" y="275658"/>
                  </a:lnTo>
                  <a:lnTo>
                    <a:pt x="384569" y="217761"/>
                  </a:lnTo>
                  <a:lnTo>
                    <a:pt x="385937" y="190562"/>
                  </a:lnTo>
                  <a:lnTo>
                    <a:pt x="384569" y="177127"/>
                  </a:lnTo>
                  <a:lnTo>
                    <a:pt x="384569" y="172256"/>
                  </a:lnTo>
                  <a:lnTo>
                    <a:pt x="382948" y="169003"/>
                  </a:lnTo>
                  <a:lnTo>
                    <a:pt x="376453" y="162503"/>
                  </a:lnTo>
                  <a:close/>
                </a:path>
                <a:path w="386079" h="388619">
                  <a:moveTo>
                    <a:pt x="326658" y="32472"/>
                  </a:moveTo>
                  <a:lnTo>
                    <a:pt x="193097" y="32472"/>
                  </a:lnTo>
                  <a:lnTo>
                    <a:pt x="214952" y="33998"/>
                  </a:lnTo>
                  <a:lnTo>
                    <a:pt x="236503" y="38573"/>
                  </a:lnTo>
                  <a:lnTo>
                    <a:pt x="257445" y="46196"/>
                  </a:lnTo>
                  <a:lnTo>
                    <a:pt x="277472" y="56864"/>
                  </a:lnTo>
                  <a:lnTo>
                    <a:pt x="277472" y="58488"/>
                  </a:lnTo>
                  <a:lnTo>
                    <a:pt x="279780" y="71108"/>
                  </a:lnTo>
                  <a:lnTo>
                    <a:pt x="286196" y="81444"/>
                  </a:lnTo>
                  <a:lnTo>
                    <a:pt x="295958" y="88428"/>
                  </a:lnTo>
                  <a:lnTo>
                    <a:pt x="308305" y="90993"/>
                  </a:lnTo>
                  <a:lnTo>
                    <a:pt x="320905" y="88428"/>
                  </a:lnTo>
                  <a:lnTo>
                    <a:pt x="331224" y="81444"/>
                  </a:lnTo>
                  <a:lnTo>
                    <a:pt x="338197" y="71108"/>
                  </a:lnTo>
                  <a:lnTo>
                    <a:pt x="340758" y="58488"/>
                  </a:lnTo>
                  <a:lnTo>
                    <a:pt x="340758" y="50359"/>
                  </a:lnTo>
                  <a:lnTo>
                    <a:pt x="337510" y="42235"/>
                  </a:lnTo>
                  <a:lnTo>
                    <a:pt x="331021" y="35735"/>
                  </a:lnTo>
                  <a:lnTo>
                    <a:pt x="326658" y="32472"/>
                  </a:lnTo>
                  <a:close/>
                </a:path>
                <a:path w="386079" h="388619">
                  <a:moveTo>
                    <a:pt x="316415" y="27590"/>
                  </a:moveTo>
                  <a:lnTo>
                    <a:pt x="298567" y="27590"/>
                  </a:lnTo>
                  <a:lnTo>
                    <a:pt x="295325" y="30881"/>
                  </a:lnTo>
                  <a:lnTo>
                    <a:pt x="324531" y="30881"/>
                  </a:lnTo>
                  <a:lnTo>
                    <a:pt x="316415" y="27590"/>
                  </a:lnTo>
                  <a:close/>
                </a:path>
              </a:pathLst>
            </a:custGeom>
            <a:solidFill>
              <a:srgbClr val="1D70B8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1" name="Заголовок 10"/>
          <p:cNvSpPr>
            <a:spLocks noGrp="1"/>
          </p:cNvSpPr>
          <p:nvPr>
            <p:ph type="title"/>
          </p:nvPr>
        </p:nvSpPr>
        <p:spPr>
          <a:xfrm>
            <a:off x="623569" y="380314"/>
            <a:ext cx="9411335" cy="430530"/>
          </a:xfrm>
        </p:spPr>
        <p:txBody>
          <a:bodyPr>
            <a:normAutofit fontScale="90000"/>
          </a:bodyPr>
          <a:lstStyle/>
          <a:p>
            <a:r>
              <a:rPr lang="ru-RU" alt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b="1">
                <a:effectLst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Характеристика и показатели</a:t>
            </a:r>
            <a:r>
              <a:rPr lang="ru-RU" alt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alt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праймеров</a:t>
            </a:r>
            <a:r>
              <a:rPr lang="ru-RU" alt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ru-RU" alt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Номер слайда 13"/>
          <p:cNvSpPr>
            <a:spLocks noGrp="1"/>
          </p:cNvSpPr>
          <p:nvPr>
            <p:ph type="sldNum" sz="quarter" idx="12"/>
          </p:nvPr>
        </p:nvSpPr>
        <p:spPr>
          <a:xfrm>
            <a:off x="11240768" y="6397751"/>
            <a:ext cx="373931" cy="274955"/>
          </a:xfrm>
        </p:spPr>
        <p:txBody>
          <a:bodyPr/>
          <a:lstStyle/>
          <a:p>
            <a:pPr marL="38100">
              <a:lnSpc>
                <a:spcPts val="2145"/>
              </a:lnSpc>
            </a:pPr>
            <a:fld id="{81D60167-4931-47E6-BA6A-407CBD079E47}" type="slidenum">
              <a:rPr lang="ru-RU" sz="2400" b="0" smtClean="0"/>
            </a:fld>
            <a:endParaRPr lang="ru-RU" sz="2400" b="0" dirty="0"/>
          </a:p>
        </p:txBody>
      </p:sp>
      <p:sp>
        <p:nvSpPr>
          <p:cNvPr id="15" name="TextBox 14"/>
          <p:cNvSpPr txBox="1"/>
          <p:nvPr/>
        </p:nvSpPr>
        <p:spPr>
          <a:xfrm>
            <a:off x="3143672" y="6028419"/>
            <a:ext cx="51125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b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Таблица термодинамических параметров</a:t>
            </a:r>
            <a:endParaRPr lang="ru-RU" b="1" dirty="0">
              <a:solidFill>
                <a:srgbClr val="0070C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/>
        </p:nvGraphicFramePr>
        <p:xfrm>
          <a:off x="1686022" y="1176172"/>
          <a:ext cx="8027868" cy="4821374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675956"/>
                <a:gridCol w="2675956"/>
                <a:gridCol w="2675956"/>
              </a:tblGrid>
              <a:tr h="395576">
                <a:tc>
                  <a:txBody>
                    <a:bodyPr/>
                    <a:lstStyle/>
                    <a:p>
                      <a:pPr rtl="0"/>
                      <a:r>
                        <a:rPr lang="ru-RU" sz="1400">
                          <a:effectLst/>
                        </a:rPr>
                        <a:t>Характеристика / Показатель</a:t>
                      </a:r>
                      <a:endParaRPr lang="ru-RU" sz="1400">
                        <a:effectLst/>
                      </a:endParaRPr>
                    </a:p>
                  </a:txBody>
                  <a:tcPr marL="69808" marR="69808" marT="93077" marB="93077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>
                          <a:effectLst/>
                        </a:rPr>
                        <a:t>Forward </a:t>
                      </a:r>
                      <a:r>
                        <a:rPr lang="ru-RU" sz="1400">
                          <a:effectLst/>
                        </a:rPr>
                        <a:t>праймер (прямой)</a:t>
                      </a:r>
                      <a:endParaRPr lang="ru-RU" sz="1400">
                        <a:effectLst/>
                      </a:endParaRPr>
                    </a:p>
                  </a:txBody>
                  <a:tcPr marL="69808" marR="69808" marT="93077" marB="93077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dirty="0">
                          <a:effectLst/>
                        </a:rPr>
                        <a:t>Reverse </a:t>
                      </a:r>
                      <a:r>
                        <a:rPr lang="ru-RU" sz="1400" dirty="0" err="1">
                          <a:effectLst/>
                        </a:rPr>
                        <a:t>праймер</a:t>
                      </a:r>
                      <a:r>
                        <a:rPr lang="ru-RU" sz="1400" dirty="0">
                          <a:effectLst/>
                        </a:rPr>
                        <a:t> (обратный)</a:t>
                      </a:r>
                      <a:endParaRPr lang="ru-RU" sz="1400" dirty="0">
                        <a:effectLst/>
                      </a:endParaRPr>
                    </a:p>
                  </a:txBody>
                  <a:tcPr marL="69808" marR="69808" marT="93077" marB="93077" anchor="ctr"/>
                </a:tc>
              </a:tr>
              <a:tr h="395576">
                <a:tc>
                  <a:txBody>
                    <a:bodyPr/>
                    <a:lstStyle/>
                    <a:p>
                      <a:pPr rtl="0"/>
                      <a:r>
                        <a:rPr lang="ru-RU" sz="1400">
                          <a:effectLst/>
                        </a:rPr>
                        <a:t>Последовательность (5' → 3')</a:t>
                      </a:r>
                      <a:endParaRPr lang="ru-RU" sz="1400">
                        <a:effectLst/>
                      </a:endParaRPr>
                    </a:p>
                  </a:txBody>
                  <a:tcPr marL="69808" marR="69808" marT="93077" marB="93077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dirty="0">
                          <a:effectLst/>
                        </a:rPr>
                        <a:t>GGTGTCCAAGTGTGCTTTGT</a:t>
                      </a:r>
                      <a:endParaRPr lang="en-US" sz="1400" dirty="0">
                        <a:effectLst/>
                      </a:endParaRPr>
                    </a:p>
                  </a:txBody>
                  <a:tcPr marL="69808" marR="69808" marT="93077" marB="93077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>
                          <a:effectLst/>
                        </a:rPr>
                        <a:t>CCTTGATGTGTCTGCCTTCT</a:t>
                      </a:r>
                      <a:endParaRPr lang="en-US" sz="1400">
                        <a:effectLst/>
                      </a:endParaRPr>
                    </a:p>
                  </a:txBody>
                  <a:tcPr marL="69808" marR="69808" marT="93077" marB="93077" anchor="ctr"/>
                </a:tc>
              </a:tr>
              <a:tr h="395576">
                <a:tc>
                  <a:txBody>
                    <a:bodyPr/>
                    <a:lstStyle/>
                    <a:p>
                      <a:pPr rtl="0"/>
                      <a:r>
                        <a:rPr lang="ru-RU" sz="1400">
                          <a:effectLst/>
                        </a:rPr>
                        <a:t>Длина (нт)</a:t>
                      </a:r>
                      <a:endParaRPr lang="ru-RU" sz="1400">
                        <a:effectLst/>
                      </a:endParaRPr>
                    </a:p>
                  </a:txBody>
                  <a:tcPr marL="69808" marR="69808" marT="93077" marB="93077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ru-RU" sz="1400">
                          <a:effectLst/>
                        </a:rPr>
                        <a:t>20 нуклеотидов</a:t>
                      </a:r>
                      <a:endParaRPr lang="ru-RU" sz="1400">
                        <a:effectLst/>
                      </a:endParaRPr>
                    </a:p>
                  </a:txBody>
                  <a:tcPr marL="69808" marR="69808" marT="93077" marB="93077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ru-RU" sz="1400">
                          <a:effectLst/>
                        </a:rPr>
                        <a:t>20 нуклеотидов</a:t>
                      </a:r>
                      <a:endParaRPr lang="ru-RU" sz="1400">
                        <a:effectLst/>
                      </a:endParaRPr>
                    </a:p>
                  </a:txBody>
                  <a:tcPr marL="69808" marR="69808" marT="93077" marB="93077" anchor="ctr"/>
                </a:tc>
              </a:tr>
              <a:tr h="395576">
                <a:tc>
                  <a:txBody>
                    <a:bodyPr/>
                    <a:lstStyle/>
                    <a:p>
                      <a:pPr rtl="0"/>
                      <a:r>
                        <a:rPr lang="ru-RU" sz="1400">
                          <a:effectLst/>
                        </a:rPr>
                        <a:t>Объект отжига</a:t>
                      </a:r>
                      <a:endParaRPr lang="ru-RU" sz="1400">
                        <a:effectLst/>
                      </a:endParaRPr>
                    </a:p>
                  </a:txBody>
                  <a:tcPr marL="69808" marR="69808" marT="93077" marB="93077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ru-RU" sz="1400">
                          <a:effectLst/>
                        </a:rPr>
                        <a:t>Экзонный стык гена </a:t>
                      </a:r>
                      <a:r>
                        <a:rPr lang="en-US" sz="1400">
                          <a:effectLst/>
                        </a:rPr>
                        <a:t>TOP2A</a:t>
                      </a:r>
                      <a:endParaRPr lang="en-US" sz="1400">
                        <a:effectLst/>
                      </a:endParaRPr>
                    </a:p>
                  </a:txBody>
                  <a:tcPr marL="69808" marR="69808" marT="93077" marB="93077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ru-RU" sz="1400">
                          <a:effectLst/>
                        </a:rPr>
                        <a:t>Экзонный стык гена </a:t>
                      </a:r>
                      <a:r>
                        <a:rPr lang="en-US" sz="1400">
                          <a:effectLst/>
                        </a:rPr>
                        <a:t>TOP2A</a:t>
                      </a:r>
                      <a:endParaRPr lang="en-US" sz="1400">
                        <a:effectLst/>
                      </a:endParaRPr>
                    </a:p>
                  </a:txBody>
                  <a:tcPr marL="69808" marR="69808" marT="93077" marB="93077" anchor="ctr"/>
                </a:tc>
              </a:tr>
              <a:tr h="395576">
                <a:tc>
                  <a:txBody>
                    <a:bodyPr/>
                    <a:lstStyle/>
                    <a:p>
                      <a:pPr rtl="0"/>
                      <a:r>
                        <a:rPr lang="ru-RU" sz="1400">
                          <a:effectLst/>
                        </a:rPr>
                        <a:t>Температура плавления (</a:t>
                      </a:r>
                      <a:r>
                        <a:rPr lang="en-US" sz="1400">
                          <a:effectLst/>
                        </a:rPr>
                        <a:t>Tm), °C</a:t>
                      </a:r>
                      <a:endParaRPr lang="en-US" sz="1400">
                        <a:effectLst/>
                      </a:endParaRPr>
                    </a:p>
                  </a:txBody>
                  <a:tcPr marL="69808" marR="69808" marT="93077" marB="93077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>
                          <a:effectLst/>
                        </a:rPr>
                        <a:t>60.2 °C</a:t>
                      </a:r>
                      <a:endParaRPr lang="en-US" sz="1400">
                        <a:effectLst/>
                      </a:endParaRPr>
                    </a:p>
                  </a:txBody>
                  <a:tcPr marL="69808" marR="69808" marT="93077" marB="93077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>
                          <a:effectLst/>
                        </a:rPr>
                        <a:t>59.8 °C</a:t>
                      </a:r>
                      <a:endParaRPr lang="en-US" sz="1400">
                        <a:effectLst/>
                      </a:endParaRPr>
                    </a:p>
                  </a:txBody>
                  <a:tcPr marL="69808" marR="69808" marT="93077" marB="93077" anchor="ctr"/>
                </a:tc>
              </a:tr>
              <a:tr h="395576">
                <a:tc>
                  <a:txBody>
                    <a:bodyPr/>
                    <a:lstStyle/>
                    <a:p>
                      <a:pPr rtl="0"/>
                      <a:r>
                        <a:rPr lang="en-US" sz="1400">
                          <a:effectLst/>
                        </a:rPr>
                        <a:t>GC-</a:t>
                      </a:r>
                      <a:r>
                        <a:rPr lang="ru-RU" sz="1400">
                          <a:effectLst/>
                        </a:rPr>
                        <a:t>состав, %</a:t>
                      </a:r>
                      <a:endParaRPr lang="ru-RU" sz="1400">
                        <a:effectLst/>
                      </a:endParaRPr>
                    </a:p>
                  </a:txBody>
                  <a:tcPr marL="69808" marR="69808" marT="93077" marB="93077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ru-RU" sz="1400">
                          <a:effectLst/>
                        </a:rPr>
                        <a:t>50 %</a:t>
                      </a:r>
                      <a:endParaRPr lang="ru-RU" sz="1400">
                        <a:effectLst/>
                      </a:endParaRPr>
                    </a:p>
                  </a:txBody>
                  <a:tcPr marL="69808" marR="69808" marT="93077" marB="93077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ru-RU" sz="1400">
                          <a:effectLst/>
                        </a:rPr>
                        <a:t>50 %</a:t>
                      </a:r>
                      <a:endParaRPr lang="ru-RU" sz="1400">
                        <a:effectLst/>
                      </a:endParaRPr>
                    </a:p>
                  </a:txBody>
                  <a:tcPr marL="69808" marR="69808" marT="93077" marB="93077" anchor="ctr"/>
                </a:tc>
              </a:tr>
              <a:tr h="395576">
                <a:tc>
                  <a:txBody>
                    <a:bodyPr/>
                    <a:lstStyle/>
                    <a:p>
                      <a:pPr rtl="0"/>
                      <a:r>
                        <a:rPr lang="ru-RU" sz="1400">
                          <a:effectLst/>
                        </a:rPr>
                        <a:t>Молекулярная масса, г/моль</a:t>
                      </a:r>
                      <a:endParaRPr lang="ru-RU" sz="1400">
                        <a:effectLst/>
                      </a:endParaRPr>
                    </a:p>
                  </a:txBody>
                  <a:tcPr marL="69808" marR="69808" marT="93077" marB="93077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ru-RU" sz="1400" dirty="0">
                          <a:effectLst/>
                        </a:rPr>
                        <a:t>6182.4</a:t>
                      </a:r>
                      <a:endParaRPr lang="ru-RU" sz="1400" dirty="0">
                        <a:effectLst/>
                      </a:endParaRPr>
                    </a:p>
                  </a:txBody>
                  <a:tcPr marL="69808" marR="69808" marT="93077" marB="93077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ru-RU" sz="1400">
                          <a:effectLst/>
                        </a:rPr>
                        <a:t>6125.1</a:t>
                      </a:r>
                      <a:endParaRPr lang="ru-RU" sz="1400">
                        <a:effectLst/>
                      </a:endParaRPr>
                    </a:p>
                  </a:txBody>
                  <a:tcPr marL="69808" marR="69808" marT="93077" marB="93077" anchor="ctr"/>
                </a:tc>
              </a:tr>
              <a:tr h="395576">
                <a:tc>
                  <a:txBody>
                    <a:bodyPr/>
                    <a:lstStyle/>
                    <a:p>
                      <a:pPr rtl="0"/>
                      <a:r>
                        <a:rPr lang="el-GR" sz="1400">
                          <a:effectLst/>
                        </a:rPr>
                        <a:t>Δ</a:t>
                      </a:r>
                      <a:r>
                        <a:rPr lang="en-US" sz="1400">
                          <a:effectLst/>
                        </a:rPr>
                        <a:t>G </a:t>
                      </a:r>
                      <a:r>
                        <a:rPr lang="ru-RU" sz="1400">
                          <a:effectLst/>
                        </a:rPr>
                        <a:t>самокомплементарности</a:t>
                      </a:r>
                      <a:endParaRPr lang="ru-RU" sz="1400">
                        <a:effectLst/>
                      </a:endParaRPr>
                    </a:p>
                  </a:txBody>
                  <a:tcPr marL="69808" marR="69808" marT="93077" marB="93077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ru-RU" sz="1400">
                          <a:effectLst/>
                        </a:rPr>
                        <a:t>-1.2 ккал/моль (норма)</a:t>
                      </a:r>
                      <a:endParaRPr lang="ru-RU" sz="1400">
                        <a:effectLst/>
                      </a:endParaRPr>
                    </a:p>
                  </a:txBody>
                  <a:tcPr marL="69808" marR="69808" marT="93077" marB="93077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ru-RU" sz="1400">
                          <a:effectLst/>
                        </a:rPr>
                        <a:t>-0.8 ккал/моль (норма)</a:t>
                      </a:r>
                      <a:endParaRPr lang="ru-RU" sz="1400">
                        <a:effectLst/>
                      </a:endParaRPr>
                    </a:p>
                  </a:txBody>
                  <a:tcPr marL="69808" marR="69808" marT="93077" marB="93077" anchor="ctr"/>
                </a:tc>
              </a:tr>
              <a:tr h="395576">
                <a:tc>
                  <a:txBody>
                    <a:bodyPr/>
                    <a:lstStyle/>
                    <a:p>
                      <a:pPr rtl="0"/>
                      <a:r>
                        <a:rPr lang="ru-RU" sz="1400">
                          <a:effectLst/>
                        </a:rPr>
                        <a:t>Вторичные структуры (шпильки)</a:t>
                      </a:r>
                      <a:endParaRPr lang="ru-RU" sz="1400">
                        <a:effectLst/>
                      </a:endParaRPr>
                    </a:p>
                  </a:txBody>
                  <a:tcPr marL="69808" marR="69808" marT="93077" marB="93077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ru-RU" sz="1400">
                          <a:effectLst/>
                        </a:rPr>
                        <a:t>Отсутствуют</a:t>
                      </a:r>
                      <a:endParaRPr lang="ru-RU" sz="1400">
                        <a:effectLst/>
                      </a:endParaRPr>
                    </a:p>
                  </a:txBody>
                  <a:tcPr marL="69808" marR="69808" marT="93077" marB="93077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ru-RU" sz="1400">
                          <a:effectLst/>
                        </a:rPr>
                        <a:t>Отсутствуют</a:t>
                      </a:r>
                      <a:endParaRPr lang="ru-RU" sz="1400">
                        <a:effectLst/>
                      </a:endParaRPr>
                    </a:p>
                  </a:txBody>
                  <a:tcPr marL="69808" marR="69808" marT="93077" marB="93077" anchor="ctr"/>
                </a:tc>
              </a:tr>
              <a:tr h="395576">
                <a:tc>
                  <a:txBody>
                    <a:bodyPr/>
                    <a:lstStyle/>
                    <a:p>
                      <a:pPr rtl="0"/>
                      <a:r>
                        <a:rPr lang="ru-RU" sz="1400">
                          <a:effectLst/>
                        </a:rPr>
                        <a:t>Специфичность (</a:t>
                      </a:r>
                      <a:r>
                        <a:rPr lang="en-US" sz="1400">
                          <a:effectLst/>
                        </a:rPr>
                        <a:t>BLAST)</a:t>
                      </a:r>
                      <a:endParaRPr lang="en-US" sz="1400">
                        <a:effectLst/>
                      </a:endParaRPr>
                    </a:p>
                  </a:txBody>
                  <a:tcPr marL="69808" marR="69808" marT="93077" marB="93077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ru-RU" sz="1400">
                          <a:effectLst/>
                        </a:rPr>
                        <a:t>Высокая (100% к </a:t>
                      </a:r>
                      <a:r>
                        <a:rPr lang="en-US" sz="1400">
                          <a:effectLst/>
                        </a:rPr>
                        <a:t>TOP2A)</a:t>
                      </a:r>
                      <a:endParaRPr lang="en-US" sz="1400">
                        <a:effectLst/>
                      </a:endParaRPr>
                    </a:p>
                  </a:txBody>
                  <a:tcPr marL="69808" marR="69808" marT="93077" marB="93077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ru-RU" sz="1400">
                          <a:effectLst/>
                        </a:rPr>
                        <a:t>Высокая (100% к </a:t>
                      </a:r>
                      <a:r>
                        <a:rPr lang="en-US" sz="1400">
                          <a:effectLst/>
                        </a:rPr>
                        <a:t>TOP2A)</a:t>
                      </a:r>
                      <a:endParaRPr lang="en-US" sz="1400">
                        <a:effectLst/>
                      </a:endParaRPr>
                    </a:p>
                  </a:txBody>
                  <a:tcPr marL="69808" marR="69808" marT="93077" marB="93077" anchor="ctr"/>
                </a:tc>
              </a:tr>
              <a:tr h="395576">
                <a:tc>
                  <a:txBody>
                    <a:bodyPr/>
                    <a:lstStyle/>
                    <a:p>
                      <a:pPr rtl="0"/>
                      <a:r>
                        <a:rPr lang="ru-RU" sz="1400">
                          <a:effectLst/>
                        </a:rPr>
                        <a:t>Ожидаемый размер продукта</a:t>
                      </a:r>
                      <a:endParaRPr lang="ru-RU" sz="1400">
                        <a:effectLst/>
                      </a:endParaRPr>
                    </a:p>
                  </a:txBody>
                  <a:tcPr marL="69808" marR="69808" marT="93077" marB="93077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ru-RU" sz="1400" dirty="0">
                          <a:effectLst/>
                        </a:rPr>
                        <a:t>150 пар нуклеотидов (</a:t>
                      </a:r>
                      <a:r>
                        <a:rPr lang="ru-RU" sz="1400" dirty="0" err="1">
                          <a:effectLst/>
                        </a:rPr>
                        <a:t>п.н</a:t>
                      </a:r>
                      <a:r>
                        <a:rPr lang="ru-RU" sz="1400" dirty="0">
                          <a:effectLst/>
                        </a:rPr>
                        <a:t>.)</a:t>
                      </a:r>
                      <a:endParaRPr lang="ru-RU" sz="1400" dirty="0">
                        <a:effectLst/>
                      </a:endParaRPr>
                    </a:p>
                  </a:txBody>
                  <a:tcPr marL="69808" marR="69808" marT="93077" marB="93077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ru-RU" sz="1400" dirty="0">
                          <a:effectLst/>
                        </a:rPr>
                        <a:t>—</a:t>
                      </a:r>
                      <a:endParaRPr lang="ru-RU" sz="1400" dirty="0">
                        <a:effectLst/>
                      </a:endParaRPr>
                    </a:p>
                  </a:txBody>
                  <a:tcPr marL="69808" marR="69808" marT="93077" marB="93077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object 4"/>
          <p:cNvGrpSpPr/>
          <p:nvPr/>
        </p:nvGrpSpPr>
        <p:grpSpPr>
          <a:xfrm>
            <a:off x="10944357" y="238303"/>
            <a:ext cx="668655" cy="1195070"/>
            <a:chOff x="10913388" y="236043"/>
            <a:chExt cx="668655" cy="1195070"/>
          </a:xfrm>
        </p:grpSpPr>
        <p:sp>
          <p:nvSpPr>
            <p:cNvPr id="5" name="object 5"/>
            <p:cNvSpPr/>
            <p:nvPr/>
          </p:nvSpPr>
          <p:spPr>
            <a:xfrm>
              <a:off x="10913388" y="601685"/>
              <a:ext cx="668655" cy="829310"/>
            </a:xfrm>
            <a:custGeom>
              <a:avLst/>
              <a:gdLst/>
              <a:ahLst/>
              <a:cxnLst/>
              <a:rect l="l" t="t" r="r" b="b"/>
              <a:pathLst>
                <a:path w="668654" h="829310">
                  <a:moveTo>
                    <a:pt x="126245" y="651742"/>
                  </a:moveTo>
                  <a:lnTo>
                    <a:pt x="61660" y="651742"/>
                  </a:lnTo>
                  <a:lnTo>
                    <a:pt x="293695" y="785010"/>
                  </a:lnTo>
                  <a:lnTo>
                    <a:pt x="293695" y="788261"/>
                  </a:lnTo>
                  <a:lnTo>
                    <a:pt x="296840" y="803522"/>
                  </a:lnTo>
                  <a:lnTo>
                    <a:pt x="305461" y="816499"/>
                  </a:lnTo>
                  <a:lnTo>
                    <a:pt x="318342" y="825514"/>
                  </a:lnTo>
                  <a:lnTo>
                    <a:pt x="334264" y="828892"/>
                  </a:lnTo>
                  <a:lnTo>
                    <a:pt x="350186" y="825514"/>
                  </a:lnTo>
                  <a:lnTo>
                    <a:pt x="363065" y="816499"/>
                  </a:lnTo>
                  <a:lnTo>
                    <a:pt x="371685" y="803522"/>
                  </a:lnTo>
                  <a:lnTo>
                    <a:pt x="374828" y="788261"/>
                  </a:lnTo>
                  <a:lnTo>
                    <a:pt x="374828" y="785010"/>
                  </a:lnTo>
                  <a:lnTo>
                    <a:pt x="425403" y="755758"/>
                  </a:lnTo>
                  <a:lnTo>
                    <a:pt x="306680" y="755758"/>
                  </a:lnTo>
                  <a:lnTo>
                    <a:pt x="126245" y="651742"/>
                  </a:lnTo>
                  <a:close/>
                </a:path>
                <a:path w="668654" h="829310">
                  <a:moveTo>
                    <a:pt x="334061" y="747226"/>
                  </a:moveTo>
                  <a:lnTo>
                    <a:pt x="319838" y="749359"/>
                  </a:lnTo>
                  <a:lnTo>
                    <a:pt x="306680" y="755758"/>
                  </a:lnTo>
                  <a:lnTo>
                    <a:pt x="360223" y="755758"/>
                  </a:lnTo>
                  <a:lnTo>
                    <a:pt x="347979" y="749359"/>
                  </a:lnTo>
                  <a:lnTo>
                    <a:pt x="334061" y="747226"/>
                  </a:lnTo>
                  <a:close/>
                </a:path>
                <a:path w="668654" h="829310">
                  <a:moveTo>
                    <a:pt x="481925" y="0"/>
                  </a:moveTo>
                  <a:lnTo>
                    <a:pt x="466002" y="3149"/>
                  </a:lnTo>
                  <a:lnTo>
                    <a:pt x="453122" y="11786"/>
                  </a:lnTo>
                  <a:lnTo>
                    <a:pt x="444500" y="24690"/>
                  </a:lnTo>
                  <a:lnTo>
                    <a:pt x="441355" y="40645"/>
                  </a:lnTo>
                  <a:lnTo>
                    <a:pt x="443105" y="52421"/>
                  </a:lnTo>
                  <a:lnTo>
                    <a:pt x="448050" y="62990"/>
                  </a:lnTo>
                  <a:lnTo>
                    <a:pt x="455733" y="71738"/>
                  </a:lnTo>
                  <a:lnTo>
                    <a:pt x="465698" y="78054"/>
                  </a:lnTo>
                  <a:lnTo>
                    <a:pt x="465698" y="206407"/>
                  </a:lnTo>
                  <a:lnTo>
                    <a:pt x="587384" y="271461"/>
                  </a:lnTo>
                  <a:lnTo>
                    <a:pt x="587384" y="274697"/>
                  </a:lnTo>
                  <a:lnTo>
                    <a:pt x="585796" y="276288"/>
                  </a:lnTo>
                  <a:lnTo>
                    <a:pt x="585796" y="277933"/>
                  </a:lnTo>
                  <a:lnTo>
                    <a:pt x="587846" y="290887"/>
                  </a:lnTo>
                  <a:lnTo>
                    <a:pt x="593695" y="302316"/>
                  </a:lnTo>
                  <a:lnTo>
                    <a:pt x="602892" y="311306"/>
                  </a:lnTo>
                  <a:lnTo>
                    <a:pt x="614985" y="316944"/>
                  </a:lnTo>
                  <a:lnTo>
                    <a:pt x="614985" y="578603"/>
                  </a:lnTo>
                  <a:lnTo>
                    <a:pt x="602892" y="584928"/>
                  </a:lnTo>
                  <a:lnTo>
                    <a:pt x="593695" y="593842"/>
                  </a:lnTo>
                  <a:lnTo>
                    <a:pt x="587846" y="604889"/>
                  </a:lnTo>
                  <a:lnTo>
                    <a:pt x="585796" y="617614"/>
                  </a:lnTo>
                  <a:lnTo>
                    <a:pt x="585796" y="620861"/>
                  </a:lnTo>
                  <a:lnTo>
                    <a:pt x="587384" y="622484"/>
                  </a:lnTo>
                  <a:lnTo>
                    <a:pt x="587384" y="625737"/>
                  </a:lnTo>
                  <a:lnTo>
                    <a:pt x="360223" y="755758"/>
                  </a:lnTo>
                  <a:lnTo>
                    <a:pt x="425403" y="755758"/>
                  </a:lnTo>
                  <a:lnTo>
                    <a:pt x="605237" y="651742"/>
                  </a:lnTo>
                  <a:lnTo>
                    <a:pt x="648894" y="651742"/>
                  </a:lnTo>
                  <a:lnTo>
                    <a:pt x="656777" y="646460"/>
                  </a:lnTo>
                  <a:lnTo>
                    <a:pt x="665399" y="633561"/>
                  </a:lnTo>
                  <a:lnTo>
                    <a:pt x="668544" y="617614"/>
                  </a:lnTo>
                  <a:lnTo>
                    <a:pt x="667074" y="606997"/>
                  </a:lnTo>
                  <a:lnTo>
                    <a:pt x="662862" y="597295"/>
                  </a:lnTo>
                  <a:lnTo>
                    <a:pt x="656207" y="588813"/>
                  </a:lnTo>
                  <a:lnTo>
                    <a:pt x="647405" y="581856"/>
                  </a:lnTo>
                  <a:lnTo>
                    <a:pt x="647405" y="313691"/>
                  </a:lnTo>
                  <a:lnTo>
                    <a:pt x="656207" y="307648"/>
                  </a:lnTo>
                  <a:lnTo>
                    <a:pt x="662862" y="299471"/>
                  </a:lnTo>
                  <a:lnTo>
                    <a:pt x="667074" y="289465"/>
                  </a:lnTo>
                  <a:lnTo>
                    <a:pt x="668544" y="277933"/>
                  </a:lnTo>
                  <a:lnTo>
                    <a:pt x="665399" y="261979"/>
                  </a:lnTo>
                  <a:lnTo>
                    <a:pt x="656777" y="249074"/>
                  </a:lnTo>
                  <a:lnTo>
                    <a:pt x="648931" y="243815"/>
                  </a:lnTo>
                  <a:lnTo>
                    <a:pt x="605237" y="243815"/>
                  </a:lnTo>
                  <a:lnTo>
                    <a:pt x="498151" y="186934"/>
                  </a:lnTo>
                  <a:lnTo>
                    <a:pt x="498151" y="78054"/>
                  </a:lnTo>
                  <a:lnTo>
                    <a:pt x="508113" y="71738"/>
                  </a:lnTo>
                  <a:lnTo>
                    <a:pt x="515795" y="62990"/>
                  </a:lnTo>
                  <a:lnTo>
                    <a:pt x="520739" y="52421"/>
                  </a:lnTo>
                  <a:lnTo>
                    <a:pt x="522488" y="40645"/>
                  </a:lnTo>
                  <a:lnTo>
                    <a:pt x="519345" y="24690"/>
                  </a:lnTo>
                  <a:lnTo>
                    <a:pt x="510725" y="11786"/>
                  </a:lnTo>
                  <a:lnTo>
                    <a:pt x="497846" y="3149"/>
                  </a:lnTo>
                  <a:lnTo>
                    <a:pt x="481925" y="0"/>
                  </a:lnTo>
                  <a:close/>
                </a:path>
                <a:path w="668654" h="829310">
                  <a:moveTo>
                    <a:pt x="48679" y="237288"/>
                  </a:moveTo>
                  <a:lnTo>
                    <a:pt x="40566" y="237288"/>
                  </a:lnTo>
                  <a:lnTo>
                    <a:pt x="24644" y="240438"/>
                  </a:lnTo>
                  <a:lnTo>
                    <a:pt x="11764" y="249074"/>
                  </a:lnTo>
                  <a:lnTo>
                    <a:pt x="3143" y="261979"/>
                  </a:lnTo>
                  <a:lnTo>
                    <a:pt x="0" y="277933"/>
                  </a:lnTo>
                  <a:lnTo>
                    <a:pt x="1470" y="289491"/>
                  </a:lnTo>
                  <a:lnTo>
                    <a:pt x="5679" y="299674"/>
                  </a:lnTo>
                  <a:lnTo>
                    <a:pt x="12322" y="308333"/>
                  </a:lnTo>
                  <a:lnTo>
                    <a:pt x="21095" y="315315"/>
                  </a:lnTo>
                  <a:lnTo>
                    <a:pt x="21095" y="581856"/>
                  </a:lnTo>
                  <a:lnTo>
                    <a:pt x="12322" y="588128"/>
                  </a:lnTo>
                  <a:lnTo>
                    <a:pt x="5679" y="596686"/>
                  </a:lnTo>
                  <a:lnTo>
                    <a:pt x="1470" y="606769"/>
                  </a:lnTo>
                  <a:lnTo>
                    <a:pt x="0" y="617614"/>
                  </a:lnTo>
                  <a:lnTo>
                    <a:pt x="3143" y="633561"/>
                  </a:lnTo>
                  <a:lnTo>
                    <a:pt x="11764" y="646460"/>
                  </a:lnTo>
                  <a:lnTo>
                    <a:pt x="24644" y="655094"/>
                  </a:lnTo>
                  <a:lnTo>
                    <a:pt x="40566" y="658242"/>
                  </a:lnTo>
                  <a:lnTo>
                    <a:pt x="48679" y="658242"/>
                  </a:lnTo>
                  <a:lnTo>
                    <a:pt x="55171" y="656619"/>
                  </a:lnTo>
                  <a:lnTo>
                    <a:pt x="61660" y="651742"/>
                  </a:lnTo>
                  <a:lnTo>
                    <a:pt x="126245" y="651742"/>
                  </a:lnTo>
                  <a:lnTo>
                    <a:pt x="81134" y="625737"/>
                  </a:lnTo>
                  <a:lnTo>
                    <a:pt x="81134" y="617614"/>
                  </a:lnTo>
                  <a:lnTo>
                    <a:pt x="79106" y="604889"/>
                  </a:lnTo>
                  <a:lnTo>
                    <a:pt x="73426" y="593842"/>
                  </a:lnTo>
                  <a:lnTo>
                    <a:pt x="64703" y="584928"/>
                  </a:lnTo>
                  <a:lnTo>
                    <a:pt x="53544" y="578603"/>
                  </a:lnTo>
                  <a:lnTo>
                    <a:pt x="53544" y="316944"/>
                  </a:lnTo>
                  <a:lnTo>
                    <a:pt x="64703" y="310621"/>
                  </a:lnTo>
                  <a:lnTo>
                    <a:pt x="73426" y="301707"/>
                  </a:lnTo>
                  <a:lnTo>
                    <a:pt x="79106" y="290658"/>
                  </a:lnTo>
                  <a:lnTo>
                    <a:pt x="81134" y="277933"/>
                  </a:lnTo>
                  <a:lnTo>
                    <a:pt x="81134" y="276288"/>
                  </a:lnTo>
                  <a:lnTo>
                    <a:pt x="79508" y="274697"/>
                  </a:lnTo>
                  <a:lnTo>
                    <a:pt x="79508" y="271461"/>
                  </a:lnTo>
                  <a:lnTo>
                    <a:pt x="130664" y="243815"/>
                  </a:lnTo>
                  <a:lnTo>
                    <a:pt x="61660" y="243815"/>
                  </a:lnTo>
                  <a:lnTo>
                    <a:pt x="48679" y="237288"/>
                  </a:lnTo>
                  <a:close/>
                </a:path>
                <a:path w="668654" h="829310">
                  <a:moveTo>
                    <a:pt x="648894" y="651742"/>
                  </a:moveTo>
                  <a:lnTo>
                    <a:pt x="605237" y="651742"/>
                  </a:lnTo>
                  <a:lnTo>
                    <a:pt x="611754" y="656619"/>
                  </a:lnTo>
                  <a:lnTo>
                    <a:pt x="619859" y="658242"/>
                  </a:lnTo>
                  <a:lnTo>
                    <a:pt x="627964" y="658242"/>
                  </a:lnTo>
                  <a:lnTo>
                    <a:pt x="643893" y="655094"/>
                  </a:lnTo>
                  <a:lnTo>
                    <a:pt x="648894" y="651742"/>
                  </a:lnTo>
                  <a:close/>
                </a:path>
                <a:path w="668654" h="829310">
                  <a:moveTo>
                    <a:pt x="186604" y="0"/>
                  </a:moveTo>
                  <a:lnTo>
                    <a:pt x="170682" y="3149"/>
                  </a:lnTo>
                  <a:lnTo>
                    <a:pt x="157801" y="11786"/>
                  </a:lnTo>
                  <a:lnTo>
                    <a:pt x="149179" y="24690"/>
                  </a:lnTo>
                  <a:lnTo>
                    <a:pt x="146035" y="40645"/>
                  </a:lnTo>
                  <a:lnTo>
                    <a:pt x="147785" y="52421"/>
                  </a:lnTo>
                  <a:lnTo>
                    <a:pt x="152729" y="62990"/>
                  </a:lnTo>
                  <a:lnTo>
                    <a:pt x="160412" y="71738"/>
                  </a:lnTo>
                  <a:lnTo>
                    <a:pt x="170378" y="78054"/>
                  </a:lnTo>
                  <a:lnTo>
                    <a:pt x="170378" y="185289"/>
                  </a:lnTo>
                  <a:lnTo>
                    <a:pt x="61660" y="243815"/>
                  </a:lnTo>
                  <a:lnTo>
                    <a:pt x="130664" y="243815"/>
                  </a:lnTo>
                  <a:lnTo>
                    <a:pt x="202831" y="204816"/>
                  </a:lnTo>
                  <a:lnTo>
                    <a:pt x="202831" y="78054"/>
                  </a:lnTo>
                  <a:lnTo>
                    <a:pt x="212795" y="71738"/>
                  </a:lnTo>
                  <a:lnTo>
                    <a:pt x="220476" y="62990"/>
                  </a:lnTo>
                  <a:lnTo>
                    <a:pt x="225419" y="52421"/>
                  </a:lnTo>
                  <a:lnTo>
                    <a:pt x="227168" y="40645"/>
                  </a:lnTo>
                  <a:lnTo>
                    <a:pt x="224024" y="24690"/>
                  </a:lnTo>
                  <a:lnTo>
                    <a:pt x="215405" y="11786"/>
                  </a:lnTo>
                  <a:lnTo>
                    <a:pt x="202526" y="3149"/>
                  </a:lnTo>
                  <a:lnTo>
                    <a:pt x="186604" y="0"/>
                  </a:lnTo>
                  <a:close/>
                </a:path>
                <a:path w="668654" h="829310">
                  <a:moveTo>
                    <a:pt x="627964" y="237288"/>
                  </a:moveTo>
                  <a:lnTo>
                    <a:pt x="619859" y="237288"/>
                  </a:lnTo>
                  <a:lnTo>
                    <a:pt x="611754" y="240579"/>
                  </a:lnTo>
                  <a:lnTo>
                    <a:pt x="605237" y="243815"/>
                  </a:lnTo>
                  <a:lnTo>
                    <a:pt x="648931" y="243815"/>
                  </a:lnTo>
                  <a:lnTo>
                    <a:pt x="643893" y="240438"/>
                  </a:lnTo>
                  <a:lnTo>
                    <a:pt x="627964" y="237288"/>
                  </a:lnTo>
                  <a:close/>
                </a:path>
              </a:pathLst>
            </a:custGeom>
            <a:solidFill>
              <a:srgbClr val="1D70B8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6" name="object 6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11164899" y="466804"/>
              <a:ext cx="115207" cy="115408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1195725" y="236043"/>
              <a:ext cx="79511" cy="79644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1293085" y="336806"/>
              <a:ext cx="95738" cy="95880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1150293" y="954381"/>
              <a:ext cx="193092" cy="203154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11054555" y="855264"/>
              <a:ext cx="386080" cy="388620"/>
            </a:xfrm>
            <a:custGeom>
              <a:avLst/>
              <a:gdLst/>
              <a:ahLst/>
              <a:cxnLst/>
              <a:rect l="l" t="t" r="r" b="b"/>
              <a:pathLst>
                <a:path w="386079" h="388619">
                  <a:moveTo>
                    <a:pt x="193097" y="0"/>
                  </a:moveTo>
                  <a:lnTo>
                    <a:pt x="148680" y="5173"/>
                  </a:lnTo>
                  <a:lnTo>
                    <a:pt x="107980" y="19896"/>
                  </a:lnTo>
                  <a:lnTo>
                    <a:pt x="72135" y="42977"/>
                  </a:lnTo>
                  <a:lnTo>
                    <a:pt x="42279" y="73222"/>
                  </a:lnTo>
                  <a:lnTo>
                    <a:pt x="19547" y="109438"/>
                  </a:lnTo>
                  <a:lnTo>
                    <a:pt x="5076" y="150431"/>
                  </a:lnTo>
                  <a:lnTo>
                    <a:pt x="0" y="195008"/>
                  </a:lnTo>
                  <a:lnTo>
                    <a:pt x="5076" y="238984"/>
                  </a:lnTo>
                  <a:lnTo>
                    <a:pt x="19547" y="279548"/>
                  </a:lnTo>
                  <a:lnTo>
                    <a:pt x="42279" y="315478"/>
                  </a:lnTo>
                  <a:lnTo>
                    <a:pt x="72135" y="345552"/>
                  </a:lnTo>
                  <a:lnTo>
                    <a:pt x="107980" y="368547"/>
                  </a:lnTo>
                  <a:lnTo>
                    <a:pt x="148680" y="383241"/>
                  </a:lnTo>
                  <a:lnTo>
                    <a:pt x="193097" y="388410"/>
                  </a:lnTo>
                  <a:lnTo>
                    <a:pt x="224080" y="385059"/>
                  </a:lnTo>
                  <a:lnTo>
                    <a:pt x="253541" y="377440"/>
                  </a:lnTo>
                  <a:lnTo>
                    <a:pt x="281175" y="365555"/>
                  </a:lnTo>
                  <a:lnTo>
                    <a:pt x="296414" y="355905"/>
                  </a:lnTo>
                  <a:lnTo>
                    <a:pt x="193097" y="355905"/>
                  </a:lnTo>
                  <a:lnTo>
                    <a:pt x="150090" y="350081"/>
                  </a:lnTo>
                  <a:lnTo>
                    <a:pt x="111365" y="333694"/>
                  </a:lnTo>
                  <a:lnTo>
                    <a:pt x="78498" y="308368"/>
                  </a:lnTo>
                  <a:lnTo>
                    <a:pt x="53069" y="275728"/>
                  </a:lnTo>
                  <a:lnTo>
                    <a:pt x="36654" y="237400"/>
                  </a:lnTo>
                  <a:lnTo>
                    <a:pt x="30832" y="195008"/>
                  </a:lnTo>
                  <a:lnTo>
                    <a:pt x="36654" y="151930"/>
                  </a:lnTo>
                  <a:lnTo>
                    <a:pt x="53069" y="113140"/>
                  </a:lnTo>
                  <a:lnTo>
                    <a:pt x="78498" y="80218"/>
                  </a:lnTo>
                  <a:lnTo>
                    <a:pt x="111365" y="54746"/>
                  </a:lnTo>
                  <a:lnTo>
                    <a:pt x="150090" y="38304"/>
                  </a:lnTo>
                  <a:lnTo>
                    <a:pt x="193097" y="32472"/>
                  </a:lnTo>
                  <a:lnTo>
                    <a:pt x="326658" y="32472"/>
                  </a:lnTo>
                  <a:lnTo>
                    <a:pt x="324531" y="30881"/>
                  </a:lnTo>
                  <a:lnTo>
                    <a:pt x="295325" y="30881"/>
                  </a:lnTo>
                  <a:lnTo>
                    <a:pt x="271365" y="17818"/>
                  </a:lnTo>
                  <a:lnTo>
                    <a:pt x="246035" y="8118"/>
                  </a:lnTo>
                  <a:lnTo>
                    <a:pt x="219794" y="2079"/>
                  </a:lnTo>
                  <a:lnTo>
                    <a:pt x="193097" y="0"/>
                  </a:lnTo>
                  <a:close/>
                </a:path>
                <a:path w="386079" h="388619">
                  <a:moveTo>
                    <a:pt x="376453" y="162503"/>
                  </a:moveTo>
                  <a:lnTo>
                    <a:pt x="363474" y="162503"/>
                  </a:lnTo>
                  <a:lnTo>
                    <a:pt x="353737" y="172256"/>
                  </a:lnTo>
                  <a:lnTo>
                    <a:pt x="353737" y="180379"/>
                  </a:lnTo>
                  <a:lnTo>
                    <a:pt x="354356" y="190562"/>
                  </a:lnTo>
                  <a:lnTo>
                    <a:pt x="354305" y="202930"/>
                  </a:lnTo>
                  <a:lnTo>
                    <a:pt x="340756" y="257985"/>
                  </a:lnTo>
                  <a:lnTo>
                    <a:pt x="318042" y="295771"/>
                  </a:lnTo>
                  <a:lnTo>
                    <a:pt x="270907" y="335338"/>
                  </a:lnTo>
                  <a:lnTo>
                    <a:pt x="220657" y="353518"/>
                  </a:lnTo>
                  <a:lnTo>
                    <a:pt x="193097" y="355905"/>
                  </a:lnTo>
                  <a:lnTo>
                    <a:pt x="296414" y="355905"/>
                  </a:lnTo>
                  <a:lnTo>
                    <a:pt x="334268" y="325023"/>
                  </a:lnTo>
                  <a:lnTo>
                    <a:pt x="367937" y="275658"/>
                  </a:lnTo>
                  <a:lnTo>
                    <a:pt x="384569" y="217761"/>
                  </a:lnTo>
                  <a:lnTo>
                    <a:pt x="385937" y="190562"/>
                  </a:lnTo>
                  <a:lnTo>
                    <a:pt x="384569" y="177127"/>
                  </a:lnTo>
                  <a:lnTo>
                    <a:pt x="384569" y="172256"/>
                  </a:lnTo>
                  <a:lnTo>
                    <a:pt x="382948" y="169003"/>
                  </a:lnTo>
                  <a:lnTo>
                    <a:pt x="376453" y="162503"/>
                  </a:lnTo>
                  <a:close/>
                </a:path>
                <a:path w="386079" h="388619">
                  <a:moveTo>
                    <a:pt x="326658" y="32472"/>
                  </a:moveTo>
                  <a:lnTo>
                    <a:pt x="193097" y="32472"/>
                  </a:lnTo>
                  <a:lnTo>
                    <a:pt x="214952" y="33998"/>
                  </a:lnTo>
                  <a:lnTo>
                    <a:pt x="236503" y="38573"/>
                  </a:lnTo>
                  <a:lnTo>
                    <a:pt x="257445" y="46196"/>
                  </a:lnTo>
                  <a:lnTo>
                    <a:pt x="277472" y="56864"/>
                  </a:lnTo>
                  <a:lnTo>
                    <a:pt x="277472" y="58488"/>
                  </a:lnTo>
                  <a:lnTo>
                    <a:pt x="279780" y="71108"/>
                  </a:lnTo>
                  <a:lnTo>
                    <a:pt x="286196" y="81444"/>
                  </a:lnTo>
                  <a:lnTo>
                    <a:pt x="295958" y="88428"/>
                  </a:lnTo>
                  <a:lnTo>
                    <a:pt x="308305" y="90993"/>
                  </a:lnTo>
                  <a:lnTo>
                    <a:pt x="320905" y="88428"/>
                  </a:lnTo>
                  <a:lnTo>
                    <a:pt x="331224" y="81444"/>
                  </a:lnTo>
                  <a:lnTo>
                    <a:pt x="338197" y="71108"/>
                  </a:lnTo>
                  <a:lnTo>
                    <a:pt x="340758" y="58488"/>
                  </a:lnTo>
                  <a:lnTo>
                    <a:pt x="340758" y="50359"/>
                  </a:lnTo>
                  <a:lnTo>
                    <a:pt x="337510" y="42235"/>
                  </a:lnTo>
                  <a:lnTo>
                    <a:pt x="331021" y="35735"/>
                  </a:lnTo>
                  <a:lnTo>
                    <a:pt x="326658" y="32472"/>
                  </a:lnTo>
                  <a:close/>
                </a:path>
                <a:path w="386079" h="388619">
                  <a:moveTo>
                    <a:pt x="316415" y="27590"/>
                  </a:moveTo>
                  <a:lnTo>
                    <a:pt x="298567" y="27590"/>
                  </a:lnTo>
                  <a:lnTo>
                    <a:pt x="295325" y="30881"/>
                  </a:lnTo>
                  <a:lnTo>
                    <a:pt x="324531" y="30881"/>
                  </a:lnTo>
                  <a:lnTo>
                    <a:pt x="316415" y="27590"/>
                  </a:lnTo>
                  <a:close/>
                </a:path>
              </a:pathLst>
            </a:custGeom>
            <a:solidFill>
              <a:srgbClr val="1D70B8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4" name="Номер слайда 13"/>
          <p:cNvSpPr>
            <a:spLocks noGrp="1"/>
          </p:cNvSpPr>
          <p:nvPr>
            <p:ph type="sldNum" sz="quarter" idx="12"/>
          </p:nvPr>
        </p:nvSpPr>
        <p:spPr>
          <a:xfrm>
            <a:off x="11240769" y="6397751"/>
            <a:ext cx="304800" cy="274955"/>
          </a:xfrm>
        </p:spPr>
        <p:txBody>
          <a:bodyPr/>
          <a:lstStyle/>
          <a:p>
            <a:pPr marL="38100">
              <a:lnSpc>
                <a:spcPts val="2145"/>
              </a:lnSpc>
            </a:pPr>
            <a:fld id="{81D60167-4931-47E6-BA6A-407CBD079E47}" type="slidenum">
              <a:rPr lang="ru-RU" sz="2400" b="0" smtClean="0"/>
            </a:fld>
            <a:endParaRPr lang="ru-RU" sz="2400" b="0" dirty="0"/>
          </a:p>
        </p:txBody>
      </p:sp>
      <p:sp>
        <p:nvSpPr>
          <p:cNvPr id="31746" name="AutoShape 2" descr="Антибиотикорезистентность бактерий - проблема, механизмы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/>
          <a:lstStyle/>
          <a:p>
            <a:endParaRPr lang="ru-RU"/>
          </a:p>
        </p:txBody>
      </p:sp>
      <p:sp>
        <p:nvSpPr>
          <p:cNvPr id="31748" name="AutoShape 4" descr="Антибиотикорезистентность бактерий - проблема, механизмы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/>
          <a:lstStyle/>
          <a:p>
            <a:endParaRPr lang="ru-RU"/>
          </a:p>
        </p:txBody>
      </p:sp>
      <p:sp>
        <p:nvSpPr>
          <p:cNvPr id="31750" name="AutoShape 6" descr="Антибиотикорезистентность бактерий - проблема, механизмы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/>
          <a:lstStyle/>
          <a:p>
            <a:endParaRPr lang="ru-RU"/>
          </a:p>
        </p:txBody>
      </p:sp>
      <p:sp>
        <p:nvSpPr>
          <p:cNvPr id="31752" name="AutoShape 8" descr="Антибиотикорезистентность бактерий - проблема, механизмы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/>
          <a:lstStyle/>
          <a:p>
            <a:endParaRPr lang="ru-RU"/>
          </a:p>
        </p:txBody>
      </p:sp>
      <p:sp>
        <p:nvSpPr>
          <p:cNvPr id="31754" name="AutoShape 10" descr="Антибиотикорезистентность: гонка на выживание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/>
          <a:lstStyle/>
          <a:p>
            <a:endParaRPr lang="ru-RU"/>
          </a:p>
        </p:txBody>
      </p:sp>
      <p:sp>
        <p:nvSpPr>
          <p:cNvPr id="31756" name="AutoShape 12" descr="Почему антибиотики не работают?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/>
          <a:lstStyle/>
          <a:p>
            <a:endParaRPr lang="ru-RU"/>
          </a:p>
        </p:txBody>
      </p:sp>
      <p:sp>
        <p:nvSpPr>
          <p:cNvPr id="31758" name="AutoShape 14" descr="Почему антибиотики не работают?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/>
          <a:lstStyle/>
          <a:p>
            <a:endParaRPr lang="ru-RU"/>
          </a:p>
        </p:txBody>
      </p:sp>
      <p:sp>
        <p:nvSpPr>
          <p:cNvPr id="31760" name="AutoShape 16" descr="blob:https://web.telegram.org/05e1840f-ed40-4ca3-a595-63ed11eb38a3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/>
          <a:lstStyle/>
          <a:p>
            <a:endParaRPr lang="ru-RU"/>
          </a:p>
        </p:txBody>
      </p:sp>
      <p:sp>
        <p:nvSpPr>
          <p:cNvPr id="31762" name="AutoShape 18" descr="blob:https://web.telegram.org/05e1840f-ed40-4ca3-a595-63ed11eb38a3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/>
          <a:lstStyle/>
          <a:p>
            <a:endParaRPr lang="ru-RU"/>
          </a:p>
        </p:txBody>
      </p:sp>
      <p:sp>
        <p:nvSpPr>
          <p:cNvPr id="31764" name="AutoShape 20" descr="blob:https://web.telegram.org/05e1840f-ed40-4ca3-a595-63ed11eb38a3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/>
          <a:lstStyle/>
          <a:p>
            <a:endParaRPr lang="ru-RU"/>
          </a:p>
        </p:txBody>
      </p:sp>
      <p:sp>
        <p:nvSpPr>
          <p:cNvPr id="31766" name="AutoShape 22" descr="blob:https://web.telegram.org/05e1840f-ed40-4ca3-a595-63ed11eb38a3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/>
          <a:lstStyle/>
          <a:p>
            <a:endParaRPr lang="ru-RU"/>
          </a:p>
        </p:txBody>
      </p:sp>
      <p:sp>
        <p:nvSpPr>
          <p:cNvPr id="31768" name="AutoShape 24" descr="blob:https://web.telegram.org/05e1840f-ed40-4ca3-a595-63ed11eb38a3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/>
          <a:lstStyle/>
          <a:p>
            <a:endParaRPr lang="ru-RU"/>
          </a:p>
        </p:txBody>
      </p:sp>
      <p:sp>
        <p:nvSpPr>
          <p:cNvPr id="31770" name="AutoShape 26" descr="blob:https://web.telegram.org/05e1840f-ed40-4ca3-a595-63ed11eb38a3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/>
          <a:lstStyle/>
          <a:p>
            <a:endParaRPr lang="ru-RU"/>
          </a:p>
        </p:txBody>
      </p:sp>
      <p:sp>
        <p:nvSpPr>
          <p:cNvPr id="31772" name="AutoShape 28" descr="blob:https://web.telegram.org/05e1840f-ed40-4ca3-a595-63ed11eb38a3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/>
          <a:lstStyle/>
          <a:p>
            <a:endParaRPr lang="ru-RU"/>
          </a:p>
        </p:txBody>
      </p:sp>
      <p:sp>
        <p:nvSpPr>
          <p:cNvPr id="28" name="object 3"/>
          <p:cNvSpPr/>
          <p:nvPr/>
        </p:nvSpPr>
        <p:spPr>
          <a:xfrm flipV="1">
            <a:off x="738150" y="652778"/>
            <a:ext cx="9701631" cy="45719"/>
          </a:xfrm>
          <a:custGeom>
            <a:avLst/>
            <a:gdLst/>
            <a:ahLst/>
            <a:cxnLst/>
            <a:rect l="l" t="t" r="r" b="b"/>
            <a:pathLst>
              <a:path w="9946005">
                <a:moveTo>
                  <a:pt x="0" y="0"/>
                </a:moveTo>
                <a:lnTo>
                  <a:pt x="9946005" y="0"/>
                </a:lnTo>
              </a:path>
            </a:pathLst>
          </a:custGeom>
          <a:ln w="6096">
            <a:solidFill>
              <a:srgbClr val="5B9BD4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2" name="Текстовое поле 1"/>
          <p:cNvSpPr txBox="1"/>
          <p:nvPr/>
        </p:nvSpPr>
        <p:spPr>
          <a:xfrm>
            <a:off x="551180" y="238125"/>
            <a:ext cx="789876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ru-RU" alt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Синтез праймеров фосфорамидитным методом</a:t>
            </a:r>
            <a:endParaRPr lang="ru-RU" altLang="en-US" sz="24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Изображение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625" y="764540"/>
            <a:ext cx="6830060" cy="5970270"/>
          </a:xfrm>
          <a:prstGeom prst="rect">
            <a:avLst/>
          </a:prstGeom>
        </p:spPr>
      </p:pic>
      <p:sp>
        <p:nvSpPr>
          <p:cNvPr id="11" name="Текстовое поле 10"/>
          <p:cNvSpPr txBox="1"/>
          <p:nvPr/>
        </p:nvSpPr>
        <p:spPr>
          <a:xfrm>
            <a:off x="6816090" y="6212840"/>
            <a:ext cx="472948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ru-RU" altLang="en-US" sz="1400">
                <a:latin typeface="Times New Roman" panose="02020603050405020304" pitchFamily="18" charset="0"/>
                <a:cs typeface="Times New Roman" panose="02020603050405020304" pitchFamily="18" charset="0"/>
              </a:rPr>
              <a:t>Источник: </a:t>
            </a:r>
            <a:r>
              <a:rPr lang="ru-RU" altLang="en-US" sz="1400">
                <a:latin typeface="Times New Roman" panose="02020603050405020304" pitchFamily="18" charset="0"/>
                <a:cs typeface="Times New Roman" panose="02020603050405020304" pitchFamily="18" charset="0"/>
              </a:rPr>
              <a:t>Твердофазный фосфорамидитный синтез олигонуклеотидов</a:t>
            </a:r>
            <a:endParaRPr lang="ru-RU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Текстовое поле 11"/>
          <p:cNvSpPr txBox="1"/>
          <p:nvPr/>
        </p:nvSpPr>
        <p:spPr>
          <a:xfrm>
            <a:off x="6339840" y="1089977"/>
            <a:ext cx="5080000" cy="4799965"/>
          </a:xfrm>
          <a:prstGeom prst="rect">
            <a:avLst/>
          </a:prstGeom>
        </p:spPr>
        <p:txBody>
          <a:bodyPr>
            <a:spAutoFit/>
          </a:bodyPr>
          <a:p>
            <a:pPr>
              <a:spcBef>
                <a:spcPct val="0"/>
              </a:spcBef>
            </a:pPr>
            <a:r>
              <a:rPr b="1">
                <a:latin typeface="Times New Roman" panose="02020603050405020304" pitchFamily="18" charset="0"/>
                <a:ea typeface="Google Sans Text"/>
                <a:cs typeface="Times New Roman" panose="02020603050405020304" pitchFamily="18" charset="0"/>
              </a:rPr>
              <a:t>Детритилирование:</a:t>
            </a:r>
            <a:r>
              <a:rPr>
                <a:latin typeface="Times New Roman" panose="02020603050405020304" pitchFamily="18" charset="0"/>
                <a:ea typeface="Google Sans Text"/>
                <a:cs typeface="Times New Roman" panose="02020603050405020304" pitchFamily="18" charset="0"/>
              </a:rPr>
              <a:t> Удаление защитной диметокситритильной (ДМТ) группы кислотой (</a:t>
            </a:r>
            <a:r>
              <a:rPr i="1">
                <a:latin typeface="Times New Roman" panose="02020603050405020304" pitchFamily="18" charset="0"/>
                <a:ea typeface="Google Sans Text"/>
                <a:cs typeface="Times New Roman" panose="02020603050405020304" pitchFamily="18" charset="0"/>
              </a:rPr>
              <a:t>Cl3CCOOH</a:t>
            </a:r>
            <a:r>
              <a:rPr>
                <a:latin typeface="Times New Roman" panose="02020603050405020304" pitchFamily="18" charset="0"/>
                <a:ea typeface="Google Sans Text"/>
                <a:cs typeface="Times New Roman" panose="02020603050405020304" pitchFamily="18" charset="0"/>
              </a:rPr>
              <a:t>) для освобождения реакционноспособной 5'-OH группы.</a:t>
            </a:r>
            <a:endParaRPr>
              <a:latin typeface="Times New Roman" panose="02020603050405020304" pitchFamily="18" charset="0"/>
              <a:ea typeface="Google Sans Text"/>
              <a:cs typeface="Times New Roman" panose="02020603050405020304" pitchFamily="18" charset="0"/>
            </a:endParaRPr>
          </a:p>
          <a:p>
            <a:pPr>
              <a:spcBef>
                <a:spcPct val="0"/>
              </a:spcBef>
            </a:pPr>
            <a:r>
              <a:rPr b="1">
                <a:latin typeface="Times New Roman" panose="02020603050405020304" pitchFamily="18" charset="0"/>
                <a:ea typeface="Google Sans Text"/>
                <a:cs typeface="Times New Roman" panose="02020603050405020304" pitchFamily="18" charset="0"/>
              </a:rPr>
              <a:t>Активация и связывание (конденсация):</a:t>
            </a:r>
            <a:r>
              <a:rPr>
                <a:latin typeface="Times New Roman" panose="02020603050405020304" pitchFamily="18" charset="0"/>
                <a:ea typeface="Google Sans Text"/>
                <a:cs typeface="Times New Roman" panose="02020603050405020304" pitchFamily="18" charset="0"/>
              </a:rPr>
              <a:t> Взаимодействие свободной 5'-OH группы с входящим фосфорамидитным мономером в присутствии активатора с образованием нестабильного фосфитриэфирного звена (</a:t>
            </a:r>
            <a:r>
              <a:rPr i="1">
                <a:latin typeface="Times New Roman" panose="02020603050405020304" pitchFamily="18" charset="0"/>
                <a:ea typeface="Google Sans Text"/>
                <a:cs typeface="Times New Roman" panose="02020603050405020304" pitchFamily="18" charset="0"/>
              </a:rPr>
              <a:t>P</a:t>
            </a:r>
            <a:r>
              <a:rPr i="1" baseline="30000">
                <a:latin typeface="Times New Roman" panose="02020603050405020304" pitchFamily="18" charset="0"/>
                <a:ea typeface="Google Sans Text"/>
                <a:cs typeface="Times New Roman" panose="02020603050405020304" pitchFamily="18" charset="0"/>
              </a:rPr>
              <a:t>III</a:t>
            </a:r>
            <a:r>
              <a:rPr>
                <a:latin typeface="Times New Roman" panose="02020603050405020304" pitchFamily="18" charset="0"/>
                <a:ea typeface="Google Sans Text"/>
                <a:cs typeface="Times New Roman" panose="02020603050405020304" pitchFamily="18" charset="0"/>
              </a:rPr>
              <a:t>).</a:t>
            </a:r>
            <a:endParaRPr>
              <a:latin typeface="Times New Roman" panose="02020603050405020304" pitchFamily="18" charset="0"/>
              <a:ea typeface="Google Sans Text"/>
              <a:cs typeface="Times New Roman" panose="02020603050405020304" pitchFamily="18" charset="0"/>
            </a:endParaRPr>
          </a:p>
          <a:p>
            <a:pPr>
              <a:spcBef>
                <a:spcPct val="0"/>
              </a:spcBef>
            </a:pPr>
            <a:r>
              <a:rPr b="1">
                <a:latin typeface="Times New Roman" panose="02020603050405020304" pitchFamily="18" charset="0"/>
                <a:ea typeface="Google Sans Text"/>
                <a:cs typeface="Times New Roman" panose="02020603050405020304" pitchFamily="18" charset="0"/>
              </a:rPr>
              <a:t>Кэпирование (блокирование):</a:t>
            </a:r>
            <a:r>
              <a:rPr>
                <a:latin typeface="Times New Roman" panose="02020603050405020304" pitchFamily="18" charset="0"/>
                <a:ea typeface="Google Sans Text"/>
                <a:cs typeface="Times New Roman" panose="02020603050405020304" pitchFamily="18" charset="0"/>
              </a:rPr>
              <a:t> Ацетилирование нерезонировавших 5'-OH групп для предотвращения образования дефектных последовательностей (с делециями) в последующих циклах.</a:t>
            </a:r>
            <a:endParaRPr>
              <a:latin typeface="Times New Roman" panose="02020603050405020304" pitchFamily="18" charset="0"/>
              <a:ea typeface="Google Sans Text"/>
              <a:cs typeface="Times New Roman" panose="02020603050405020304" pitchFamily="18" charset="0"/>
            </a:endParaRPr>
          </a:p>
          <a:p>
            <a:pPr>
              <a:spcBef>
                <a:spcPct val="0"/>
              </a:spcBef>
            </a:pPr>
            <a:r>
              <a:rPr b="1">
                <a:latin typeface="Times New Roman" panose="02020603050405020304" pitchFamily="18" charset="0"/>
                <a:ea typeface="Google Sans Text"/>
                <a:cs typeface="Times New Roman" panose="02020603050405020304" pitchFamily="18" charset="0"/>
              </a:rPr>
              <a:t>Окисление:</a:t>
            </a:r>
            <a:r>
              <a:rPr>
                <a:latin typeface="Times New Roman" panose="02020603050405020304" pitchFamily="18" charset="0"/>
                <a:ea typeface="Google Sans Text"/>
                <a:cs typeface="Times New Roman" panose="02020603050405020304" pitchFamily="18" charset="0"/>
              </a:rPr>
              <a:t> Перевод фосфитриэфирной связи (</a:t>
            </a:r>
            <a:r>
              <a:rPr i="1">
                <a:latin typeface="Times New Roman" panose="02020603050405020304" pitchFamily="18" charset="0"/>
                <a:ea typeface="Google Sans Text"/>
                <a:cs typeface="Times New Roman" panose="02020603050405020304" pitchFamily="18" charset="0"/>
              </a:rPr>
              <a:t>P</a:t>
            </a:r>
            <a:r>
              <a:rPr i="1" baseline="30000">
                <a:latin typeface="Times New Roman" panose="02020603050405020304" pitchFamily="18" charset="0"/>
                <a:ea typeface="Google Sans Text"/>
                <a:cs typeface="Times New Roman" panose="02020603050405020304" pitchFamily="18" charset="0"/>
              </a:rPr>
              <a:t>III</a:t>
            </a:r>
            <a:r>
              <a:rPr>
                <a:latin typeface="Times New Roman" panose="02020603050405020304" pitchFamily="18" charset="0"/>
                <a:ea typeface="Google Sans Text"/>
                <a:cs typeface="Times New Roman" panose="02020603050405020304" pitchFamily="18" charset="0"/>
              </a:rPr>
              <a:t>) в стабильную фосфатриэфирную структуру (</a:t>
            </a:r>
            <a:r>
              <a:rPr i="1">
                <a:latin typeface="Times New Roman" panose="02020603050405020304" pitchFamily="18" charset="0"/>
                <a:ea typeface="Google Sans Text"/>
                <a:cs typeface="Times New Roman" panose="02020603050405020304" pitchFamily="18" charset="0"/>
              </a:rPr>
              <a:t>P</a:t>
            </a:r>
            <a:r>
              <a:rPr i="1" baseline="30000">
                <a:latin typeface="Times New Roman" panose="02020603050405020304" pitchFamily="18" charset="0"/>
                <a:ea typeface="Google Sans Text"/>
                <a:cs typeface="Times New Roman" panose="02020603050405020304" pitchFamily="18" charset="0"/>
              </a:rPr>
              <a:t>V</a:t>
            </a:r>
            <a:r>
              <a:rPr>
                <a:latin typeface="Times New Roman" panose="02020603050405020304" pitchFamily="18" charset="0"/>
                <a:ea typeface="Google Sans Text"/>
                <a:cs typeface="Times New Roman" panose="02020603050405020304" pitchFamily="18" charset="0"/>
              </a:rPr>
              <a:t>) под действием йода (</a:t>
            </a:r>
            <a:r>
              <a:rPr i="1">
                <a:latin typeface="Times New Roman" panose="02020603050405020304" pitchFamily="18" charset="0"/>
                <a:ea typeface="Google Sans Text"/>
                <a:cs typeface="Times New Roman" panose="02020603050405020304" pitchFamily="18" charset="0"/>
              </a:rPr>
              <a:t>I</a:t>
            </a:r>
            <a:r>
              <a:rPr i="1" baseline="-25000">
                <a:latin typeface="Times New Roman" panose="02020603050405020304" pitchFamily="18" charset="0"/>
                <a:ea typeface="Google Sans Text"/>
                <a:cs typeface="Times New Roman" panose="02020603050405020304" pitchFamily="18" charset="0"/>
              </a:rPr>
              <a:t>2</a:t>
            </a:r>
            <a:r>
              <a:rPr>
                <a:latin typeface="Times New Roman" panose="02020603050405020304" pitchFamily="18" charset="0"/>
                <a:ea typeface="Google Sans Text"/>
                <a:cs typeface="Times New Roman" panose="02020603050405020304" pitchFamily="18" charset="0"/>
              </a:rPr>
              <a:t>) в присутствии воды.</a:t>
            </a:r>
            <a:endParaRPr>
              <a:latin typeface="Times New Roman" panose="02020603050405020304" pitchFamily="18" charset="0"/>
              <a:ea typeface="Google Sans Text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 flipV="1">
            <a:off x="738150" y="1043938"/>
            <a:ext cx="9701631" cy="45719"/>
          </a:xfrm>
          <a:custGeom>
            <a:avLst/>
            <a:gdLst/>
            <a:ahLst/>
            <a:cxnLst/>
            <a:rect l="l" t="t" r="r" b="b"/>
            <a:pathLst>
              <a:path w="9946005">
                <a:moveTo>
                  <a:pt x="0" y="0"/>
                </a:moveTo>
                <a:lnTo>
                  <a:pt x="9946005" y="0"/>
                </a:lnTo>
              </a:path>
            </a:pathLst>
          </a:custGeom>
          <a:ln w="6096">
            <a:solidFill>
              <a:srgbClr val="5B9BD4"/>
            </a:solidFill>
          </a:ln>
        </p:spPr>
        <p:txBody>
          <a:bodyPr wrap="square" lIns="0" tIns="0" rIns="0" bIns="0" rtlCol="0"/>
          <a:lstStyle/>
          <a:p/>
        </p:txBody>
      </p:sp>
      <p:grpSp>
        <p:nvGrpSpPr>
          <p:cNvPr id="4" name="object 4"/>
          <p:cNvGrpSpPr/>
          <p:nvPr/>
        </p:nvGrpSpPr>
        <p:grpSpPr>
          <a:xfrm>
            <a:off x="10913388" y="236043"/>
            <a:ext cx="668655" cy="1195070"/>
            <a:chOff x="10913388" y="236043"/>
            <a:chExt cx="668655" cy="1195070"/>
          </a:xfrm>
        </p:grpSpPr>
        <p:sp>
          <p:nvSpPr>
            <p:cNvPr id="5" name="object 5"/>
            <p:cNvSpPr/>
            <p:nvPr/>
          </p:nvSpPr>
          <p:spPr>
            <a:xfrm>
              <a:off x="10913388" y="601685"/>
              <a:ext cx="668655" cy="829310"/>
            </a:xfrm>
            <a:custGeom>
              <a:avLst/>
              <a:gdLst/>
              <a:ahLst/>
              <a:cxnLst/>
              <a:rect l="l" t="t" r="r" b="b"/>
              <a:pathLst>
                <a:path w="668654" h="829310">
                  <a:moveTo>
                    <a:pt x="126245" y="651742"/>
                  </a:moveTo>
                  <a:lnTo>
                    <a:pt x="61660" y="651742"/>
                  </a:lnTo>
                  <a:lnTo>
                    <a:pt x="293695" y="785010"/>
                  </a:lnTo>
                  <a:lnTo>
                    <a:pt x="293695" y="788261"/>
                  </a:lnTo>
                  <a:lnTo>
                    <a:pt x="296840" y="803522"/>
                  </a:lnTo>
                  <a:lnTo>
                    <a:pt x="305461" y="816499"/>
                  </a:lnTo>
                  <a:lnTo>
                    <a:pt x="318342" y="825514"/>
                  </a:lnTo>
                  <a:lnTo>
                    <a:pt x="334264" y="828892"/>
                  </a:lnTo>
                  <a:lnTo>
                    <a:pt x="350186" y="825514"/>
                  </a:lnTo>
                  <a:lnTo>
                    <a:pt x="363065" y="816499"/>
                  </a:lnTo>
                  <a:lnTo>
                    <a:pt x="371685" y="803522"/>
                  </a:lnTo>
                  <a:lnTo>
                    <a:pt x="374828" y="788261"/>
                  </a:lnTo>
                  <a:lnTo>
                    <a:pt x="374828" y="785010"/>
                  </a:lnTo>
                  <a:lnTo>
                    <a:pt x="425403" y="755758"/>
                  </a:lnTo>
                  <a:lnTo>
                    <a:pt x="306680" y="755758"/>
                  </a:lnTo>
                  <a:lnTo>
                    <a:pt x="126245" y="651742"/>
                  </a:lnTo>
                  <a:close/>
                </a:path>
                <a:path w="668654" h="829310">
                  <a:moveTo>
                    <a:pt x="334061" y="747226"/>
                  </a:moveTo>
                  <a:lnTo>
                    <a:pt x="319838" y="749359"/>
                  </a:lnTo>
                  <a:lnTo>
                    <a:pt x="306680" y="755758"/>
                  </a:lnTo>
                  <a:lnTo>
                    <a:pt x="360223" y="755758"/>
                  </a:lnTo>
                  <a:lnTo>
                    <a:pt x="347979" y="749359"/>
                  </a:lnTo>
                  <a:lnTo>
                    <a:pt x="334061" y="747226"/>
                  </a:lnTo>
                  <a:close/>
                </a:path>
                <a:path w="668654" h="829310">
                  <a:moveTo>
                    <a:pt x="481925" y="0"/>
                  </a:moveTo>
                  <a:lnTo>
                    <a:pt x="466002" y="3149"/>
                  </a:lnTo>
                  <a:lnTo>
                    <a:pt x="453122" y="11786"/>
                  </a:lnTo>
                  <a:lnTo>
                    <a:pt x="444500" y="24690"/>
                  </a:lnTo>
                  <a:lnTo>
                    <a:pt x="441355" y="40645"/>
                  </a:lnTo>
                  <a:lnTo>
                    <a:pt x="443105" y="52421"/>
                  </a:lnTo>
                  <a:lnTo>
                    <a:pt x="448050" y="62990"/>
                  </a:lnTo>
                  <a:lnTo>
                    <a:pt x="455733" y="71738"/>
                  </a:lnTo>
                  <a:lnTo>
                    <a:pt x="465698" y="78054"/>
                  </a:lnTo>
                  <a:lnTo>
                    <a:pt x="465698" y="206407"/>
                  </a:lnTo>
                  <a:lnTo>
                    <a:pt x="587384" y="271461"/>
                  </a:lnTo>
                  <a:lnTo>
                    <a:pt x="587384" y="274697"/>
                  </a:lnTo>
                  <a:lnTo>
                    <a:pt x="585796" y="276288"/>
                  </a:lnTo>
                  <a:lnTo>
                    <a:pt x="585796" y="277933"/>
                  </a:lnTo>
                  <a:lnTo>
                    <a:pt x="587846" y="290887"/>
                  </a:lnTo>
                  <a:lnTo>
                    <a:pt x="593695" y="302316"/>
                  </a:lnTo>
                  <a:lnTo>
                    <a:pt x="602892" y="311306"/>
                  </a:lnTo>
                  <a:lnTo>
                    <a:pt x="614985" y="316944"/>
                  </a:lnTo>
                  <a:lnTo>
                    <a:pt x="614985" y="578603"/>
                  </a:lnTo>
                  <a:lnTo>
                    <a:pt x="602892" y="584928"/>
                  </a:lnTo>
                  <a:lnTo>
                    <a:pt x="593695" y="593842"/>
                  </a:lnTo>
                  <a:lnTo>
                    <a:pt x="587846" y="604889"/>
                  </a:lnTo>
                  <a:lnTo>
                    <a:pt x="585796" y="617614"/>
                  </a:lnTo>
                  <a:lnTo>
                    <a:pt x="585796" y="620861"/>
                  </a:lnTo>
                  <a:lnTo>
                    <a:pt x="587384" y="622484"/>
                  </a:lnTo>
                  <a:lnTo>
                    <a:pt x="587384" y="625737"/>
                  </a:lnTo>
                  <a:lnTo>
                    <a:pt x="360223" y="755758"/>
                  </a:lnTo>
                  <a:lnTo>
                    <a:pt x="425403" y="755758"/>
                  </a:lnTo>
                  <a:lnTo>
                    <a:pt x="605237" y="651742"/>
                  </a:lnTo>
                  <a:lnTo>
                    <a:pt x="648894" y="651742"/>
                  </a:lnTo>
                  <a:lnTo>
                    <a:pt x="656777" y="646460"/>
                  </a:lnTo>
                  <a:lnTo>
                    <a:pt x="665399" y="633561"/>
                  </a:lnTo>
                  <a:lnTo>
                    <a:pt x="668544" y="617614"/>
                  </a:lnTo>
                  <a:lnTo>
                    <a:pt x="667074" y="606997"/>
                  </a:lnTo>
                  <a:lnTo>
                    <a:pt x="662862" y="597295"/>
                  </a:lnTo>
                  <a:lnTo>
                    <a:pt x="656207" y="588813"/>
                  </a:lnTo>
                  <a:lnTo>
                    <a:pt x="647405" y="581856"/>
                  </a:lnTo>
                  <a:lnTo>
                    <a:pt x="647405" y="313691"/>
                  </a:lnTo>
                  <a:lnTo>
                    <a:pt x="656207" y="307648"/>
                  </a:lnTo>
                  <a:lnTo>
                    <a:pt x="662862" y="299471"/>
                  </a:lnTo>
                  <a:lnTo>
                    <a:pt x="667074" y="289465"/>
                  </a:lnTo>
                  <a:lnTo>
                    <a:pt x="668544" y="277933"/>
                  </a:lnTo>
                  <a:lnTo>
                    <a:pt x="665399" y="261979"/>
                  </a:lnTo>
                  <a:lnTo>
                    <a:pt x="656777" y="249074"/>
                  </a:lnTo>
                  <a:lnTo>
                    <a:pt x="648931" y="243815"/>
                  </a:lnTo>
                  <a:lnTo>
                    <a:pt x="605237" y="243815"/>
                  </a:lnTo>
                  <a:lnTo>
                    <a:pt x="498151" y="186934"/>
                  </a:lnTo>
                  <a:lnTo>
                    <a:pt x="498151" y="78054"/>
                  </a:lnTo>
                  <a:lnTo>
                    <a:pt x="508113" y="71738"/>
                  </a:lnTo>
                  <a:lnTo>
                    <a:pt x="515795" y="62990"/>
                  </a:lnTo>
                  <a:lnTo>
                    <a:pt x="520739" y="52421"/>
                  </a:lnTo>
                  <a:lnTo>
                    <a:pt x="522488" y="40645"/>
                  </a:lnTo>
                  <a:lnTo>
                    <a:pt x="519345" y="24690"/>
                  </a:lnTo>
                  <a:lnTo>
                    <a:pt x="510725" y="11786"/>
                  </a:lnTo>
                  <a:lnTo>
                    <a:pt x="497846" y="3149"/>
                  </a:lnTo>
                  <a:lnTo>
                    <a:pt x="481925" y="0"/>
                  </a:lnTo>
                  <a:close/>
                </a:path>
                <a:path w="668654" h="829310">
                  <a:moveTo>
                    <a:pt x="48679" y="237288"/>
                  </a:moveTo>
                  <a:lnTo>
                    <a:pt x="40566" y="237288"/>
                  </a:lnTo>
                  <a:lnTo>
                    <a:pt x="24644" y="240438"/>
                  </a:lnTo>
                  <a:lnTo>
                    <a:pt x="11764" y="249074"/>
                  </a:lnTo>
                  <a:lnTo>
                    <a:pt x="3143" y="261979"/>
                  </a:lnTo>
                  <a:lnTo>
                    <a:pt x="0" y="277933"/>
                  </a:lnTo>
                  <a:lnTo>
                    <a:pt x="1470" y="289491"/>
                  </a:lnTo>
                  <a:lnTo>
                    <a:pt x="5679" y="299674"/>
                  </a:lnTo>
                  <a:lnTo>
                    <a:pt x="12322" y="308333"/>
                  </a:lnTo>
                  <a:lnTo>
                    <a:pt x="21095" y="315315"/>
                  </a:lnTo>
                  <a:lnTo>
                    <a:pt x="21095" y="581856"/>
                  </a:lnTo>
                  <a:lnTo>
                    <a:pt x="12322" y="588128"/>
                  </a:lnTo>
                  <a:lnTo>
                    <a:pt x="5679" y="596686"/>
                  </a:lnTo>
                  <a:lnTo>
                    <a:pt x="1470" y="606769"/>
                  </a:lnTo>
                  <a:lnTo>
                    <a:pt x="0" y="617614"/>
                  </a:lnTo>
                  <a:lnTo>
                    <a:pt x="3143" y="633561"/>
                  </a:lnTo>
                  <a:lnTo>
                    <a:pt x="11764" y="646460"/>
                  </a:lnTo>
                  <a:lnTo>
                    <a:pt x="24644" y="655094"/>
                  </a:lnTo>
                  <a:lnTo>
                    <a:pt x="40566" y="658242"/>
                  </a:lnTo>
                  <a:lnTo>
                    <a:pt x="48679" y="658242"/>
                  </a:lnTo>
                  <a:lnTo>
                    <a:pt x="55171" y="656619"/>
                  </a:lnTo>
                  <a:lnTo>
                    <a:pt x="61660" y="651742"/>
                  </a:lnTo>
                  <a:lnTo>
                    <a:pt x="126245" y="651742"/>
                  </a:lnTo>
                  <a:lnTo>
                    <a:pt x="81134" y="625737"/>
                  </a:lnTo>
                  <a:lnTo>
                    <a:pt x="81134" y="617614"/>
                  </a:lnTo>
                  <a:lnTo>
                    <a:pt x="79106" y="604889"/>
                  </a:lnTo>
                  <a:lnTo>
                    <a:pt x="73426" y="593842"/>
                  </a:lnTo>
                  <a:lnTo>
                    <a:pt x="64703" y="584928"/>
                  </a:lnTo>
                  <a:lnTo>
                    <a:pt x="53544" y="578603"/>
                  </a:lnTo>
                  <a:lnTo>
                    <a:pt x="53544" y="316944"/>
                  </a:lnTo>
                  <a:lnTo>
                    <a:pt x="64703" y="310621"/>
                  </a:lnTo>
                  <a:lnTo>
                    <a:pt x="73426" y="301707"/>
                  </a:lnTo>
                  <a:lnTo>
                    <a:pt x="79106" y="290658"/>
                  </a:lnTo>
                  <a:lnTo>
                    <a:pt x="81134" y="277933"/>
                  </a:lnTo>
                  <a:lnTo>
                    <a:pt x="81134" y="276288"/>
                  </a:lnTo>
                  <a:lnTo>
                    <a:pt x="79508" y="274697"/>
                  </a:lnTo>
                  <a:lnTo>
                    <a:pt x="79508" y="271461"/>
                  </a:lnTo>
                  <a:lnTo>
                    <a:pt x="130664" y="243815"/>
                  </a:lnTo>
                  <a:lnTo>
                    <a:pt x="61660" y="243815"/>
                  </a:lnTo>
                  <a:lnTo>
                    <a:pt x="48679" y="237288"/>
                  </a:lnTo>
                  <a:close/>
                </a:path>
                <a:path w="668654" h="829310">
                  <a:moveTo>
                    <a:pt x="648894" y="651742"/>
                  </a:moveTo>
                  <a:lnTo>
                    <a:pt x="605237" y="651742"/>
                  </a:lnTo>
                  <a:lnTo>
                    <a:pt x="611754" y="656619"/>
                  </a:lnTo>
                  <a:lnTo>
                    <a:pt x="619859" y="658242"/>
                  </a:lnTo>
                  <a:lnTo>
                    <a:pt x="627964" y="658242"/>
                  </a:lnTo>
                  <a:lnTo>
                    <a:pt x="643893" y="655094"/>
                  </a:lnTo>
                  <a:lnTo>
                    <a:pt x="648894" y="651742"/>
                  </a:lnTo>
                  <a:close/>
                </a:path>
                <a:path w="668654" h="829310">
                  <a:moveTo>
                    <a:pt x="186604" y="0"/>
                  </a:moveTo>
                  <a:lnTo>
                    <a:pt x="170682" y="3149"/>
                  </a:lnTo>
                  <a:lnTo>
                    <a:pt x="157801" y="11786"/>
                  </a:lnTo>
                  <a:lnTo>
                    <a:pt x="149179" y="24690"/>
                  </a:lnTo>
                  <a:lnTo>
                    <a:pt x="146035" y="40645"/>
                  </a:lnTo>
                  <a:lnTo>
                    <a:pt x="147785" y="52421"/>
                  </a:lnTo>
                  <a:lnTo>
                    <a:pt x="152729" y="62990"/>
                  </a:lnTo>
                  <a:lnTo>
                    <a:pt x="160412" y="71738"/>
                  </a:lnTo>
                  <a:lnTo>
                    <a:pt x="170378" y="78054"/>
                  </a:lnTo>
                  <a:lnTo>
                    <a:pt x="170378" y="185289"/>
                  </a:lnTo>
                  <a:lnTo>
                    <a:pt x="61660" y="243815"/>
                  </a:lnTo>
                  <a:lnTo>
                    <a:pt x="130664" y="243815"/>
                  </a:lnTo>
                  <a:lnTo>
                    <a:pt x="202831" y="204816"/>
                  </a:lnTo>
                  <a:lnTo>
                    <a:pt x="202831" y="78054"/>
                  </a:lnTo>
                  <a:lnTo>
                    <a:pt x="212795" y="71738"/>
                  </a:lnTo>
                  <a:lnTo>
                    <a:pt x="220476" y="62990"/>
                  </a:lnTo>
                  <a:lnTo>
                    <a:pt x="225419" y="52421"/>
                  </a:lnTo>
                  <a:lnTo>
                    <a:pt x="227168" y="40645"/>
                  </a:lnTo>
                  <a:lnTo>
                    <a:pt x="224024" y="24690"/>
                  </a:lnTo>
                  <a:lnTo>
                    <a:pt x="215405" y="11786"/>
                  </a:lnTo>
                  <a:lnTo>
                    <a:pt x="202526" y="3149"/>
                  </a:lnTo>
                  <a:lnTo>
                    <a:pt x="186604" y="0"/>
                  </a:lnTo>
                  <a:close/>
                </a:path>
                <a:path w="668654" h="829310">
                  <a:moveTo>
                    <a:pt x="627964" y="237288"/>
                  </a:moveTo>
                  <a:lnTo>
                    <a:pt x="619859" y="237288"/>
                  </a:lnTo>
                  <a:lnTo>
                    <a:pt x="611754" y="240579"/>
                  </a:lnTo>
                  <a:lnTo>
                    <a:pt x="605237" y="243815"/>
                  </a:lnTo>
                  <a:lnTo>
                    <a:pt x="648931" y="243815"/>
                  </a:lnTo>
                  <a:lnTo>
                    <a:pt x="643893" y="240438"/>
                  </a:lnTo>
                  <a:lnTo>
                    <a:pt x="627964" y="237288"/>
                  </a:lnTo>
                  <a:close/>
                </a:path>
              </a:pathLst>
            </a:custGeom>
            <a:solidFill>
              <a:srgbClr val="1D70B8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6" name="object 6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11164899" y="466804"/>
              <a:ext cx="115207" cy="115408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1195725" y="236043"/>
              <a:ext cx="79511" cy="79644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1293085" y="336806"/>
              <a:ext cx="95738" cy="95880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1150293" y="954381"/>
              <a:ext cx="193092" cy="203154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11054555" y="855264"/>
              <a:ext cx="386080" cy="388620"/>
            </a:xfrm>
            <a:custGeom>
              <a:avLst/>
              <a:gdLst/>
              <a:ahLst/>
              <a:cxnLst/>
              <a:rect l="l" t="t" r="r" b="b"/>
              <a:pathLst>
                <a:path w="386079" h="388619">
                  <a:moveTo>
                    <a:pt x="193097" y="0"/>
                  </a:moveTo>
                  <a:lnTo>
                    <a:pt x="148680" y="5173"/>
                  </a:lnTo>
                  <a:lnTo>
                    <a:pt x="107980" y="19896"/>
                  </a:lnTo>
                  <a:lnTo>
                    <a:pt x="72135" y="42977"/>
                  </a:lnTo>
                  <a:lnTo>
                    <a:pt x="42279" y="73222"/>
                  </a:lnTo>
                  <a:lnTo>
                    <a:pt x="19547" y="109438"/>
                  </a:lnTo>
                  <a:lnTo>
                    <a:pt x="5076" y="150431"/>
                  </a:lnTo>
                  <a:lnTo>
                    <a:pt x="0" y="195008"/>
                  </a:lnTo>
                  <a:lnTo>
                    <a:pt x="5076" y="238984"/>
                  </a:lnTo>
                  <a:lnTo>
                    <a:pt x="19547" y="279548"/>
                  </a:lnTo>
                  <a:lnTo>
                    <a:pt x="42279" y="315478"/>
                  </a:lnTo>
                  <a:lnTo>
                    <a:pt x="72135" y="345552"/>
                  </a:lnTo>
                  <a:lnTo>
                    <a:pt x="107980" y="368547"/>
                  </a:lnTo>
                  <a:lnTo>
                    <a:pt x="148680" y="383241"/>
                  </a:lnTo>
                  <a:lnTo>
                    <a:pt x="193097" y="388410"/>
                  </a:lnTo>
                  <a:lnTo>
                    <a:pt x="224080" y="385059"/>
                  </a:lnTo>
                  <a:lnTo>
                    <a:pt x="253541" y="377440"/>
                  </a:lnTo>
                  <a:lnTo>
                    <a:pt x="281175" y="365555"/>
                  </a:lnTo>
                  <a:lnTo>
                    <a:pt x="296414" y="355905"/>
                  </a:lnTo>
                  <a:lnTo>
                    <a:pt x="193097" y="355905"/>
                  </a:lnTo>
                  <a:lnTo>
                    <a:pt x="150090" y="350081"/>
                  </a:lnTo>
                  <a:lnTo>
                    <a:pt x="111365" y="333694"/>
                  </a:lnTo>
                  <a:lnTo>
                    <a:pt x="78498" y="308368"/>
                  </a:lnTo>
                  <a:lnTo>
                    <a:pt x="53069" y="275728"/>
                  </a:lnTo>
                  <a:lnTo>
                    <a:pt x="36654" y="237400"/>
                  </a:lnTo>
                  <a:lnTo>
                    <a:pt x="30832" y="195008"/>
                  </a:lnTo>
                  <a:lnTo>
                    <a:pt x="36654" y="151930"/>
                  </a:lnTo>
                  <a:lnTo>
                    <a:pt x="53069" y="113140"/>
                  </a:lnTo>
                  <a:lnTo>
                    <a:pt x="78498" y="80218"/>
                  </a:lnTo>
                  <a:lnTo>
                    <a:pt x="111365" y="54746"/>
                  </a:lnTo>
                  <a:lnTo>
                    <a:pt x="150090" y="38304"/>
                  </a:lnTo>
                  <a:lnTo>
                    <a:pt x="193097" y="32472"/>
                  </a:lnTo>
                  <a:lnTo>
                    <a:pt x="326658" y="32472"/>
                  </a:lnTo>
                  <a:lnTo>
                    <a:pt x="324531" y="30881"/>
                  </a:lnTo>
                  <a:lnTo>
                    <a:pt x="295325" y="30881"/>
                  </a:lnTo>
                  <a:lnTo>
                    <a:pt x="271365" y="17818"/>
                  </a:lnTo>
                  <a:lnTo>
                    <a:pt x="246035" y="8118"/>
                  </a:lnTo>
                  <a:lnTo>
                    <a:pt x="219794" y="2079"/>
                  </a:lnTo>
                  <a:lnTo>
                    <a:pt x="193097" y="0"/>
                  </a:lnTo>
                  <a:close/>
                </a:path>
                <a:path w="386079" h="388619">
                  <a:moveTo>
                    <a:pt x="376453" y="162503"/>
                  </a:moveTo>
                  <a:lnTo>
                    <a:pt x="363474" y="162503"/>
                  </a:lnTo>
                  <a:lnTo>
                    <a:pt x="353737" y="172256"/>
                  </a:lnTo>
                  <a:lnTo>
                    <a:pt x="353737" y="180379"/>
                  </a:lnTo>
                  <a:lnTo>
                    <a:pt x="354356" y="190562"/>
                  </a:lnTo>
                  <a:lnTo>
                    <a:pt x="354305" y="202930"/>
                  </a:lnTo>
                  <a:lnTo>
                    <a:pt x="340756" y="257985"/>
                  </a:lnTo>
                  <a:lnTo>
                    <a:pt x="318042" y="295771"/>
                  </a:lnTo>
                  <a:lnTo>
                    <a:pt x="270907" y="335338"/>
                  </a:lnTo>
                  <a:lnTo>
                    <a:pt x="220657" y="353518"/>
                  </a:lnTo>
                  <a:lnTo>
                    <a:pt x="193097" y="355905"/>
                  </a:lnTo>
                  <a:lnTo>
                    <a:pt x="296414" y="355905"/>
                  </a:lnTo>
                  <a:lnTo>
                    <a:pt x="334268" y="325023"/>
                  </a:lnTo>
                  <a:lnTo>
                    <a:pt x="367937" y="275658"/>
                  </a:lnTo>
                  <a:lnTo>
                    <a:pt x="384569" y="217761"/>
                  </a:lnTo>
                  <a:lnTo>
                    <a:pt x="385937" y="190562"/>
                  </a:lnTo>
                  <a:lnTo>
                    <a:pt x="384569" y="177127"/>
                  </a:lnTo>
                  <a:lnTo>
                    <a:pt x="384569" y="172256"/>
                  </a:lnTo>
                  <a:lnTo>
                    <a:pt x="382948" y="169003"/>
                  </a:lnTo>
                  <a:lnTo>
                    <a:pt x="376453" y="162503"/>
                  </a:lnTo>
                  <a:close/>
                </a:path>
                <a:path w="386079" h="388619">
                  <a:moveTo>
                    <a:pt x="326658" y="32472"/>
                  </a:moveTo>
                  <a:lnTo>
                    <a:pt x="193097" y="32472"/>
                  </a:lnTo>
                  <a:lnTo>
                    <a:pt x="214952" y="33998"/>
                  </a:lnTo>
                  <a:lnTo>
                    <a:pt x="236503" y="38573"/>
                  </a:lnTo>
                  <a:lnTo>
                    <a:pt x="257445" y="46196"/>
                  </a:lnTo>
                  <a:lnTo>
                    <a:pt x="277472" y="56864"/>
                  </a:lnTo>
                  <a:lnTo>
                    <a:pt x="277472" y="58488"/>
                  </a:lnTo>
                  <a:lnTo>
                    <a:pt x="279780" y="71108"/>
                  </a:lnTo>
                  <a:lnTo>
                    <a:pt x="286196" y="81444"/>
                  </a:lnTo>
                  <a:lnTo>
                    <a:pt x="295958" y="88428"/>
                  </a:lnTo>
                  <a:lnTo>
                    <a:pt x="308305" y="90993"/>
                  </a:lnTo>
                  <a:lnTo>
                    <a:pt x="320905" y="88428"/>
                  </a:lnTo>
                  <a:lnTo>
                    <a:pt x="331224" y="81444"/>
                  </a:lnTo>
                  <a:lnTo>
                    <a:pt x="338197" y="71108"/>
                  </a:lnTo>
                  <a:lnTo>
                    <a:pt x="340758" y="58488"/>
                  </a:lnTo>
                  <a:lnTo>
                    <a:pt x="340758" y="50359"/>
                  </a:lnTo>
                  <a:lnTo>
                    <a:pt x="337510" y="42235"/>
                  </a:lnTo>
                  <a:lnTo>
                    <a:pt x="331021" y="35735"/>
                  </a:lnTo>
                  <a:lnTo>
                    <a:pt x="326658" y="32472"/>
                  </a:lnTo>
                  <a:close/>
                </a:path>
                <a:path w="386079" h="388619">
                  <a:moveTo>
                    <a:pt x="316415" y="27590"/>
                  </a:moveTo>
                  <a:lnTo>
                    <a:pt x="298567" y="27590"/>
                  </a:lnTo>
                  <a:lnTo>
                    <a:pt x="295325" y="30881"/>
                  </a:lnTo>
                  <a:lnTo>
                    <a:pt x="324531" y="30881"/>
                  </a:lnTo>
                  <a:lnTo>
                    <a:pt x="316415" y="27590"/>
                  </a:lnTo>
                  <a:close/>
                </a:path>
              </a:pathLst>
            </a:custGeom>
            <a:solidFill>
              <a:srgbClr val="1D70B8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2" name="Номер слайда 11"/>
          <p:cNvSpPr>
            <a:spLocks noGrp="1"/>
          </p:cNvSpPr>
          <p:nvPr>
            <p:ph type="sldNum" sz="quarter" idx="12"/>
          </p:nvPr>
        </p:nvSpPr>
        <p:spPr>
          <a:xfrm>
            <a:off x="11240769" y="6397751"/>
            <a:ext cx="450944" cy="274955"/>
          </a:xfrm>
        </p:spPr>
        <p:txBody>
          <a:bodyPr/>
          <a:lstStyle/>
          <a:p>
            <a:pPr marL="38100">
              <a:lnSpc>
                <a:spcPts val="2145"/>
              </a:lnSpc>
            </a:pPr>
            <a:fld id="{81D60167-4931-47E6-BA6A-407CBD079E47}" type="slidenum">
              <a:rPr lang="ru-RU" sz="2400" b="0" smtClean="0"/>
            </a:fld>
            <a:endParaRPr lang="ru-RU" sz="2400" b="0" dirty="0"/>
          </a:p>
        </p:txBody>
      </p:sp>
      <p:sp>
        <p:nvSpPr>
          <p:cNvPr id="19" name="Rectangle 4"/>
          <p:cNvSpPr>
            <a:spLocks noChangeArrowheads="1"/>
          </p:cNvSpPr>
          <p:nvPr/>
        </p:nvSpPr>
        <p:spPr bwMode="auto">
          <a:xfrm>
            <a:off x="717027" y="1484784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spAutoFit/>
          </a:bodyPr>
          <a:lstStyle/>
          <a:p>
            <a:endParaRPr lang="ru-RU"/>
          </a:p>
        </p:txBody>
      </p:sp>
      <p:pic>
        <p:nvPicPr>
          <p:cNvPr id="13" name="Изображение 12"/>
          <p:cNvPicPr>
            <a:picLocks noChangeAspect="1"/>
          </p:cNvPicPr>
          <p:nvPr/>
        </p:nvPicPr>
        <p:blipFill>
          <a:blip r:embed="rId5"/>
          <a:srcRect b="13839"/>
          <a:stretch>
            <a:fillRect/>
          </a:stretch>
        </p:blipFill>
        <p:spPr>
          <a:xfrm>
            <a:off x="737870" y="1124585"/>
            <a:ext cx="9954895" cy="3640455"/>
          </a:xfrm>
          <a:prstGeom prst="rect">
            <a:avLst/>
          </a:prstGeom>
        </p:spPr>
      </p:pic>
      <p:sp>
        <p:nvSpPr>
          <p:cNvPr id="14" name="Текстовое поле 13"/>
          <p:cNvSpPr txBox="1"/>
          <p:nvPr/>
        </p:nvSpPr>
        <p:spPr>
          <a:xfrm>
            <a:off x="767715" y="706438"/>
            <a:ext cx="5080000" cy="460375"/>
          </a:xfrm>
          <a:prstGeom prst="rect">
            <a:avLst/>
          </a:prstGeom>
        </p:spPr>
        <p:txBody>
          <a:bodyPr>
            <a:spAutoFit/>
          </a:bodyPr>
          <a:p>
            <a:pPr marL="0" indent="0" algn="l">
              <a:spcBef>
                <a:spcPct val="0"/>
              </a:spcBef>
              <a:spcAft>
                <a:spcPts val="2400"/>
              </a:spcAft>
            </a:pPr>
            <a:r>
              <a:rPr sz="2400" b="1" i="0">
                <a:solidFill>
                  <a:schemeClr val="tx1"/>
                </a:solidFill>
                <a:latin typeface="Times New Roman" panose="02020603050405020304" pitchFamily="18" charset="0"/>
                <a:ea typeface="Merriweather"/>
                <a:cs typeface="Times New Roman" panose="02020603050405020304" pitchFamily="18" charset="0"/>
              </a:rPr>
              <a:t>Механизм детритилирования</a:t>
            </a:r>
            <a:endParaRPr sz="2400" b="1" i="0">
              <a:solidFill>
                <a:schemeClr val="tx1"/>
              </a:solidFill>
              <a:latin typeface="Times New Roman" panose="02020603050405020304" pitchFamily="18" charset="0"/>
              <a:ea typeface="Merriweather"/>
              <a:cs typeface="Times New Roman" panose="02020603050405020304" pitchFamily="18" charset="0"/>
            </a:endParaRPr>
          </a:p>
        </p:txBody>
      </p:sp>
      <p:sp>
        <p:nvSpPr>
          <p:cNvPr id="15" name="Текстовое поле 14"/>
          <p:cNvSpPr txBox="1"/>
          <p:nvPr/>
        </p:nvSpPr>
        <p:spPr>
          <a:xfrm>
            <a:off x="839470" y="5445125"/>
            <a:ext cx="9783445" cy="645160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algn="ctr"/>
            <a:r>
              <a:rPr b="0" i="0">
                <a:solidFill>
                  <a:schemeClr val="tx1"/>
                </a:solidFill>
                <a:latin typeface="Times New Roman" panose="02020603050405020304" pitchFamily="18" charset="0"/>
                <a:ea typeface="DM Sans"/>
                <a:cs typeface="Times New Roman" panose="02020603050405020304" pitchFamily="18" charset="0"/>
              </a:rPr>
              <a:t>Первая стадия цикла — удаление защитной ДМТ-группы (4,4'-диметокситритил) для активации 5'-OH конца.</a:t>
            </a:r>
            <a:endParaRPr b="0" i="0">
              <a:solidFill>
                <a:schemeClr val="tx1"/>
              </a:solidFill>
              <a:latin typeface="Times New Roman" panose="02020603050405020304" pitchFamily="18" charset="0"/>
              <a:ea typeface="DM Sans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493776" y="1043939"/>
            <a:ext cx="9946005" cy="0"/>
          </a:xfrm>
          <a:custGeom>
            <a:avLst/>
            <a:gdLst/>
            <a:ahLst/>
            <a:cxnLst/>
            <a:rect l="l" t="t" r="r" b="b"/>
            <a:pathLst>
              <a:path w="9946005">
                <a:moveTo>
                  <a:pt x="0" y="0"/>
                </a:moveTo>
                <a:lnTo>
                  <a:pt x="9946005" y="0"/>
                </a:lnTo>
              </a:path>
            </a:pathLst>
          </a:custGeom>
          <a:ln w="6096">
            <a:solidFill>
              <a:srgbClr val="5B9BD4"/>
            </a:solidFill>
          </a:ln>
        </p:spPr>
        <p:txBody>
          <a:bodyPr wrap="square" lIns="0" tIns="0" rIns="0" bIns="0" rtlCol="0"/>
          <a:lstStyle/>
          <a:p/>
        </p:txBody>
      </p:sp>
      <p:grpSp>
        <p:nvGrpSpPr>
          <p:cNvPr id="4" name="object 4"/>
          <p:cNvGrpSpPr/>
          <p:nvPr/>
        </p:nvGrpSpPr>
        <p:grpSpPr>
          <a:xfrm>
            <a:off x="10913388" y="236043"/>
            <a:ext cx="668655" cy="1195070"/>
            <a:chOff x="10913388" y="236043"/>
            <a:chExt cx="668655" cy="1195070"/>
          </a:xfrm>
        </p:grpSpPr>
        <p:sp>
          <p:nvSpPr>
            <p:cNvPr id="5" name="object 5"/>
            <p:cNvSpPr/>
            <p:nvPr/>
          </p:nvSpPr>
          <p:spPr>
            <a:xfrm>
              <a:off x="10913388" y="601685"/>
              <a:ext cx="668655" cy="829310"/>
            </a:xfrm>
            <a:custGeom>
              <a:avLst/>
              <a:gdLst/>
              <a:ahLst/>
              <a:cxnLst/>
              <a:rect l="l" t="t" r="r" b="b"/>
              <a:pathLst>
                <a:path w="668654" h="829310">
                  <a:moveTo>
                    <a:pt x="126245" y="651742"/>
                  </a:moveTo>
                  <a:lnTo>
                    <a:pt x="61660" y="651742"/>
                  </a:lnTo>
                  <a:lnTo>
                    <a:pt x="293695" y="785010"/>
                  </a:lnTo>
                  <a:lnTo>
                    <a:pt x="293695" y="788261"/>
                  </a:lnTo>
                  <a:lnTo>
                    <a:pt x="296840" y="803522"/>
                  </a:lnTo>
                  <a:lnTo>
                    <a:pt x="305461" y="816499"/>
                  </a:lnTo>
                  <a:lnTo>
                    <a:pt x="318342" y="825514"/>
                  </a:lnTo>
                  <a:lnTo>
                    <a:pt x="334264" y="828892"/>
                  </a:lnTo>
                  <a:lnTo>
                    <a:pt x="350186" y="825514"/>
                  </a:lnTo>
                  <a:lnTo>
                    <a:pt x="363065" y="816499"/>
                  </a:lnTo>
                  <a:lnTo>
                    <a:pt x="371685" y="803522"/>
                  </a:lnTo>
                  <a:lnTo>
                    <a:pt x="374828" y="788261"/>
                  </a:lnTo>
                  <a:lnTo>
                    <a:pt x="374828" y="785010"/>
                  </a:lnTo>
                  <a:lnTo>
                    <a:pt x="425403" y="755758"/>
                  </a:lnTo>
                  <a:lnTo>
                    <a:pt x="306680" y="755758"/>
                  </a:lnTo>
                  <a:lnTo>
                    <a:pt x="126245" y="651742"/>
                  </a:lnTo>
                  <a:close/>
                </a:path>
                <a:path w="668654" h="829310">
                  <a:moveTo>
                    <a:pt x="334061" y="747226"/>
                  </a:moveTo>
                  <a:lnTo>
                    <a:pt x="319838" y="749359"/>
                  </a:lnTo>
                  <a:lnTo>
                    <a:pt x="306680" y="755758"/>
                  </a:lnTo>
                  <a:lnTo>
                    <a:pt x="360223" y="755758"/>
                  </a:lnTo>
                  <a:lnTo>
                    <a:pt x="347979" y="749359"/>
                  </a:lnTo>
                  <a:lnTo>
                    <a:pt x="334061" y="747226"/>
                  </a:lnTo>
                  <a:close/>
                </a:path>
                <a:path w="668654" h="829310">
                  <a:moveTo>
                    <a:pt x="481925" y="0"/>
                  </a:moveTo>
                  <a:lnTo>
                    <a:pt x="466002" y="3149"/>
                  </a:lnTo>
                  <a:lnTo>
                    <a:pt x="453122" y="11786"/>
                  </a:lnTo>
                  <a:lnTo>
                    <a:pt x="444500" y="24690"/>
                  </a:lnTo>
                  <a:lnTo>
                    <a:pt x="441355" y="40645"/>
                  </a:lnTo>
                  <a:lnTo>
                    <a:pt x="443105" y="52421"/>
                  </a:lnTo>
                  <a:lnTo>
                    <a:pt x="448050" y="62990"/>
                  </a:lnTo>
                  <a:lnTo>
                    <a:pt x="455733" y="71738"/>
                  </a:lnTo>
                  <a:lnTo>
                    <a:pt x="465698" y="78054"/>
                  </a:lnTo>
                  <a:lnTo>
                    <a:pt x="465698" y="206407"/>
                  </a:lnTo>
                  <a:lnTo>
                    <a:pt x="587384" y="271461"/>
                  </a:lnTo>
                  <a:lnTo>
                    <a:pt x="587384" y="274697"/>
                  </a:lnTo>
                  <a:lnTo>
                    <a:pt x="585796" y="276288"/>
                  </a:lnTo>
                  <a:lnTo>
                    <a:pt x="585796" y="277933"/>
                  </a:lnTo>
                  <a:lnTo>
                    <a:pt x="587846" y="290887"/>
                  </a:lnTo>
                  <a:lnTo>
                    <a:pt x="593695" y="302316"/>
                  </a:lnTo>
                  <a:lnTo>
                    <a:pt x="602892" y="311306"/>
                  </a:lnTo>
                  <a:lnTo>
                    <a:pt x="614985" y="316944"/>
                  </a:lnTo>
                  <a:lnTo>
                    <a:pt x="614985" y="578603"/>
                  </a:lnTo>
                  <a:lnTo>
                    <a:pt x="602892" y="584928"/>
                  </a:lnTo>
                  <a:lnTo>
                    <a:pt x="593695" y="593842"/>
                  </a:lnTo>
                  <a:lnTo>
                    <a:pt x="587846" y="604889"/>
                  </a:lnTo>
                  <a:lnTo>
                    <a:pt x="585796" y="617614"/>
                  </a:lnTo>
                  <a:lnTo>
                    <a:pt x="585796" y="620861"/>
                  </a:lnTo>
                  <a:lnTo>
                    <a:pt x="587384" y="622484"/>
                  </a:lnTo>
                  <a:lnTo>
                    <a:pt x="587384" y="625737"/>
                  </a:lnTo>
                  <a:lnTo>
                    <a:pt x="360223" y="755758"/>
                  </a:lnTo>
                  <a:lnTo>
                    <a:pt x="425403" y="755758"/>
                  </a:lnTo>
                  <a:lnTo>
                    <a:pt x="605237" y="651742"/>
                  </a:lnTo>
                  <a:lnTo>
                    <a:pt x="648894" y="651742"/>
                  </a:lnTo>
                  <a:lnTo>
                    <a:pt x="656777" y="646460"/>
                  </a:lnTo>
                  <a:lnTo>
                    <a:pt x="665399" y="633561"/>
                  </a:lnTo>
                  <a:lnTo>
                    <a:pt x="668544" y="617614"/>
                  </a:lnTo>
                  <a:lnTo>
                    <a:pt x="667074" y="606997"/>
                  </a:lnTo>
                  <a:lnTo>
                    <a:pt x="662862" y="597295"/>
                  </a:lnTo>
                  <a:lnTo>
                    <a:pt x="656207" y="588813"/>
                  </a:lnTo>
                  <a:lnTo>
                    <a:pt x="647405" y="581856"/>
                  </a:lnTo>
                  <a:lnTo>
                    <a:pt x="647405" y="313691"/>
                  </a:lnTo>
                  <a:lnTo>
                    <a:pt x="656207" y="307648"/>
                  </a:lnTo>
                  <a:lnTo>
                    <a:pt x="662862" y="299471"/>
                  </a:lnTo>
                  <a:lnTo>
                    <a:pt x="667074" y="289465"/>
                  </a:lnTo>
                  <a:lnTo>
                    <a:pt x="668544" y="277933"/>
                  </a:lnTo>
                  <a:lnTo>
                    <a:pt x="665399" y="261979"/>
                  </a:lnTo>
                  <a:lnTo>
                    <a:pt x="656777" y="249074"/>
                  </a:lnTo>
                  <a:lnTo>
                    <a:pt x="648931" y="243815"/>
                  </a:lnTo>
                  <a:lnTo>
                    <a:pt x="605237" y="243815"/>
                  </a:lnTo>
                  <a:lnTo>
                    <a:pt x="498151" y="186934"/>
                  </a:lnTo>
                  <a:lnTo>
                    <a:pt x="498151" y="78054"/>
                  </a:lnTo>
                  <a:lnTo>
                    <a:pt x="508113" y="71738"/>
                  </a:lnTo>
                  <a:lnTo>
                    <a:pt x="515795" y="62990"/>
                  </a:lnTo>
                  <a:lnTo>
                    <a:pt x="520739" y="52421"/>
                  </a:lnTo>
                  <a:lnTo>
                    <a:pt x="522488" y="40645"/>
                  </a:lnTo>
                  <a:lnTo>
                    <a:pt x="519345" y="24690"/>
                  </a:lnTo>
                  <a:lnTo>
                    <a:pt x="510725" y="11786"/>
                  </a:lnTo>
                  <a:lnTo>
                    <a:pt x="497846" y="3149"/>
                  </a:lnTo>
                  <a:lnTo>
                    <a:pt x="481925" y="0"/>
                  </a:lnTo>
                  <a:close/>
                </a:path>
                <a:path w="668654" h="829310">
                  <a:moveTo>
                    <a:pt x="48679" y="237288"/>
                  </a:moveTo>
                  <a:lnTo>
                    <a:pt x="40566" y="237288"/>
                  </a:lnTo>
                  <a:lnTo>
                    <a:pt x="24644" y="240438"/>
                  </a:lnTo>
                  <a:lnTo>
                    <a:pt x="11764" y="249074"/>
                  </a:lnTo>
                  <a:lnTo>
                    <a:pt x="3143" y="261979"/>
                  </a:lnTo>
                  <a:lnTo>
                    <a:pt x="0" y="277933"/>
                  </a:lnTo>
                  <a:lnTo>
                    <a:pt x="1470" y="289491"/>
                  </a:lnTo>
                  <a:lnTo>
                    <a:pt x="5679" y="299674"/>
                  </a:lnTo>
                  <a:lnTo>
                    <a:pt x="12322" y="308333"/>
                  </a:lnTo>
                  <a:lnTo>
                    <a:pt x="21095" y="315315"/>
                  </a:lnTo>
                  <a:lnTo>
                    <a:pt x="21095" y="581856"/>
                  </a:lnTo>
                  <a:lnTo>
                    <a:pt x="12322" y="588128"/>
                  </a:lnTo>
                  <a:lnTo>
                    <a:pt x="5679" y="596686"/>
                  </a:lnTo>
                  <a:lnTo>
                    <a:pt x="1470" y="606769"/>
                  </a:lnTo>
                  <a:lnTo>
                    <a:pt x="0" y="617614"/>
                  </a:lnTo>
                  <a:lnTo>
                    <a:pt x="3143" y="633561"/>
                  </a:lnTo>
                  <a:lnTo>
                    <a:pt x="11764" y="646460"/>
                  </a:lnTo>
                  <a:lnTo>
                    <a:pt x="24644" y="655094"/>
                  </a:lnTo>
                  <a:lnTo>
                    <a:pt x="40566" y="658242"/>
                  </a:lnTo>
                  <a:lnTo>
                    <a:pt x="48679" y="658242"/>
                  </a:lnTo>
                  <a:lnTo>
                    <a:pt x="55171" y="656619"/>
                  </a:lnTo>
                  <a:lnTo>
                    <a:pt x="61660" y="651742"/>
                  </a:lnTo>
                  <a:lnTo>
                    <a:pt x="126245" y="651742"/>
                  </a:lnTo>
                  <a:lnTo>
                    <a:pt x="81134" y="625737"/>
                  </a:lnTo>
                  <a:lnTo>
                    <a:pt x="81134" y="617614"/>
                  </a:lnTo>
                  <a:lnTo>
                    <a:pt x="79106" y="604889"/>
                  </a:lnTo>
                  <a:lnTo>
                    <a:pt x="73426" y="593842"/>
                  </a:lnTo>
                  <a:lnTo>
                    <a:pt x="64703" y="584928"/>
                  </a:lnTo>
                  <a:lnTo>
                    <a:pt x="53544" y="578603"/>
                  </a:lnTo>
                  <a:lnTo>
                    <a:pt x="53544" y="316944"/>
                  </a:lnTo>
                  <a:lnTo>
                    <a:pt x="64703" y="310621"/>
                  </a:lnTo>
                  <a:lnTo>
                    <a:pt x="73426" y="301707"/>
                  </a:lnTo>
                  <a:lnTo>
                    <a:pt x="79106" y="290658"/>
                  </a:lnTo>
                  <a:lnTo>
                    <a:pt x="81134" y="277933"/>
                  </a:lnTo>
                  <a:lnTo>
                    <a:pt x="81134" y="276288"/>
                  </a:lnTo>
                  <a:lnTo>
                    <a:pt x="79508" y="274697"/>
                  </a:lnTo>
                  <a:lnTo>
                    <a:pt x="79508" y="271461"/>
                  </a:lnTo>
                  <a:lnTo>
                    <a:pt x="130664" y="243815"/>
                  </a:lnTo>
                  <a:lnTo>
                    <a:pt x="61660" y="243815"/>
                  </a:lnTo>
                  <a:lnTo>
                    <a:pt x="48679" y="237288"/>
                  </a:lnTo>
                  <a:close/>
                </a:path>
                <a:path w="668654" h="829310">
                  <a:moveTo>
                    <a:pt x="648894" y="651742"/>
                  </a:moveTo>
                  <a:lnTo>
                    <a:pt x="605237" y="651742"/>
                  </a:lnTo>
                  <a:lnTo>
                    <a:pt x="611754" y="656619"/>
                  </a:lnTo>
                  <a:lnTo>
                    <a:pt x="619859" y="658242"/>
                  </a:lnTo>
                  <a:lnTo>
                    <a:pt x="627964" y="658242"/>
                  </a:lnTo>
                  <a:lnTo>
                    <a:pt x="643893" y="655094"/>
                  </a:lnTo>
                  <a:lnTo>
                    <a:pt x="648894" y="651742"/>
                  </a:lnTo>
                  <a:close/>
                </a:path>
                <a:path w="668654" h="829310">
                  <a:moveTo>
                    <a:pt x="186604" y="0"/>
                  </a:moveTo>
                  <a:lnTo>
                    <a:pt x="170682" y="3149"/>
                  </a:lnTo>
                  <a:lnTo>
                    <a:pt x="157801" y="11786"/>
                  </a:lnTo>
                  <a:lnTo>
                    <a:pt x="149179" y="24690"/>
                  </a:lnTo>
                  <a:lnTo>
                    <a:pt x="146035" y="40645"/>
                  </a:lnTo>
                  <a:lnTo>
                    <a:pt x="147785" y="52421"/>
                  </a:lnTo>
                  <a:lnTo>
                    <a:pt x="152729" y="62990"/>
                  </a:lnTo>
                  <a:lnTo>
                    <a:pt x="160412" y="71738"/>
                  </a:lnTo>
                  <a:lnTo>
                    <a:pt x="170378" y="78054"/>
                  </a:lnTo>
                  <a:lnTo>
                    <a:pt x="170378" y="185289"/>
                  </a:lnTo>
                  <a:lnTo>
                    <a:pt x="61660" y="243815"/>
                  </a:lnTo>
                  <a:lnTo>
                    <a:pt x="130664" y="243815"/>
                  </a:lnTo>
                  <a:lnTo>
                    <a:pt x="202831" y="204816"/>
                  </a:lnTo>
                  <a:lnTo>
                    <a:pt x="202831" y="78054"/>
                  </a:lnTo>
                  <a:lnTo>
                    <a:pt x="212795" y="71738"/>
                  </a:lnTo>
                  <a:lnTo>
                    <a:pt x="220476" y="62990"/>
                  </a:lnTo>
                  <a:lnTo>
                    <a:pt x="225419" y="52421"/>
                  </a:lnTo>
                  <a:lnTo>
                    <a:pt x="227168" y="40645"/>
                  </a:lnTo>
                  <a:lnTo>
                    <a:pt x="224024" y="24690"/>
                  </a:lnTo>
                  <a:lnTo>
                    <a:pt x="215405" y="11786"/>
                  </a:lnTo>
                  <a:lnTo>
                    <a:pt x="202526" y="3149"/>
                  </a:lnTo>
                  <a:lnTo>
                    <a:pt x="186604" y="0"/>
                  </a:lnTo>
                  <a:close/>
                </a:path>
                <a:path w="668654" h="829310">
                  <a:moveTo>
                    <a:pt x="627964" y="237288"/>
                  </a:moveTo>
                  <a:lnTo>
                    <a:pt x="619859" y="237288"/>
                  </a:lnTo>
                  <a:lnTo>
                    <a:pt x="611754" y="240579"/>
                  </a:lnTo>
                  <a:lnTo>
                    <a:pt x="605237" y="243815"/>
                  </a:lnTo>
                  <a:lnTo>
                    <a:pt x="648931" y="243815"/>
                  </a:lnTo>
                  <a:lnTo>
                    <a:pt x="643893" y="240438"/>
                  </a:lnTo>
                  <a:lnTo>
                    <a:pt x="627964" y="237288"/>
                  </a:lnTo>
                  <a:close/>
                </a:path>
              </a:pathLst>
            </a:custGeom>
            <a:solidFill>
              <a:srgbClr val="1D70B8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6" name="object 6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11164899" y="466804"/>
              <a:ext cx="115207" cy="115408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1195725" y="236043"/>
              <a:ext cx="79511" cy="79644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1293085" y="336806"/>
              <a:ext cx="95738" cy="95880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1150293" y="954381"/>
              <a:ext cx="193092" cy="203154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11054555" y="855264"/>
              <a:ext cx="386080" cy="388620"/>
            </a:xfrm>
            <a:custGeom>
              <a:avLst/>
              <a:gdLst/>
              <a:ahLst/>
              <a:cxnLst/>
              <a:rect l="l" t="t" r="r" b="b"/>
              <a:pathLst>
                <a:path w="386079" h="388619">
                  <a:moveTo>
                    <a:pt x="193097" y="0"/>
                  </a:moveTo>
                  <a:lnTo>
                    <a:pt x="148680" y="5173"/>
                  </a:lnTo>
                  <a:lnTo>
                    <a:pt x="107980" y="19896"/>
                  </a:lnTo>
                  <a:lnTo>
                    <a:pt x="72135" y="42977"/>
                  </a:lnTo>
                  <a:lnTo>
                    <a:pt x="42279" y="73222"/>
                  </a:lnTo>
                  <a:lnTo>
                    <a:pt x="19547" y="109438"/>
                  </a:lnTo>
                  <a:lnTo>
                    <a:pt x="5076" y="150431"/>
                  </a:lnTo>
                  <a:lnTo>
                    <a:pt x="0" y="195008"/>
                  </a:lnTo>
                  <a:lnTo>
                    <a:pt x="5076" y="238984"/>
                  </a:lnTo>
                  <a:lnTo>
                    <a:pt x="19547" y="279548"/>
                  </a:lnTo>
                  <a:lnTo>
                    <a:pt x="42279" y="315478"/>
                  </a:lnTo>
                  <a:lnTo>
                    <a:pt x="72135" y="345552"/>
                  </a:lnTo>
                  <a:lnTo>
                    <a:pt x="107980" y="368547"/>
                  </a:lnTo>
                  <a:lnTo>
                    <a:pt x="148680" y="383241"/>
                  </a:lnTo>
                  <a:lnTo>
                    <a:pt x="193097" y="388410"/>
                  </a:lnTo>
                  <a:lnTo>
                    <a:pt x="224080" y="385059"/>
                  </a:lnTo>
                  <a:lnTo>
                    <a:pt x="253541" y="377440"/>
                  </a:lnTo>
                  <a:lnTo>
                    <a:pt x="281175" y="365555"/>
                  </a:lnTo>
                  <a:lnTo>
                    <a:pt x="296414" y="355905"/>
                  </a:lnTo>
                  <a:lnTo>
                    <a:pt x="193097" y="355905"/>
                  </a:lnTo>
                  <a:lnTo>
                    <a:pt x="150090" y="350081"/>
                  </a:lnTo>
                  <a:lnTo>
                    <a:pt x="111365" y="333694"/>
                  </a:lnTo>
                  <a:lnTo>
                    <a:pt x="78498" y="308368"/>
                  </a:lnTo>
                  <a:lnTo>
                    <a:pt x="53069" y="275728"/>
                  </a:lnTo>
                  <a:lnTo>
                    <a:pt x="36654" y="237400"/>
                  </a:lnTo>
                  <a:lnTo>
                    <a:pt x="30832" y="195008"/>
                  </a:lnTo>
                  <a:lnTo>
                    <a:pt x="36654" y="151930"/>
                  </a:lnTo>
                  <a:lnTo>
                    <a:pt x="53069" y="113140"/>
                  </a:lnTo>
                  <a:lnTo>
                    <a:pt x="78498" y="80218"/>
                  </a:lnTo>
                  <a:lnTo>
                    <a:pt x="111365" y="54746"/>
                  </a:lnTo>
                  <a:lnTo>
                    <a:pt x="150090" y="38304"/>
                  </a:lnTo>
                  <a:lnTo>
                    <a:pt x="193097" y="32472"/>
                  </a:lnTo>
                  <a:lnTo>
                    <a:pt x="326658" y="32472"/>
                  </a:lnTo>
                  <a:lnTo>
                    <a:pt x="324531" y="30881"/>
                  </a:lnTo>
                  <a:lnTo>
                    <a:pt x="295325" y="30881"/>
                  </a:lnTo>
                  <a:lnTo>
                    <a:pt x="271365" y="17818"/>
                  </a:lnTo>
                  <a:lnTo>
                    <a:pt x="246035" y="8118"/>
                  </a:lnTo>
                  <a:lnTo>
                    <a:pt x="219794" y="2079"/>
                  </a:lnTo>
                  <a:lnTo>
                    <a:pt x="193097" y="0"/>
                  </a:lnTo>
                  <a:close/>
                </a:path>
                <a:path w="386079" h="388619">
                  <a:moveTo>
                    <a:pt x="376453" y="162503"/>
                  </a:moveTo>
                  <a:lnTo>
                    <a:pt x="363474" y="162503"/>
                  </a:lnTo>
                  <a:lnTo>
                    <a:pt x="353737" y="172256"/>
                  </a:lnTo>
                  <a:lnTo>
                    <a:pt x="353737" y="180379"/>
                  </a:lnTo>
                  <a:lnTo>
                    <a:pt x="354356" y="190562"/>
                  </a:lnTo>
                  <a:lnTo>
                    <a:pt x="354305" y="202930"/>
                  </a:lnTo>
                  <a:lnTo>
                    <a:pt x="340756" y="257985"/>
                  </a:lnTo>
                  <a:lnTo>
                    <a:pt x="318042" y="295771"/>
                  </a:lnTo>
                  <a:lnTo>
                    <a:pt x="270907" y="335338"/>
                  </a:lnTo>
                  <a:lnTo>
                    <a:pt x="220657" y="353518"/>
                  </a:lnTo>
                  <a:lnTo>
                    <a:pt x="193097" y="355905"/>
                  </a:lnTo>
                  <a:lnTo>
                    <a:pt x="296414" y="355905"/>
                  </a:lnTo>
                  <a:lnTo>
                    <a:pt x="334268" y="325023"/>
                  </a:lnTo>
                  <a:lnTo>
                    <a:pt x="367937" y="275658"/>
                  </a:lnTo>
                  <a:lnTo>
                    <a:pt x="384569" y="217761"/>
                  </a:lnTo>
                  <a:lnTo>
                    <a:pt x="385937" y="190562"/>
                  </a:lnTo>
                  <a:lnTo>
                    <a:pt x="384569" y="177127"/>
                  </a:lnTo>
                  <a:lnTo>
                    <a:pt x="384569" y="172256"/>
                  </a:lnTo>
                  <a:lnTo>
                    <a:pt x="382948" y="169003"/>
                  </a:lnTo>
                  <a:lnTo>
                    <a:pt x="376453" y="162503"/>
                  </a:lnTo>
                  <a:close/>
                </a:path>
                <a:path w="386079" h="388619">
                  <a:moveTo>
                    <a:pt x="326658" y="32472"/>
                  </a:moveTo>
                  <a:lnTo>
                    <a:pt x="193097" y="32472"/>
                  </a:lnTo>
                  <a:lnTo>
                    <a:pt x="214952" y="33998"/>
                  </a:lnTo>
                  <a:lnTo>
                    <a:pt x="236503" y="38573"/>
                  </a:lnTo>
                  <a:lnTo>
                    <a:pt x="257445" y="46196"/>
                  </a:lnTo>
                  <a:lnTo>
                    <a:pt x="277472" y="56864"/>
                  </a:lnTo>
                  <a:lnTo>
                    <a:pt x="277472" y="58488"/>
                  </a:lnTo>
                  <a:lnTo>
                    <a:pt x="279780" y="71108"/>
                  </a:lnTo>
                  <a:lnTo>
                    <a:pt x="286196" y="81444"/>
                  </a:lnTo>
                  <a:lnTo>
                    <a:pt x="295958" y="88428"/>
                  </a:lnTo>
                  <a:lnTo>
                    <a:pt x="308305" y="90993"/>
                  </a:lnTo>
                  <a:lnTo>
                    <a:pt x="320905" y="88428"/>
                  </a:lnTo>
                  <a:lnTo>
                    <a:pt x="331224" y="81444"/>
                  </a:lnTo>
                  <a:lnTo>
                    <a:pt x="338197" y="71108"/>
                  </a:lnTo>
                  <a:lnTo>
                    <a:pt x="340758" y="58488"/>
                  </a:lnTo>
                  <a:lnTo>
                    <a:pt x="340758" y="50359"/>
                  </a:lnTo>
                  <a:lnTo>
                    <a:pt x="337510" y="42235"/>
                  </a:lnTo>
                  <a:lnTo>
                    <a:pt x="331021" y="35735"/>
                  </a:lnTo>
                  <a:lnTo>
                    <a:pt x="326658" y="32472"/>
                  </a:lnTo>
                  <a:close/>
                </a:path>
                <a:path w="386079" h="388619">
                  <a:moveTo>
                    <a:pt x="316415" y="27590"/>
                  </a:moveTo>
                  <a:lnTo>
                    <a:pt x="298567" y="27590"/>
                  </a:lnTo>
                  <a:lnTo>
                    <a:pt x="295325" y="30881"/>
                  </a:lnTo>
                  <a:lnTo>
                    <a:pt x="324531" y="30881"/>
                  </a:lnTo>
                  <a:lnTo>
                    <a:pt x="316415" y="27590"/>
                  </a:lnTo>
                  <a:close/>
                </a:path>
              </a:pathLst>
            </a:custGeom>
            <a:solidFill>
              <a:srgbClr val="1D70B8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4" name="Номер слайда 13"/>
          <p:cNvSpPr>
            <a:spLocks noGrp="1"/>
          </p:cNvSpPr>
          <p:nvPr>
            <p:ph type="sldNum" sz="quarter" idx="12"/>
          </p:nvPr>
        </p:nvSpPr>
        <p:spPr>
          <a:xfrm>
            <a:off x="11240768" y="6397751"/>
            <a:ext cx="373931" cy="274955"/>
          </a:xfrm>
        </p:spPr>
        <p:txBody>
          <a:bodyPr/>
          <a:lstStyle/>
          <a:p>
            <a:pPr marL="38100">
              <a:lnSpc>
                <a:spcPts val="2145"/>
              </a:lnSpc>
            </a:pPr>
            <a:fld id="{81D60167-4931-47E6-BA6A-407CBD079E47}" type="slidenum">
              <a:rPr lang="ru-RU" sz="2400" b="0" smtClean="0"/>
            </a:fld>
            <a:endParaRPr lang="ru-RU" sz="2400" b="0" dirty="0"/>
          </a:p>
        </p:txBody>
      </p:sp>
      <p:sp>
        <p:nvSpPr>
          <p:cNvPr id="15" name="Rectangle 2"/>
          <p:cNvSpPr>
            <a:spLocks noChangeArrowheads="1"/>
          </p:cNvSpPr>
          <p:nvPr/>
        </p:nvSpPr>
        <p:spPr bwMode="auto">
          <a:xfrm>
            <a:off x="9732899" y="2009414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spAutoFit/>
          </a:bodyPr>
          <a:lstStyle/>
          <a:p>
            <a:endParaRPr lang="ru-RU"/>
          </a:p>
        </p:txBody>
      </p:sp>
      <p:sp>
        <p:nvSpPr>
          <p:cNvPr id="17" name="Rectangle 2"/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spAutoFit/>
          </a:bodyPr>
          <a:lstStyle/>
          <a:p>
            <a:endParaRPr lang="ru-RU"/>
          </a:p>
        </p:txBody>
      </p:sp>
      <p:pic>
        <p:nvPicPr>
          <p:cNvPr id="2" name="Изображение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7715" y="1052830"/>
            <a:ext cx="9969500" cy="4098925"/>
          </a:xfrm>
          <a:prstGeom prst="rect">
            <a:avLst/>
          </a:prstGeom>
        </p:spPr>
      </p:pic>
      <p:sp>
        <p:nvSpPr>
          <p:cNvPr id="11" name="Текстовое поле 10"/>
          <p:cNvSpPr txBox="1"/>
          <p:nvPr/>
        </p:nvSpPr>
        <p:spPr>
          <a:xfrm>
            <a:off x="551815" y="621030"/>
            <a:ext cx="74256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Стадия 1: Механизм активации и конденсации фосфорамидита</a:t>
            </a:r>
            <a:endParaRPr lang="ru-RU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493776" y="1043939"/>
            <a:ext cx="9946005" cy="0"/>
          </a:xfrm>
          <a:custGeom>
            <a:avLst/>
            <a:gdLst/>
            <a:ahLst/>
            <a:cxnLst/>
            <a:rect l="l" t="t" r="r" b="b"/>
            <a:pathLst>
              <a:path w="9946005">
                <a:moveTo>
                  <a:pt x="0" y="0"/>
                </a:moveTo>
                <a:lnTo>
                  <a:pt x="9946005" y="0"/>
                </a:lnTo>
              </a:path>
            </a:pathLst>
          </a:custGeom>
          <a:ln w="6096">
            <a:solidFill>
              <a:srgbClr val="5B9BD4"/>
            </a:solidFill>
          </a:ln>
        </p:spPr>
        <p:txBody>
          <a:bodyPr wrap="square" lIns="0" tIns="0" rIns="0" bIns="0" rtlCol="0"/>
          <a:lstStyle/>
          <a:p/>
        </p:txBody>
      </p:sp>
      <p:grpSp>
        <p:nvGrpSpPr>
          <p:cNvPr id="4" name="object 4"/>
          <p:cNvGrpSpPr/>
          <p:nvPr/>
        </p:nvGrpSpPr>
        <p:grpSpPr>
          <a:xfrm>
            <a:off x="10913388" y="236043"/>
            <a:ext cx="668655" cy="1195070"/>
            <a:chOff x="10913388" y="236043"/>
            <a:chExt cx="668655" cy="1195070"/>
          </a:xfrm>
        </p:grpSpPr>
        <p:sp>
          <p:nvSpPr>
            <p:cNvPr id="5" name="object 5"/>
            <p:cNvSpPr/>
            <p:nvPr/>
          </p:nvSpPr>
          <p:spPr>
            <a:xfrm>
              <a:off x="10913388" y="601685"/>
              <a:ext cx="668655" cy="829310"/>
            </a:xfrm>
            <a:custGeom>
              <a:avLst/>
              <a:gdLst/>
              <a:ahLst/>
              <a:cxnLst/>
              <a:rect l="l" t="t" r="r" b="b"/>
              <a:pathLst>
                <a:path w="668654" h="829310">
                  <a:moveTo>
                    <a:pt x="126245" y="651742"/>
                  </a:moveTo>
                  <a:lnTo>
                    <a:pt x="61660" y="651742"/>
                  </a:lnTo>
                  <a:lnTo>
                    <a:pt x="293695" y="785010"/>
                  </a:lnTo>
                  <a:lnTo>
                    <a:pt x="293695" y="788261"/>
                  </a:lnTo>
                  <a:lnTo>
                    <a:pt x="296840" y="803522"/>
                  </a:lnTo>
                  <a:lnTo>
                    <a:pt x="305461" y="816499"/>
                  </a:lnTo>
                  <a:lnTo>
                    <a:pt x="318342" y="825514"/>
                  </a:lnTo>
                  <a:lnTo>
                    <a:pt x="334264" y="828892"/>
                  </a:lnTo>
                  <a:lnTo>
                    <a:pt x="350186" y="825514"/>
                  </a:lnTo>
                  <a:lnTo>
                    <a:pt x="363065" y="816499"/>
                  </a:lnTo>
                  <a:lnTo>
                    <a:pt x="371685" y="803522"/>
                  </a:lnTo>
                  <a:lnTo>
                    <a:pt x="374828" y="788261"/>
                  </a:lnTo>
                  <a:lnTo>
                    <a:pt x="374828" y="785010"/>
                  </a:lnTo>
                  <a:lnTo>
                    <a:pt x="425403" y="755758"/>
                  </a:lnTo>
                  <a:lnTo>
                    <a:pt x="306680" y="755758"/>
                  </a:lnTo>
                  <a:lnTo>
                    <a:pt x="126245" y="651742"/>
                  </a:lnTo>
                  <a:close/>
                </a:path>
                <a:path w="668654" h="829310">
                  <a:moveTo>
                    <a:pt x="334061" y="747226"/>
                  </a:moveTo>
                  <a:lnTo>
                    <a:pt x="319838" y="749359"/>
                  </a:lnTo>
                  <a:lnTo>
                    <a:pt x="306680" y="755758"/>
                  </a:lnTo>
                  <a:lnTo>
                    <a:pt x="360223" y="755758"/>
                  </a:lnTo>
                  <a:lnTo>
                    <a:pt x="347979" y="749359"/>
                  </a:lnTo>
                  <a:lnTo>
                    <a:pt x="334061" y="747226"/>
                  </a:lnTo>
                  <a:close/>
                </a:path>
                <a:path w="668654" h="829310">
                  <a:moveTo>
                    <a:pt x="481925" y="0"/>
                  </a:moveTo>
                  <a:lnTo>
                    <a:pt x="466002" y="3149"/>
                  </a:lnTo>
                  <a:lnTo>
                    <a:pt x="453122" y="11786"/>
                  </a:lnTo>
                  <a:lnTo>
                    <a:pt x="444500" y="24690"/>
                  </a:lnTo>
                  <a:lnTo>
                    <a:pt x="441355" y="40645"/>
                  </a:lnTo>
                  <a:lnTo>
                    <a:pt x="443105" y="52421"/>
                  </a:lnTo>
                  <a:lnTo>
                    <a:pt x="448050" y="62990"/>
                  </a:lnTo>
                  <a:lnTo>
                    <a:pt x="455733" y="71738"/>
                  </a:lnTo>
                  <a:lnTo>
                    <a:pt x="465698" y="78054"/>
                  </a:lnTo>
                  <a:lnTo>
                    <a:pt x="465698" y="206407"/>
                  </a:lnTo>
                  <a:lnTo>
                    <a:pt x="587384" y="271461"/>
                  </a:lnTo>
                  <a:lnTo>
                    <a:pt x="587384" y="274697"/>
                  </a:lnTo>
                  <a:lnTo>
                    <a:pt x="585796" y="276288"/>
                  </a:lnTo>
                  <a:lnTo>
                    <a:pt x="585796" y="277933"/>
                  </a:lnTo>
                  <a:lnTo>
                    <a:pt x="587846" y="290887"/>
                  </a:lnTo>
                  <a:lnTo>
                    <a:pt x="593695" y="302316"/>
                  </a:lnTo>
                  <a:lnTo>
                    <a:pt x="602892" y="311306"/>
                  </a:lnTo>
                  <a:lnTo>
                    <a:pt x="614985" y="316944"/>
                  </a:lnTo>
                  <a:lnTo>
                    <a:pt x="614985" y="578603"/>
                  </a:lnTo>
                  <a:lnTo>
                    <a:pt x="602892" y="584928"/>
                  </a:lnTo>
                  <a:lnTo>
                    <a:pt x="593695" y="593842"/>
                  </a:lnTo>
                  <a:lnTo>
                    <a:pt x="587846" y="604889"/>
                  </a:lnTo>
                  <a:lnTo>
                    <a:pt x="585796" y="617614"/>
                  </a:lnTo>
                  <a:lnTo>
                    <a:pt x="585796" y="620861"/>
                  </a:lnTo>
                  <a:lnTo>
                    <a:pt x="587384" y="622484"/>
                  </a:lnTo>
                  <a:lnTo>
                    <a:pt x="587384" y="625737"/>
                  </a:lnTo>
                  <a:lnTo>
                    <a:pt x="360223" y="755758"/>
                  </a:lnTo>
                  <a:lnTo>
                    <a:pt x="425403" y="755758"/>
                  </a:lnTo>
                  <a:lnTo>
                    <a:pt x="605237" y="651742"/>
                  </a:lnTo>
                  <a:lnTo>
                    <a:pt x="648894" y="651742"/>
                  </a:lnTo>
                  <a:lnTo>
                    <a:pt x="656777" y="646460"/>
                  </a:lnTo>
                  <a:lnTo>
                    <a:pt x="665399" y="633561"/>
                  </a:lnTo>
                  <a:lnTo>
                    <a:pt x="668544" y="617614"/>
                  </a:lnTo>
                  <a:lnTo>
                    <a:pt x="667074" y="606997"/>
                  </a:lnTo>
                  <a:lnTo>
                    <a:pt x="662862" y="597295"/>
                  </a:lnTo>
                  <a:lnTo>
                    <a:pt x="656207" y="588813"/>
                  </a:lnTo>
                  <a:lnTo>
                    <a:pt x="647405" y="581856"/>
                  </a:lnTo>
                  <a:lnTo>
                    <a:pt x="647405" y="313691"/>
                  </a:lnTo>
                  <a:lnTo>
                    <a:pt x="656207" y="307648"/>
                  </a:lnTo>
                  <a:lnTo>
                    <a:pt x="662862" y="299471"/>
                  </a:lnTo>
                  <a:lnTo>
                    <a:pt x="667074" y="289465"/>
                  </a:lnTo>
                  <a:lnTo>
                    <a:pt x="668544" y="277933"/>
                  </a:lnTo>
                  <a:lnTo>
                    <a:pt x="665399" y="261979"/>
                  </a:lnTo>
                  <a:lnTo>
                    <a:pt x="656777" y="249074"/>
                  </a:lnTo>
                  <a:lnTo>
                    <a:pt x="648931" y="243815"/>
                  </a:lnTo>
                  <a:lnTo>
                    <a:pt x="605237" y="243815"/>
                  </a:lnTo>
                  <a:lnTo>
                    <a:pt x="498151" y="186934"/>
                  </a:lnTo>
                  <a:lnTo>
                    <a:pt x="498151" y="78054"/>
                  </a:lnTo>
                  <a:lnTo>
                    <a:pt x="508113" y="71738"/>
                  </a:lnTo>
                  <a:lnTo>
                    <a:pt x="515795" y="62990"/>
                  </a:lnTo>
                  <a:lnTo>
                    <a:pt x="520739" y="52421"/>
                  </a:lnTo>
                  <a:lnTo>
                    <a:pt x="522488" y="40645"/>
                  </a:lnTo>
                  <a:lnTo>
                    <a:pt x="519345" y="24690"/>
                  </a:lnTo>
                  <a:lnTo>
                    <a:pt x="510725" y="11786"/>
                  </a:lnTo>
                  <a:lnTo>
                    <a:pt x="497846" y="3149"/>
                  </a:lnTo>
                  <a:lnTo>
                    <a:pt x="481925" y="0"/>
                  </a:lnTo>
                  <a:close/>
                </a:path>
                <a:path w="668654" h="829310">
                  <a:moveTo>
                    <a:pt x="48679" y="237288"/>
                  </a:moveTo>
                  <a:lnTo>
                    <a:pt x="40566" y="237288"/>
                  </a:lnTo>
                  <a:lnTo>
                    <a:pt x="24644" y="240438"/>
                  </a:lnTo>
                  <a:lnTo>
                    <a:pt x="11764" y="249074"/>
                  </a:lnTo>
                  <a:lnTo>
                    <a:pt x="3143" y="261979"/>
                  </a:lnTo>
                  <a:lnTo>
                    <a:pt x="0" y="277933"/>
                  </a:lnTo>
                  <a:lnTo>
                    <a:pt x="1470" y="289491"/>
                  </a:lnTo>
                  <a:lnTo>
                    <a:pt x="5679" y="299674"/>
                  </a:lnTo>
                  <a:lnTo>
                    <a:pt x="12322" y="308333"/>
                  </a:lnTo>
                  <a:lnTo>
                    <a:pt x="21095" y="315315"/>
                  </a:lnTo>
                  <a:lnTo>
                    <a:pt x="21095" y="581856"/>
                  </a:lnTo>
                  <a:lnTo>
                    <a:pt x="12322" y="588128"/>
                  </a:lnTo>
                  <a:lnTo>
                    <a:pt x="5679" y="596686"/>
                  </a:lnTo>
                  <a:lnTo>
                    <a:pt x="1470" y="606769"/>
                  </a:lnTo>
                  <a:lnTo>
                    <a:pt x="0" y="617614"/>
                  </a:lnTo>
                  <a:lnTo>
                    <a:pt x="3143" y="633561"/>
                  </a:lnTo>
                  <a:lnTo>
                    <a:pt x="11764" y="646460"/>
                  </a:lnTo>
                  <a:lnTo>
                    <a:pt x="24644" y="655094"/>
                  </a:lnTo>
                  <a:lnTo>
                    <a:pt x="40566" y="658242"/>
                  </a:lnTo>
                  <a:lnTo>
                    <a:pt x="48679" y="658242"/>
                  </a:lnTo>
                  <a:lnTo>
                    <a:pt x="55171" y="656619"/>
                  </a:lnTo>
                  <a:lnTo>
                    <a:pt x="61660" y="651742"/>
                  </a:lnTo>
                  <a:lnTo>
                    <a:pt x="126245" y="651742"/>
                  </a:lnTo>
                  <a:lnTo>
                    <a:pt x="81134" y="625737"/>
                  </a:lnTo>
                  <a:lnTo>
                    <a:pt x="81134" y="617614"/>
                  </a:lnTo>
                  <a:lnTo>
                    <a:pt x="79106" y="604889"/>
                  </a:lnTo>
                  <a:lnTo>
                    <a:pt x="73426" y="593842"/>
                  </a:lnTo>
                  <a:lnTo>
                    <a:pt x="64703" y="584928"/>
                  </a:lnTo>
                  <a:lnTo>
                    <a:pt x="53544" y="578603"/>
                  </a:lnTo>
                  <a:lnTo>
                    <a:pt x="53544" y="316944"/>
                  </a:lnTo>
                  <a:lnTo>
                    <a:pt x="64703" y="310621"/>
                  </a:lnTo>
                  <a:lnTo>
                    <a:pt x="73426" y="301707"/>
                  </a:lnTo>
                  <a:lnTo>
                    <a:pt x="79106" y="290658"/>
                  </a:lnTo>
                  <a:lnTo>
                    <a:pt x="81134" y="277933"/>
                  </a:lnTo>
                  <a:lnTo>
                    <a:pt x="81134" y="276288"/>
                  </a:lnTo>
                  <a:lnTo>
                    <a:pt x="79508" y="274697"/>
                  </a:lnTo>
                  <a:lnTo>
                    <a:pt x="79508" y="271461"/>
                  </a:lnTo>
                  <a:lnTo>
                    <a:pt x="130664" y="243815"/>
                  </a:lnTo>
                  <a:lnTo>
                    <a:pt x="61660" y="243815"/>
                  </a:lnTo>
                  <a:lnTo>
                    <a:pt x="48679" y="237288"/>
                  </a:lnTo>
                  <a:close/>
                </a:path>
                <a:path w="668654" h="829310">
                  <a:moveTo>
                    <a:pt x="648894" y="651742"/>
                  </a:moveTo>
                  <a:lnTo>
                    <a:pt x="605237" y="651742"/>
                  </a:lnTo>
                  <a:lnTo>
                    <a:pt x="611754" y="656619"/>
                  </a:lnTo>
                  <a:lnTo>
                    <a:pt x="619859" y="658242"/>
                  </a:lnTo>
                  <a:lnTo>
                    <a:pt x="627964" y="658242"/>
                  </a:lnTo>
                  <a:lnTo>
                    <a:pt x="643893" y="655094"/>
                  </a:lnTo>
                  <a:lnTo>
                    <a:pt x="648894" y="651742"/>
                  </a:lnTo>
                  <a:close/>
                </a:path>
                <a:path w="668654" h="829310">
                  <a:moveTo>
                    <a:pt x="186604" y="0"/>
                  </a:moveTo>
                  <a:lnTo>
                    <a:pt x="170682" y="3149"/>
                  </a:lnTo>
                  <a:lnTo>
                    <a:pt x="157801" y="11786"/>
                  </a:lnTo>
                  <a:lnTo>
                    <a:pt x="149179" y="24690"/>
                  </a:lnTo>
                  <a:lnTo>
                    <a:pt x="146035" y="40645"/>
                  </a:lnTo>
                  <a:lnTo>
                    <a:pt x="147785" y="52421"/>
                  </a:lnTo>
                  <a:lnTo>
                    <a:pt x="152729" y="62990"/>
                  </a:lnTo>
                  <a:lnTo>
                    <a:pt x="160412" y="71738"/>
                  </a:lnTo>
                  <a:lnTo>
                    <a:pt x="170378" y="78054"/>
                  </a:lnTo>
                  <a:lnTo>
                    <a:pt x="170378" y="185289"/>
                  </a:lnTo>
                  <a:lnTo>
                    <a:pt x="61660" y="243815"/>
                  </a:lnTo>
                  <a:lnTo>
                    <a:pt x="130664" y="243815"/>
                  </a:lnTo>
                  <a:lnTo>
                    <a:pt x="202831" y="204816"/>
                  </a:lnTo>
                  <a:lnTo>
                    <a:pt x="202831" y="78054"/>
                  </a:lnTo>
                  <a:lnTo>
                    <a:pt x="212795" y="71738"/>
                  </a:lnTo>
                  <a:lnTo>
                    <a:pt x="220476" y="62990"/>
                  </a:lnTo>
                  <a:lnTo>
                    <a:pt x="225419" y="52421"/>
                  </a:lnTo>
                  <a:lnTo>
                    <a:pt x="227168" y="40645"/>
                  </a:lnTo>
                  <a:lnTo>
                    <a:pt x="224024" y="24690"/>
                  </a:lnTo>
                  <a:lnTo>
                    <a:pt x="215405" y="11786"/>
                  </a:lnTo>
                  <a:lnTo>
                    <a:pt x="202526" y="3149"/>
                  </a:lnTo>
                  <a:lnTo>
                    <a:pt x="186604" y="0"/>
                  </a:lnTo>
                  <a:close/>
                </a:path>
                <a:path w="668654" h="829310">
                  <a:moveTo>
                    <a:pt x="627964" y="237288"/>
                  </a:moveTo>
                  <a:lnTo>
                    <a:pt x="619859" y="237288"/>
                  </a:lnTo>
                  <a:lnTo>
                    <a:pt x="611754" y="240579"/>
                  </a:lnTo>
                  <a:lnTo>
                    <a:pt x="605237" y="243815"/>
                  </a:lnTo>
                  <a:lnTo>
                    <a:pt x="648931" y="243815"/>
                  </a:lnTo>
                  <a:lnTo>
                    <a:pt x="643893" y="240438"/>
                  </a:lnTo>
                  <a:lnTo>
                    <a:pt x="627964" y="237288"/>
                  </a:lnTo>
                  <a:close/>
                </a:path>
              </a:pathLst>
            </a:custGeom>
            <a:solidFill>
              <a:srgbClr val="1D70B8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6" name="object 6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11164899" y="466804"/>
              <a:ext cx="115207" cy="115408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1195725" y="236043"/>
              <a:ext cx="79511" cy="79644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1293085" y="336806"/>
              <a:ext cx="95738" cy="95880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1150293" y="954381"/>
              <a:ext cx="193092" cy="203154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11054555" y="855264"/>
              <a:ext cx="386080" cy="388620"/>
            </a:xfrm>
            <a:custGeom>
              <a:avLst/>
              <a:gdLst/>
              <a:ahLst/>
              <a:cxnLst/>
              <a:rect l="l" t="t" r="r" b="b"/>
              <a:pathLst>
                <a:path w="386079" h="388619">
                  <a:moveTo>
                    <a:pt x="193097" y="0"/>
                  </a:moveTo>
                  <a:lnTo>
                    <a:pt x="148680" y="5173"/>
                  </a:lnTo>
                  <a:lnTo>
                    <a:pt x="107980" y="19896"/>
                  </a:lnTo>
                  <a:lnTo>
                    <a:pt x="72135" y="42977"/>
                  </a:lnTo>
                  <a:lnTo>
                    <a:pt x="42279" y="73222"/>
                  </a:lnTo>
                  <a:lnTo>
                    <a:pt x="19547" y="109438"/>
                  </a:lnTo>
                  <a:lnTo>
                    <a:pt x="5076" y="150431"/>
                  </a:lnTo>
                  <a:lnTo>
                    <a:pt x="0" y="195008"/>
                  </a:lnTo>
                  <a:lnTo>
                    <a:pt x="5076" y="238984"/>
                  </a:lnTo>
                  <a:lnTo>
                    <a:pt x="19547" y="279548"/>
                  </a:lnTo>
                  <a:lnTo>
                    <a:pt x="42279" y="315478"/>
                  </a:lnTo>
                  <a:lnTo>
                    <a:pt x="72135" y="345552"/>
                  </a:lnTo>
                  <a:lnTo>
                    <a:pt x="107980" y="368547"/>
                  </a:lnTo>
                  <a:lnTo>
                    <a:pt x="148680" y="383241"/>
                  </a:lnTo>
                  <a:lnTo>
                    <a:pt x="193097" y="388410"/>
                  </a:lnTo>
                  <a:lnTo>
                    <a:pt x="224080" y="385059"/>
                  </a:lnTo>
                  <a:lnTo>
                    <a:pt x="253541" y="377440"/>
                  </a:lnTo>
                  <a:lnTo>
                    <a:pt x="281175" y="365555"/>
                  </a:lnTo>
                  <a:lnTo>
                    <a:pt x="296414" y="355905"/>
                  </a:lnTo>
                  <a:lnTo>
                    <a:pt x="193097" y="355905"/>
                  </a:lnTo>
                  <a:lnTo>
                    <a:pt x="150090" y="350081"/>
                  </a:lnTo>
                  <a:lnTo>
                    <a:pt x="111365" y="333694"/>
                  </a:lnTo>
                  <a:lnTo>
                    <a:pt x="78498" y="308368"/>
                  </a:lnTo>
                  <a:lnTo>
                    <a:pt x="53069" y="275728"/>
                  </a:lnTo>
                  <a:lnTo>
                    <a:pt x="36654" y="237400"/>
                  </a:lnTo>
                  <a:lnTo>
                    <a:pt x="30832" y="195008"/>
                  </a:lnTo>
                  <a:lnTo>
                    <a:pt x="36654" y="151930"/>
                  </a:lnTo>
                  <a:lnTo>
                    <a:pt x="53069" y="113140"/>
                  </a:lnTo>
                  <a:lnTo>
                    <a:pt x="78498" y="80218"/>
                  </a:lnTo>
                  <a:lnTo>
                    <a:pt x="111365" y="54746"/>
                  </a:lnTo>
                  <a:lnTo>
                    <a:pt x="150090" y="38304"/>
                  </a:lnTo>
                  <a:lnTo>
                    <a:pt x="193097" y="32472"/>
                  </a:lnTo>
                  <a:lnTo>
                    <a:pt x="326658" y="32472"/>
                  </a:lnTo>
                  <a:lnTo>
                    <a:pt x="324531" y="30881"/>
                  </a:lnTo>
                  <a:lnTo>
                    <a:pt x="295325" y="30881"/>
                  </a:lnTo>
                  <a:lnTo>
                    <a:pt x="271365" y="17818"/>
                  </a:lnTo>
                  <a:lnTo>
                    <a:pt x="246035" y="8118"/>
                  </a:lnTo>
                  <a:lnTo>
                    <a:pt x="219794" y="2079"/>
                  </a:lnTo>
                  <a:lnTo>
                    <a:pt x="193097" y="0"/>
                  </a:lnTo>
                  <a:close/>
                </a:path>
                <a:path w="386079" h="388619">
                  <a:moveTo>
                    <a:pt x="376453" y="162503"/>
                  </a:moveTo>
                  <a:lnTo>
                    <a:pt x="363474" y="162503"/>
                  </a:lnTo>
                  <a:lnTo>
                    <a:pt x="353737" y="172256"/>
                  </a:lnTo>
                  <a:lnTo>
                    <a:pt x="353737" y="180379"/>
                  </a:lnTo>
                  <a:lnTo>
                    <a:pt x="354356" y="190562"/>
                  </a:lnTo>
                  <a:lnTo>
                    <a:pt x="354305" y="202930"/>
                  </a:lnTo>
                  <a:lnTo>
                    <a:pt x="340756" y="257985"/>
                  </a:lnTo>
                  <a:lnTo>
                    <a:pt x="318042" y="295771"/>
                  </a:lnTo>
                  <a:lnTo>
                    <a:pt x="270907" y="335338"/>
                  </a:lnTo>
                  <a:lnTo>
                    <a:pt x="220657" y="353518"/>
                  </a:lnTo>
                  <a:lnTo>
                    <a:pt x="193097" y="355905"/>
                  </a:lnTo>
                  <a:lnTo>
                    <a:pt x="296414" y="355905"/>
                  </a:lnTo>
                  <a:lnTo>
                    <a:pt x="334268" y="325023"/>
                  </a:lnTo>
                  <a:lnTo>
                    <a:pt x="367937" y="275658"/>
                  </a:lnTo>
                  <a:lnTo>
                    <a:pt x="384569" y="217761"/>
                  </a:lnTo>
                  <a:lnTo>
                    <a:pt x="385937" y="190562"/>
                  </a:lnTo>
                  <a:lnTo>
                    <a:pt x="384569" y="177127"/>
                  </a:lnTo>
                  <a:lnTo>
                    <a:pt x="384569" y="172256"/>
                  </a:lnTo>
                  <a:lnTo>
                    <a:pt x="382948" y="169003"/>
                  </a:lnTo>
                  <a:lnTo>
                    <a:pt x="376453" y="162503"/>
                  </a:lnTo>
                  <a:close/>
                </a:path>
                <a:path w="386079" h="388619">
                  <a:moveTo>
                    <a:pt x="326658" y="32472"/>
                  </a:moveTo>
                  <a:lnTo>
                    <a:pt x="193097" y="32472"/>
                  </a:lnTo>
                  <a:lnTo>
                    <a:pt x="214952" y="33998"/>
                  </a:lnTo>
                  <a:lnTo>
                    <a:pt x="236503" y="38573"/>
                  </a:lnTo>
                  <a:lnTo>
                    <a:pt x="257445" y="46196"/>
                  </a:lnTo>
                  <a:lnTo>
                    <a:pt x="277472" y="56864"/>
                  </a:lnTo>
                  <a:lnTo>
                    <a:pt x="277472" y="58488"/>
                  </a:lnTo>
                  <a:lnTo>
                    <a:pt x="279780" y="71108"/>
                  </a:lnTo>
                  <a:lnTo>
                    <a:pt x="286196" y="81444"/>
                  </a:lnTo>
                  <a:lnTo>
                    <a:pt x="295958" y="88428"/>
                  </a:lnTo>
                  <a:lnTo>
                    <a:pt x="308305" y="90993"/>
                  </a:lnTo>
                  <a:lnTo>
                    <a:pt x="320905" y="88428"/>
                  </a:lnTo>
                  <a:lnTo>
                    <a:pt x="331224" y="81444"/>
                  </a:lnTo>
                  <a:lnTo>
                    <a:pt x="338197" y="71108"/>
                  </a:lnTo>
                  <a:lnTo>
                    <a:pt x="340758" y="58488"/>
                  </a:lnTo>
                  <a:lnTo>
                    <a:pt x="340758" y="50359"/>
                  </a:lnTo>
                  <a:lnTo>
                    <a:pt x="337510" y="42235"/>
                  </a:lnTo>
                  <a:lnTo>
                    <a:pt x="331021" y="35735"/>
                  </a:lnTo>
                  <a:lnTo>
                    <a:pt x="326658" y="32472"/>
                  </a:lnTo>
                  <a:close/>
                </a:path>
                <a:path w="386079" h="388619">
                  <a:moveTo>
                    <a:pt x="316415" y="27590"/>
                  </a:moveTo>
                  <a:lnTo>
                    <a:pt x="298567" y="27590"/>
                  </a:lnTo>
                  <a:lnTo>
                    <a:pt x="295325" y="30881"/>
                  </a:lnTo>
                  <a:lnTo>
                    <a:pt x="324531" y="30881"/>
                  </a:lnTo>
                  <a:lnTo>
                    <a:pt x="316415" y="27590"/>
                  </a:lnTo>
                  <a:close/>
                </a:path>
              </a:pathLst>
            </a:custGeom>
            <a:solidFill>
              <a:srgbClr val="1D70B8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4" name="Номер слайда 13"/>
          <p:cNvSpPr>
            <a:spLocks noGrp="1"/>
          </p:cNvSpPr>
          <p:nvPr>
            <p:ph type="sldNum" sz="quarter" idx="12"/>
          </p:nvPr>
        </p:nvSpPr>
        <p:spPr>
          <a:xfrm>
            <a:off x="11240770" y="6397625"/>
            <a:ext cx="626745" cy="274955"/>
          </a:xfrm>
        </p:spPr>
        <p:txBody>
          <a:bodyPr/>
          <a:lstStyle/>
          <a:p>
            <a:pPr marL="38100">
              <a:lnSpc>
                <a:spcPts val="2145"/>
              </a:lnSpc>
            </a:pPr>
            <a:fld id="{81D60167-4931-47E6-BA6A-407CBD079E47}" type="slidenum">
              <a:rPr lang="ru-RU" sz="2400" b="0" smtClean="0"/>
            </a:fld>
            <a:endParaRPr lang="ru-RU" sz="2400" b="0" dirty="0"/>
          </a:p>
        </p:txBody>
      </p:sp>
      <p:pic>
        <p:nvPicPr>
          <p:cNvPr id="11" name="Изображение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0690" y="1043940"/>
            <a:ext cx="9999980" cy="4217035"/>
          </a:xfrm>
          <a:prstGeom prst="rect">
            <a:avLst/>
          </a:prstGeom>
        </p:spPr>
      </p:pic>
      <p:sp>
        <p:nvSpPr>
          <p:cNvPr id="12" name="Текстовое поле 11"/>
          <p:cNvSpPr txBox="1"/>
          <p:nvPr/>
        </p:nvSpPr>
        <p:spPr>
          <a:xfrm>
            <a:off x="479425" y="675640"/>
            <a:ext cx="91516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b="1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Стадия </a:t>
            </a:r>
            <a:r>
              <a:rPr lang="ru-RU" altLang="en-US" b="1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</a:t>
            </a:r>
            <a:r>
              <a:rPr lang="en-US" altLang="en-US" b="1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:</a:t>
            </a:r>
            <a:r>
              <a:rPr lang="en-US" alt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Механизм кэпирования при фосфорамидитном синтезе олигонуклеотидов.</a:t>
            </a:r>
            <a:endParaRPr lang="ru-RU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493776" y="1043939"/>
            <a:ext cx="9946005" cy="0"/>
          </a:xfrm>
          <a:custGeom>
            <a:avLst/>
            <a:gdLst/>
            <a:ahLst/>
            <a:cxnLst/>
            <a:rect l="l" t="t" r="r" b="b"/>
            <a:pathLst>
              <a:path w="9946005">
                <a:moveTo>
                  <a:pt x="0" y="0"/>
                </a:moveTo>
                <a:lnTo>
                  <a:pt x="9946005" y="0"/>
                </a:lnTo>
              </a:path>
            </a:pathLst>
          </a:custGeom>
          <a:ln w="6096">
            <a:solidFill>
              <a:srgbClr val="5B9BD4"/>
            </a:solidFill>
          </a:ln>
        </p:spPr>
        <p:txBody>
          <a:bodyPr wrap="square" lIns="0" tIns="0" rIns="0" bIns="0" rtlCol="0"/>
          <a:lstStyle/>
          <a:p/>
        </p:txBody>
      </p:sp>
      <p:grpSp>
        <p:nvGrpSpPr>
          <p:cNvPr id="4" name="object 4"/>
          <p:cNvGrpSpPr/>
          <p:nvPr/>
        </p:nvGrpSpPr>
        <p:grpSpPr>
          <a:xfrm>
            <a:off x="10913388" y="236043"/>
            <a:ext cx="668655" cy="1195070"/>
            <a:chOff x="10913388" y="236043"/>
            <a:chExt cx="668655" cy="1195070"/>
          </a:xfrm>
        </p:grpSpPr>
        <p:sp>
          <p:nvSpPr>
            <p:cNvPr id="5" name="object 5"/>
            <p:cNvSpPr/>
            <p:nvPr/>
          </p:nvSpPr>
          <p:spPr>
            <a:xfrm>
              <a:off x="10913388" y="601685"/>
              <a:ext cx="668655" cy="829310"/>
            </a:xfrm>
            <a:custGeom>
              <a:avLst/>
              <a:gdLst/>
              <a:ahLst/>
              <a:cxnLst/>
              <a:rect l="l" t="t" r="r" b="b"/>
              <a:pathLst>
                <a:path w="668654" h="829310">
                  <a:moveTo>
                    <a:pt x="126245" y="651742"/>
                  </a:moveTo>
                  <a:lnTo>
                    <a:pt x="61660" y="651742"/>
                  </a:lnTo>
                  <a:lnTo>
                    <a:pt x="293695" y="785010"/>
                  </a:lnTo>
                  <a:lnTo>
                    <a:pt x="293695" y="788261"/>
                  </a:lnTo>
                  <a:lnTo>
                    <a:pt x="296840" y="803522"/>
                  </a:lnTo>
                  <a:lnTo>
                    <a:pt x="305461" y="816499"/>
                  </a:lnTo>
                  <a:lnTo>
                    <a:pt x="318342" y="825514"/>
                  </a:lnTo>
                  <a:lnTo>
                    <a:pt x="334264" y="828892"/>
                  </a:lnTo>
                  <a:lnTo>
                    <a:pt x="350186" y="825514"/>
                  </a:lnTo>
                  <a:lnTo>
                    <a:pt x="363065" y="816499"/>
                  </a:lnTo>
                  <a:lnTo>
                    <a:pt x="371685" y="803522"/>
                  </a:lnTo>
                  <a:lnTo>
                    <a:pt x="374828" y="788261"/>
                  </a:lnTo>
                  <a:lnTo>
                    <a:pt x="374828" y="785010"/>
                  </a:lnTo>
                  <a:lnTo>
                    <a:pt x="425403" y="755758"/>
                  </a:lnTo>
                  <a:lnTo>
                    <a:pt x="306680" y="755758"/>
                  </a:lnTo>
                  <a:lnTo>
                    <a:pt x="126245" y="651742"/>
                  </a:lnTo>
                  <a:close/>
                </a:path>
                <a:path w="668654" h="829310">
                  <a:moveTo>
                    <a:pt x="334061" y="747226"/>
                  </a:moveTo>
                  <a:lnTo>
                    <a:pt x="319838" y="749359"/>
                  </a:lnTo>
                  <a:lnTo>
                    <a:pt x="306680" y="755758"/>
                  </a:lnTo>
                  <a:lnTo>
                    <a:pt x="360223" y="755758"/>
                  </a:lnTo>
                  <a:lnTo>
                    <a:pt x="347979" y="749359"/>
                  </a:lnTo>
                  <a:lnTo>
                    <a:pt x="334061" y="747226"/>
                  </a:lnTo>
                  <a:close/>
                </a:path>
                <a:path w="668654" h="829310">
                  <a:moveTo>
                    <a:pt x="481925" y="0"/>
                  </a:moveTo>
                  <a:lnTo>
                    <a:pt x="466002" y="3149"/>
                  </a:lnTo>
                  <a:lnTo>
                    <a:pt x="453122" y="11786"/>
                  </a:lnTo>
                  <a:lnTo>
                    <a:pt x="444500" y="24690"/>
                  </a:lnTo>
                  <a:lnTo>
                    <a:pt x="441355" y="40645"/>
                  </a:lnTo>
                  <a:lnTo>
                    <a:pt x="443105" y="52421"/>
                  </a:lnTo>
                  <a:lnTo>
                    <a:pt x="448050" y="62990"/>
                  </a:lnTo>
                  <a:lnTo>
                    <a:pt x="455733" y="71738"/>
                  </a:lnTo>
                  <a:lnTo>
                    <a:pt x="465698" y="78054"/>
                  </a:lnTo>
                  <a:lnTo>
                    <a:pt x="465698" y="206407"/>
                  </a:lnTo>
                  <a:lnTo>
                    <a:pt x="587384" y="271461"/>
                  </a:lnTo>
                  <a:lnTo>
                    <a:pt x="587384" y="274697"/>
                  </a:lnTo>
                  <a:lnTo>
                    <a:pt x="585796" y="276288"/>
                  </a:lnTo>
                  <a:lnTo>
                    <a:pt x="585796" y="277933"/>
                  </a:lnTo>
                  <a:lnTo>
                    <a:pt x="587846" y="290887"/>
                  </a:lnTo>
                  <a:lnTo>
                    <a:pt x="593695" y="302316"/>
                  </a:lnTo>
                  <a:lnTo>
                    <a:pt x="602892" y="311306"/>
                  </a:lnTo>
                  <a:lnTo>
                    <a:pt x="614985" y="316944"/>
                  </a:lnTo>
                  <a:lnTo>
                    <a:pt x="614985" y="578603"/>
                  </a:lnTo>
                  <a:lnTo>
                    <a:pt x="602892" y="584928"/>
                  </a:lnTo>
                  <a:lnTo>
                    <a:pt x="593695" y="593842"/>
                  </a:lnTo>
                  <a:lnTo>
                    <a:pt x="587846" y="604889"/>
                  </a:lnTo>
                  <a:lnTo>
                    <a:pt x="585796" y="617614"/>
                  </a:lnTo>
                  <a:lnTo>
                    <a:pt x="585796" y="620861"/>
                  </a:lnTo>
                  <a:lnTo>
                    <a:pt x="587384" y="622484"/>
                  </a:lnTo>
                  <a:lnTo>
                    <a:pt x="587384" y="625737"/>
                  </a:lnTo>
                  <a:lnTo>
                    <a:pt x="360223" y="755758"/>
                  </a:lnTo>
                  <a:lnTo>
                    <a:pt x="425403" y="755758"/>
                  </a:lnTo>
                  <a:lnTo>
                    <a:pt x="605237" y="651742"/>
                  </a:lnTo>
                  <a:lnTo>
                    <a:pt x="648894" y="651742"/>
                  </a:lnTo>
                  <a:lnTo>
                    <a:pt x="656777" y="646460"/>
                  </a:lnTo>
                  <a:lnTo>
                    <a:pt x="665399" y="633561"/>
                  </a:lnTo>
                  <a:lnTo>
                    <a:pt x="668544" y="617614"/>
                  </a:lnTo>
                  <a:lnTo>
                    <a:pt x="667074" y="606997"/>
                  </a:lnTo>
                  <a:lnTo>
                    <a:pt x="662862" y="597295"/>
                  </a:lnTo>
                  <a:lnTo>
                    <a:pt x="656207" y="588813"/>
                  </a:lnTo>
                  <a:lnTo>
                    <a:pt x="647405" y="581856"/>
                  </a:lnTo>
                  <a:lnTo>
                    <a:pt x="647405" y="313691"/>
                  </a:lnTo>
                  <a:lnTo>
                    <a:pt x="656207" y="307648"/>
                  </a:lnTo>
                  <a:lnTo>
                    <a:pt x="662862" y="299471"/>
                  </a:lnTo>
                  <a:lnTo>
                    <a:pt x="667074" y="289465"/>
                  </a:lnTo>
                  <a:lnTo>
                    <a:pt x="668544" y="277933"/>
                  </a:lnTo>
                  <a:lnTo>
                    <a:pt x="665399" y="261979"/>
                  </a:lnTo>
                  <a:lnTo>
                    <a:pt x="656777" y="249074"/>
                  </a:lnTo>
                  <a:lnTo>
                    <a:pt x="648931" y="243815"/>
                  </a:lnTo>
                  <a:lnTo>
                    <a:pt x="605237" y="243815"/>
                  </a:lnTo>
                  <a:lnTo>
                    <a:pt x="498151" y="186934"/>
                  </a:lnTo>
                  <a:lnTo>
                    <a:pt x="498151" y="78054"/>
                  </a:lnTo>
                  <a:lnTo>
                    <a:pt x="508113" y="71738"/>
                  </a:lnTo>
                  <a:lnTo>
                    <a:pt x="515795" y="62990"/>
                  </a:lnTo>
                  <a:lnTo>
                    <a:pt x="520739" y="52421"/>
                  </a:lnTo>
                  <a:lnTo>
                    <a:pt x="522488" y="40645"/>
                  </a:lnTo>
                  <a:lnTo>
                    <a:pt x="519345" y="24690"/>
                  </a:lnTo>
                  <a:lnTo>
                    <a:pt x="510725" y="11786"/>
                  </a:lnTo>
                  <a:lnTo>
                    <a:pt x="497846" y="3149"/>
                  </a:lnTo>
                  <a:lnTo>
                    <a:pt x="481925" y="0"/>
                  </a:lnTo>
                  <a:close/>
                </a:path>
                <a:path w="668654" h="829310">
                  <a:moveTo>
                    <a:pt x="48679" y="237288"/>
                  </a:moveTo>
                  <a:lnTo>
                    <a:pt x="40566" y="237288"/>
                  </a:lnTo>
                  <a:lnTo>
                    <a:pt x="24644" y="240438"/>
                  </a:lnTo>
                  <a:lnTo>
                    <a:pt x="11764" y="249074"/>
                  </a:lnTo>
                  <a:lnTo>
                    <a:pt x="3143" y="261979"/>
                  </a:lnTo>
                  <a:lnTo>
                    <a:pt x="0" y="277933"/>
                  </a:lnTo>
                  <a:lnTo>
                    <a:pt x="1470" y="289491"/>
                  </a:lnTo>
                  <a:lnTo>
                    <a:pt x="5679" y="299674"/>
                  </a:lnTo>
                  <a:lnTo>
                    <a:pt x="12322" y="308333"/>
                  </a:lnTo>
                  <a:lnTo>
                    <a:pt x="21095" y="315315"/>
                  </a:lnTo>
                  <a:lnTo>
                    <a:pt x="21095" y="581856"/>
                  </a:lnTo>
                  <a:lnTo>
                    <a:pt x="12322" y="588128"/>
                  </a:lnTo>
                  <a:lnTo>
                    <a:pt x="5679" y="596686"/>
                  </a:lnTo>
                  <a:lnTo>
                    <a:pt x="1470" y="606769"/>
                  </a:lnTo>
                  <a:lnTo>
                    <a:pt x="0" y="617614"/>
                  </a:lnTo>
                  <a:lnTo>
                    <a:pt x="3143" y="633561"/>
                  </a:lnTo>
                  <a:lnTo>
                    <a:pt x="11764" y="646460"/>
                  </a:lnTo>
                  <a:lnTo>
                    <a:pt x="24644" y="655094"/>
                  </a:lnTo>
                  <a:lnTo>
                    <a:pt x="40566" y="658242"/>
                  </a:lnTo>
                  <a:lnTo>
                    <a:pt x="48679" y="658242"/>
                  </a:lnTo>
                  <a:lnTo>
                    <a:pt x="55171" y="656619"/>
                  </a:lnTo>
                  <a:lnTo>
                    <a:pt x="61660" y="651742"/>
                  </a:lnTo>
                  <a:lnTo>
                    <a:pt x="126245" y="651742"/>
                  </a:lnTo>
                  <a:lnTo>
                    <a:pt x="81134" y="625737"/>
                  </a:lnTo>
                  <a:lnTo>
                    <a:pt x="81134" y="617614"/>
                  </a:lnTo>
                  <a:lnTo>
                    <a:pt x="79106" y="604889"/>
                  </a:lnTo>
                  <a:lnTo>
                    <a:pt x="73426" y="593842"/>
                  </a:lnTo>
                  <a:lnTo>
                    <a:pt x="64703" y="584928"/>
                  </a:lnTo>
                  <a:lnTo>
                    <a:pt x="53544" y="578603"/>
                  </a:lnTo>
                  <a:lnTo>
                    <a:pt x="53544" y="316944"/>
                  </a:lnTo>
                  <a:lnTo>
                    <a:pt x="64703" y="310621"/>
                  </a:lnTo>
                  <a:lnTo>
                    <a:pt x="73426" y="301707"/>
                  </a:lnTo>
                  <a:lnTo>
                    <a:pt x="79106" y="290658"/>
                  </a:lnTo>
                  <a:lnTo>
                    <a:pt x="81134" y="277933"/>
                  </a:lnTo>
                  <a:lnTo>
                    <a:pt x="81134" y="276288"/>
                  </a:lnTo>
                  <a:lnTo>
                    <a:pt x="79508" y="274697"/>
                  </a:lnTo>
                  <a:lnTo>
                    <a:pt x="79508" y="271461"/>
                  </a:lnTo>
                  <a:lnTo>
                    <a:pt x="130664" y="243815"/>
                  </a:lnTo>
                  <a:lnTo>
                    <a:pt x="61660" y="243815"/>
                  </a:lnTo>
                  <a:lnTo>
                    <a:pt x="48679" y="237288"/>
                  </a:lnTo>
                  <a:close/>
                </a:path>
                <a:path w="668654" h="829310">
                  <a:moveTo>
                    <a:pt x="648894" y="651742"/>
                  </a:moveTo>
                  <a:lnTo>
                    <a:pt x="605237" y="651742"/>
                  </a:lnTo>
                  <a:lnTo>
                    <a:pt x="611754" y="656619"/>
                  </a:lnTo>
                  <a:lnTo>
                    <a:pt x="619859" y="658242"/>
                  </a:lnTo>
                  <a:lnTo>
                    <a:pt x="627964" y="658242"/>
                  </a:lnTo>
                  <a:lnTo>
                    <a:pt x="643893" y="655094"/>
                  </a:lnTo>
                  <a:lnTo>
                    <a:pt x="648894" y="651742"/>
                  </a:lnTo>
                  <a:close/>
                </a:path>
                <a:path w="668654" h="829310">
                  <a:moveTo>
                    <a:pt x="186604" y="0"/>
                  </a:moveTo>
                  <a:lnTo>
                    <a:pt x="170682" y="3149"/>
                  </a:lnTo>
                  <a:lnTo>
                    <a:pt x="157801" y="11786"/>
                  </a:lnTo>
                  <a:lnTo>
                    <a:pt x="149179" y="24690"/>
                  </a:lnTo>
                  <a:lnTo>
                    <a:pt x="146035" y="40645"/>
                  </a:lnTo>
                  <a:lnTo>
                    <a:pt x="147785" y="52421"/>
                  </a:lnTo>
                  <a:lnTo>
                    <a:pt x="152729" y="62990"/>
                  </a:lnTo>
                  <a:lnTo>
                    <a:pt x="160412" y="71738"/>
                  </a:lnTo>
                  <a:lnTo>
                    <a:pt x="170378" y="78054"/>
                  </a:lnTo>
                  <a:lnTo>
                    <a:pt x="170378" y="185289"/>
                  </a:lnTo>
                  <a:lnTo>
                    <a:pt x="61660" y="243815"/>
                  </a:lnTo>
                  <a:lnTo>
                    <a:pt x="130664" y="243815"/>
                  </a:lnTo>
                  <a:lnTo>
                    <a:pt x="202831" y="204816"/>
                  </a:lnTo>
                  <a:lnTo>
                    <a:pt x="202831" y="78054"/>
                  </a:lnTo>
                  <a:lnTo>
                    <a:pt x="212795" y="71738"/>
                  </a:lnTo>
                  <a:lnTo>
                    <a:pt x="220476" y="62990"/>
                  </a:lnTo>
                  <a:lnTo>
                    <a:pt x="225419" y="52421"/>
                  </a:lnTo>
                  <a:lnTo>
                    <a:pt x="227168" y="40645"/>
                  </a:lnTo>
                  <a:lnTo>
                    <a:pt x="224024" y="24690"/>
                  </a:lnTo>
                  <a:lnTo>
                    <a:pt x="215405" y="11786"/>
                  </a:lnTo>
                  <a:lnTo>
                    <a:pt x="202526" y="3149"/>
                  </a:lnTo>
                  <a:lnTo>
                    <a:pt x="186604" y="0"/>
                  </a:lnTo>
                  <a:close/>
                </a:path>
                <a:path w="668654" h="829310">
                  <a:moveTo>
                    <a:pt x="627964" y="237288"/>
                  </a:moveTo>
                  <a:lnTo>
                    <a:pt x="619859" y="237288"/>
                  </a:lnTo>
                  <a:lnTo>
                    <a:pt x="611754" y="240579"/>
                  </a:lnTo>
                  <a:lnTo>
                    <a:pt x="605237" y="243815"/>
                  </a:lnTo>
                  <a:lnTo>
                    <a:pt x="648931" y="243815"/>
                  </a:lnTo>
                  <a:lnTo>
                    <a:pt x="643893" y="240438"/>
                  </a:lnTo>
                  <a:lnTo>
                    <a:pt x="627964" y="237288"/>
                  </a:lnTo>
                  <a:close/>
                </a:path>
              </a:pathLst>
            </a:custGeom>
            <a:solidFill>
              <a:srgbClr val="1D70B8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6" name="object 6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11164899" y="466804"/>
              <a:ext cx="115207" cy="115408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1195725" y="236043"/>
              <a:ext cx="79511" cy="79644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1293085" y="336806"/>
              <a:ext cx="95738" cy="95880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1150293" y="954381"/>
              <a:ext cx="193092" cy="203154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11054555" y="855264"/>
              <a:ext cx="386080" cy="388620"/>
            </a:xfrm>
            <a:custGeom>
              <a:avLst/>
              <a:gdLst/>
              <a:ahLst/>
              <a:cxnLst/>
              <a:rect l="l" t="t" r="r" b="b"/>
              <a:pathLst>
                <a:path w="386079" h="388619">
                  <a:moveTo>
                    <a:pt x="193097" y="0"/>
                  </a:moveTo>
                  <a:lnTo>
                    <a:pt x="148680" y="5173"/>
                  </a:lnTo>
                  <a:lnTo>
                    <a:pt x="107980" y="19896"/>
                  </a:lnTo>
                  <a:lnTo>
                    <a:pt x="72135" y="42977"/>
                  </a:lnTo>
                  <a:lnTo>
                    <a:pt x="42279" y="73222"/>
                  </a:lnTo>
                  <a:lnTo>
                    <a:pt x="19547" y="109438"/>
                  </a:lnTo>
                  <a:lnTo>
                    <a:pt x="5076" y="150431"/>
                  </a:lnTo>
                  <a:lnTo>
                    <a:pt x="0" y="195008"/>
                  </a:lnTo>
                  <a:lnTo>
                    <a:pt x="5076" y="238984"/>
                  </a:lnTo>
                  <a:lnTo>
                    <a:pt x="19547" y="279548"/>
                  </a:lnTo>
                  <a:lnTo>
                    <a:pt x="42279" y="315478"/>
                  </a:lnTo>
                  <a:lnTo>
                    <a:pt x="72135" y="345552"/>
                  </a:lnTo>
                  <a:lnTo>
                    <a:pt x="107980" y="368547"/>
                  </a:lnTo>
                  <a:lnTo>
                    <a:pt x="148680" y="383241"/>
                  </a:lnTo>
                  <a:lnTo>
                    <a:pt x="193097" y="388410"/>
                  </a:lnTo>
                  <a:lnTo>
                    <a:pt x="224080" y="385059"/>
                  </a:lnTo>
                  <a:lnTo>
                    <a:pt x="253541" y="377440"/>
                  </a:lnTo>
                  <a:lnTo>
                    <a:pt x="281175" y="365555"/>
                  </a:lnTo>
                  <a:lnTo>
                    <a:pt x="296414" y="355905"/>
                  </a:lnTo>
                  <a:lnTo>
                    <a:pt x="193097" y="355905"/>
                  </a:lnTo>
                  <a:lnTo>
                    <a:pt x="150090" y="350081"/>
                  </a:lnTo>
                  <a:lnTo>
                    <a:pt x="111365" y="333694"/>
                  </a:lnTo>
                  <a:lnTo>
                    <a:pt x="78498" y="308368"/>
                  </a:lnTo>
                  <a:lnTo>
                    <a:pt x="53069" y="275728"/>
                  </a:lnTo>
                  <a:lnTo>
                    <a:pt x="36654" y="237400"/>
                  </a:lnTo>
                  <a:lnTo>
                    <a:pt x="30832" y="195008"/>
                  </a:lnTo>
                  <a:lnTo>
                    <a:pt x="36654" y="151930"/>
                  </a:lnTo>
                  <a:lnTo>
                    <a:pt x="53069" y="113140"/>
                  </a:lnTo>
                  <a:lnTo>
                    <a:pt x="78498" y="80218"/>
                  </a:lnTo>
                  <a:lnTo>
                    <a:pt x="111365" y="54746"/>
                  </a:lnTo>
                  <a:lnTo>
                    <a:pt x="150090" y="38304"/>
                  </a:lnTo>
                  <a:lnTo>
                    <a:pt x="193097" y="32472"/>
                  </a:lnTo>
                  <a:lnTo>
                    <a:pt x="326658" y="32472"/>
                  </a:lnTo>
                  <a:lnTo>
                    <a:pt x="324531" y="30881"/>
                  </a:lnTo>
                  <a:lnTo>
                    <a:pt x="295325" y="30881"/>
                  </a:lnTo>
                  <a:lnTo>
                    <a:pt x="271365" y="17818"/>
                  </a:lnTo>
                  <a:lnTo>
                    <a:pt x="246035" y="8118"/>
                  </a:lnTo>
                  <a:lnTo>
                    <a:pt x="219794" y="2079"/>
                  </a:lnTo>
                  <a:lnTo>
                    <a:pt x="193097" y="0"/>
                  </a:lnTo>
                  <a:close/>
                </a:path>
                <a:path w="386079" h="388619">
                  <a:moveTo>
                    <a:pt x="376453" y="162503"/>
                  </a:moveTo>
                  <a:lnTo>
                    <a:pt x="363474" y="162503"/>
                  </a:lnTo>
                  <a:lnTo>
                    <a:pt x="353737" y="172256"/>
                  </a:lnTo>
                  <a:lnTo>
                    <a:pt x="353737" y="180379"/>
                  </a:lnTo>
                  <a:lnTo>
                    <a:pt x="354356" y="190562"/>
                  </a:lnTo>
                  <a:lnTo>
                    <a:pt x="354305" y="202930"/>
                  </a:lnTo>
                  <a:lnTo>
                    <a:pt x="340756" y="257985"/>
                  </a:lnTo>
                  <a:lnTo>
                    <a:pt x="318042" y="295771"/>
                  </a:lnTo>
                  <a:lnTo>
                    <a:pt x="270907" y="335338"/>
                  </a:lnTo>
                  <a:lnTo>
                    <a:pt x="220657" y="353518"/>
                  </a:lnTo>
                  <a:lnTo>
                    <a:pt x="193097" y="355905"/>
                  </a:lnTo>
                  <a:lnTo>
                    <a:pt x="296414" y="355905"/>
                  </a:lnTo>
                  <a:lnTo>
                    <a:pt x="334268" y="325023"/>
                  </a:lnTo>
                  <a:lnTo>
                    <a:pt x="367937" y="275658"/>
                  </a:lnTo>
                  <a:lnTo>
                    <a:pt x="384569" y="217761"/>
                  </a:lnTo>
                  <a:lnTo>
                    <a:pt x="385937" y="190562"/>
                  </a:lnTo>
                  <a:lnTo>
                    <a:pt x="384569" y="177127"/>
                  </a:lnTo>
                  <a:lnTo>
                    <a:pt x="384569" y="172256"/>
                  </a:lnTo>
                  <a:lnTo>
                    <a:pt x="382948" y="169003"/>
                  </a:lnTo>
                  <a:lnTo>
                    <a:pt x="376453" y="162503"/>
                  </a:lnTo>
                  <a:close/>
                </a:path>
                <a:path w="386079" h="388619">
                  <a:moveTo>
                    <a:pt x="326658" y="32472"/>
                  </a:moveTo>
                  <a:lnTo>
                    <a:pt x="193097" y="32472"/>
                  </a:lnTo>
                  <a:lnTo>
                    <a:pt x="214952" y="33998"/>
                  </a:lnTo>
                  <a:lnTo>
                    <a:pt x="236503" y="38573"/>
                  </a:lnTo>
                  <a:lnTo>
                    <a:pt x="257445" y="46196"/>
                  </a:lnTo>
                  <a:lnTo>
                    <a:pt x="277472" y="56864"/>
                  </a:lnTo>
                  <a:lnTo>
                    <a:pt x="277472" y="58488"/>
                  </a:lnTo>
                  <a:lnTo>
                    <a:pt x="279780" y="71108"/>
                  </a:lnTo>
                  <a:lnTo>
                    <a:pt x="286196" y="81444"/>
                  </a:lnTo>
                  <a:lnTo>
                    <a:pt x="295958" y="88428"/>
                  </a:lnTo>
                  <a:lnTo>
                    <a:pt x="308305" y="90993"/>
                  </a:lnTo>
                  <a:lnTo>
                    <a:pt x="320905" y="88428"/>
                  </a:lnTo>
                  <a:lnTo>
                    <a:pt x="331224" y="81444"/>
                  </a:lnTo>
                  <a:lnTo>
                    <a:pt x="338197" y="71108"/>
                  </a:lnTo>
                  <a:lnTo>
                    <a:pt x="340758" y="58488"/>
                  </a:lnTo>
                  <a:lnTo>
                    <a:pt x="340758" y="50359"/>
                  </a:lnTo>
                  <a:lnTo>
                    <a:pt x="337510" y="42235"/>
                  </a:lnTo>
                  <a:lnTo>
                    <a:pt x="331021" y="35735"/>
                  </a:lnTo>
                  <a:lnTo>
                    <a:pt x="326658" y="32472"/>
                  </a:lnTo>
                  <a:close/>
                </a:path>
                <a:path w="386079" h="388619">
                  <a:moveTo>
                    <a:pt x="316415" y="27590"/>
                  </a:moveTo>
                  <a:lnTo>
                    <a:pt x="298567" y="27590"/>
                  </a:lnTo>
                  <a:lnTo>
                    <a:pt x="295325" y="30881"/>
                  </a:lnTo>
                  <a:lnTo>
                    <a:pt x="324531" y="30881"/>
                  </a:lnTo>
                  <a:lnTo>
                    <a:pt x="316415" y="27590"/>
                  </a:lnTo>
                  <a:close/>
                </a:path>
              </a:pathLst>
            </a:custGeom>
            <a:solidFill>
              <a:srgbClr val="1D70B8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4" name="Номер слайда 13"/>
          <p:cNvSpPr>
            <a:spLocks noGrp="1"/>
          </p:cNvSpPr>
          <p:nvPr>
            <p:ph type="sldNum" sz="quarter" idx="12"/>
          </p:nvPr>
        </p:nvSpPr>
        <p:spPr>
          <a:xfrm>
            <a:off x="11240770" y="6397625"/>
            <a:ext cx="626745" cy="274955"/>
          </a:xfrm>
        </p:spPr>
        <p:txBody>
          <a:bodyPr/>
          <a:lstStyle/>
          <a:p>
            <a:pPr marL="38100">
              <a:lnSpc>
                <a:spcPts val="2145"/>
              </a:lnSpc>
            </a:pPr>
            <a:fld id="{81D60167-4931-47E6-BA6A-407CBD079E47}" type="slidenum">
              <a:rPr lang="ru-RU" sz="2400" b="0" smtClean="0"/>
            </a:fld>
            <a:endParaRPr lang="ru-RU" sz="2400" b="0" dirty="0"/>
          </a:p>
        </p:txBody>
      </p:sp>
      <p:sp>
        <p:nvSpPr>
          <p:cNvPr id="12" name="Текстовое поле 11"/>
          <p:cNvSpPr txBox="1"/>
          <p:nvPr/>
        </p:nvSpPr>
        <p:spPr>
          <a:xfrm>
            <a:off x="479425" y="675640"/>
            <a:ext cx="91516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b="1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Стадия </a:t>
            </a:r>
            <a:r>
              <a:rPr lang="ru-RU" altLang="en-US" b="1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3</a:t>
            </a:r>
            <a:r>
              <a:rPr lang="en-US" altLang="en-US" b="1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:</a:t>
            </a:r>
            <a:r>
              <a:rPr lang="en-US" alt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Окисление фосфиттриэфира до фосфаттриэфира</a:t>
            </a:r>
            <a:endParaRPr lang="en-US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Изображение 1"/>
          <p:cNvPicPr>
            <a:picLocks noChangeAspect="1"/>
          </p:cNvPicPr>
          <p:nvPr/>
        </p:nvPicPr>
        <p:blipFill>
          <a:blip r:embed="rId5">
            <a:lum bright="12000"/>
          </a:blip>
          <a:stretch>
            <a:fillRect/>
          </a:stretch>
        </p:blipFill>
        <p:spPr>
          <a:xfrm>
            <a:off x="1485900" y="1104265"/>
            <a:ext cx="7933690" cy="575373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493776" y="1043939"/>
            <a:ext cx="9946005" cy="0"/>
          </a:xfrm>
          <a:custGeom>
            <a:avLst/>
            <a:gdLst/>
            <a:ahLst/>
            <a:cxnLst/>
            <a:rect l="l" t="t" r="r" b="b"/>
            <a:pathLst>
              <a:path w="9946005">
                <a:moveTo>
                  <a:pt x="0" y="0"/>
                </a:moveTo>
                <a:lnTo>
                  <a:pt x="9946005" y="0"/>
                </a:lnTo>
              </a:path>
            </a:pathLst>
          </a:custGeom>
          <a:ln w="6096">
            <a:solidFill>
              <a:srgbClr val="5B9BD4"/>
            </a:solidFill>
          </a:ln>
        </p:spPr>
        <p:txBody>
          <a:bodyPr wrap="square" lIns="0" tIns="0" rIns="0" bIns="0" rtlCol="0"/>
          <a:lstStyle/>
          <a:p/>
        </p:txBody>
      </p:sp>
      <p:grpSp>
        <p:nvGrpSpPr>
          <p:cNvPr id="4" name="object 4"/>
          <p:cNvGrpSpPr/>
          <p:nvPr/>
        </p:nvGrpSpPr>
        <p:grpSpPr>
          <a:xfrm>
            <a:off x="10913388" y="236043"/>
            <a:ext cx="668655" cy="1195070"/>
            <a:chOff x="10913388" y="236043"/>
            <a:chExt cx="668655" cy="1195070"/>
          </a:xfrm>
        </p:grpSpPr>
        <p:sp>
          <p:nvSpPr>
            <p:cNvPr id="5" name="object 5"/>
            <p:cNvSpPr/>
            <p:nvPr/>
          </p:nvSpPr>
          <p:spPr>
            <a:xfrm>
              <a:off x="10913388" y="601685"/>
              <a:ext cx="668655" cy="829310"/>
            </a:xfrm>
            <a:custGeom>
              <a:avLst/>
              <a:gdLst/>
              <a:ahLst/>
              <a:cxnLst/>
              <a:rect l="l" t="t" r="r" b="b"/>
              <a:pathLst>
                <a:path w="668654" h="829310">
                  <a:moveTo>
                    <a:pt x="126245" y="651742"/>
                  </a:moveTo>
                  <a:lnTo>
                    <a:pt x="61660" y="651742"/>
                  </a:lnTo>
                  <a:lnTo>
                    <a:pt x="293695" y="785010"/>
                  </a:lnTo>
                  <a:lnTo>
                    <a:pt x="293695" y="788261"/>
                  </a:lnTo>
                  <a:lnTo>
                    <a:pt x="296840" y="803522"/>
                  </a:lnTo>
                  <a:lnTo>
                    <a:pt x="305461" y="816499"/>
                  </a:lnTo>
                  <a:lnTo>
                    <a:pt x="318342" y="825514"/>
                  </a:lnTo>
                  <a:lnTo>
                    <a:pt x="334264" y="828892"/>
                  </a:lnTo>
                  <a:lnTo>
                    <a:pt x="350186" y="825514"/>
                  </a:lnTo>
                  <a:lnTo>
                    <a:pt x="363065" y="816499"/>
                  </a:lnTo>
                  <a:lnTo>
                    <a:pt x="371685" y="803522"/>
                  </a:lnTo>
                  <a:lnTo>
                    <a:pt x="374828" y="788261"/>
                  </a:lnTo>
                  <a:lnTo>
                    <a:pt x="374828" y="785010"/>
                  </a:lnTo>
                  <a:lnTo>
                    <a:pt x="425403" y="755758"/>
                  </a:lnTo>
                  <a:lnTo>
                    <a:pt x="306680" y="755758"/>
                  </a:lnTo>
                  <a:lnTo>
                    <a:pt x="126245" y="651742"/>
                  </a:lnTo>
                  <a:close/>
                </a:path>
                <a:path w="668654" h="829310">
                  <a:moveTo>
                    <a:pt x="334061" y="747226"/>
                  </a:moveTo>
                  <a:lnTo>
                    <a:pt x="319838" y="749359"/>
                  </a:lnTo>
                  <a:lnTo>
                    <a:pt x="306680" y="755758"/>
                  </a:lnTo>
                  <a:lnTo>
                    <a:pt x="360223" y="755758"/>
                  </a:lnTo>
                  <a:lnTo>
                    <a:pt x="347979" y="749359"/>
                  </a:lnTo>
                  <a:lnTo>
                    <a:pt x="334061" y="747226"/>
                  </a:lnTo>
                  <a:close/>
                </a:path>
                <a:path w="668654" h="829310">
                  <a:moveTo>
                    <a:pt x="481925" y="0"/>
                  </a:moveTo>
                  <a:lnTo>
                    <a:pt x="466002" y="3149"/>
                  </a:lnTo>
                  <a:lnTo>
                    <a:pt x="453122" y="11786"/>
                  </a:lnTo>
                  <a:lnTo>
                    <a:pt x="444500" y="24690"/>
                  </a:lnTo>
                  <a:lnTo>
                    <a:pt x="441355" y="40645"/>
                  </a:lnTo>
                  <a:lnTo>
                    <a:pt x="443105" y="52421"/>
                  </a:lnTo>
                  <a:lnTo>
                    <a:pt x="448050" y="62990"/>
                  </a:lnTo>
                  <a:lnTo>
                    <a:pt x="455733" y="71738"/>
                  </a:lnTo>
                  <a:lnTo>
                    <a:pt x="465698" y="78054"/>
                  </a:lnTo>
                  <a:lnTo>
                    <a:pt x="465698" y="206407"/>
                  </a:lnTo>
                  <a:lnTo>
                    <a:pt x="587384" y="271461"/>
                  </a:lnTo>
                  <a:lnTo>
                    <a:pt x="587384" y="274697"/>
                  </a:lnTo>
                  <a:lnTo>
                    <a:pt x="585796" y="276288"/>
                  </a:lnTo>
                  <a:lnTo>
                    <a:pt x="585796" y="277933"/>
                  </a:lnTo>
                  <a:lnTo>
                    <a:pt x="587846" y="290887"/>
                  </a:lnTo>
                  <a:lnTo>
                    <a:pt x="593695" y="302316"/>
                  </a:lnTo>
                  <a:lnTo>
                    <a:pt x="602892" y="311306"/>
                  </a:lnTo>
                  <a:lnTo>
                    <a:pt x="614985" y="316944"/>
                  </a:lnTo>
                  <a:lnTo>
                    <a:pt x="614985" y="578603"/>
                  </a:lnTo>
                  <a:lnTo>
                    <a:pt x="602892" y="584928"/>
                  </a:lnTo>
                  <a:lnTo>
                    <a:pt x="593695" y="593842"/>
                  </a:lnTo>
                  <a:lnTo>
                    <a:pt x="587846" y="604889"/>
                  </a:lnTo>
                  <a:lnTo>
                    <a:pt x="585796" y="617614"/>
                  </a:lnTo>
                  <a:lnTo>
                    <a:pt x="585796" y="620861"/>
                  </a:lnTo>
                  <a:lnTo>
                    <a:pt x="587384" y="622484"/>
                  </a:lnTo>
                  <a:lnTo>
                    <a:pt x="587384" y="625737"/>
                  </a:lnTo>
                  <a:lnTo>
                    <a:pt x="360223" y="755758"/>
                  </a:lnTo>
                  <a:lnTo>
                    <a:pt x="425403" y="755758"/>
                  </a:lnTo>
                  <a:lnTo>
                    <a:pt x="605237" y="651742"/>
                  </a:lnTo>
                  <a:lnTo>
                    <a:pt x="648894" y="651742"/>
                  </a:lnTo>
                  <a:lnTo>
                    <a:pt x="656777" y="646460"/>
                  </a:lnTo>
                  <a:lnTo>
                    <a:pt x="665399" y="633561"/>
                  </a:lnTo>
                  <a:lnTo>
                    <a:pt x="668544" y="617614"/>
                  </a:lnTo>
                  <a:lnTo>
                    <a:pt x="667074" y="606997"/>
                  </a:lnTo>
                  <a:lnTo>
                    <a:pt x="662862" y="597295"/>
                  </a:lnTo>
                  <a:lnTo>
                    <a:pt x="656207" y="588813"/>
                  </a:lnTo>
                  <a:lnTo>
                    <a:pt x="647405" y="581856"/>
                  </a:lnTo>
                  <a:lnTo>
                    <a:pt x="647405" y="313691"/>
                  </a:lnTo>
                  <a:lnTo>
                    <a:pt x="656207" y="307648"/>
                  </a:lnTo>
                  <a:lnTo>
                    <a:pt x="662862" y="299471"/>
                  </a:lnTo>
                  <a:lnTo>
                    <a:pt x="667074" y="289465"/>
                  </a:lnTo>
                  <a:lnTo>
                    <a:pt x="668544" y="277933"/>
                  </a:lnTo>
                  <a:lnTo>
                    <a:pt x="665399" y="261979"/>
                  </a:lnTo>
                  <a:lnTo>
                    <a:pt x="656777" y="249074"/>
                  </a:lnTo>
                  <a:lnTo>
                    <a:pt x="648931" y="243815"/>
                  </a:lnTo>
                  <a:lnTo>
                    <a:pt x="605237" y="243815"/>
                  </a:lnTo>
                  <a:lnTo>
                    <a:pt x="498151" y="186934"/>
                  </a:lnTo>
                  <a:lnTo>
                    <a:pt x="498151" y="78054"/>
                  </a:lnTo>
                  <a:lnTo>
                    <a:pt x="508113" y="71738"/>
                  </a:lnTo>
                  <a:lnTo>
                    <a:pt x="515795" y="62990"/>
                  </a:lnTo>
                  <a:lnTo>
                    <a:pt x="520739" y="52421"/>
                  </a:lnTo>
                  <a:lnTo>
                    <a:pt x="522488" y="40645"/>
                  </a:lnTo>
                  <a:lnTo>
                    <a:pt x="519345" y="24690"/>
                  </a:lnTo>
                  <a:lnTo>
                    <a:pt x="510725" y="11786"/>
                  </a:lnTo>
                  <a:lnTo>
                    <a:pt x="497846" y="3149"/>
                  </a:lnTo>
                  <a:lnTo>
                    <a:pt x="481925" y="0"/>
                  </a:lnTo>
                  <a:close/>
                </a:path>
                <a:path w="668654" h="829310">
                  <a:moveTo>
                    <a:pt x="48679" y="237288"/>
                  </a:moveTo>
                  <a:lnTo>
                    <a:pt x="40566" y="237288"/>
                  </a:lnTo>
                  <a:lnTo>
                    <a:pt x="24644" y="240438"/>
                  </a:lnTo>
                  <a:lnTo>
                    <a:pt x="11764" y="249074"/>
                  </a:lnTo>
                  <a:lnTo>
                    <a:pt x="3143" y="261979"/>
                  </a:lnTo>
                  <a:lnTo>
                    <a:pt x="0" y="277933"/>
                  </a:lnTo>
                  <a:lnTo>
                    <a:pt x="1470" y="289491"/>
                  </a:lnTo>
                  <a:lnTo>
                    <a:pt x="5679" y="299674"/>
                  </a:lnTo>
                  <a:lnTo>
                    <a:pt x="12322" y="308333"/>
                  </a:lnTo>
                  <a:lnTo>
                    <a:pt x="21095" y="315315"/>
                  </a:lnTo>
                  <a:lnTo>
                    <a:pt x="21095" y="581856"/>
                  </a:lnTo>
                  <a:lnTo>
                    <a:pt x="12322" y="588128"/>
                  </a:lnTo>
                  <a:lnTo>
                    <a:pt x="5679" y="596686"/>
                  </a:lnTo>
                  <a:lnTo>
                    <a:pt x="1470" y="606769"/>
                  </a:lnTo>
                  <a:lnTo>
                    <a:pt x="0" y="617614"/>
                  </a:lnTo>
                  <a:lnTo>
                    <a:pt x="3143" y="633561"/>
                  </a:lnTo>
                  <a:lnTo>
                    <a:pt x="11764" y="646460"/>
                  </a:lnTo>
                  <a:lnTo>
                    <a:pt x="24644" y="655094"/>
                  </a:lnTo>
                  <a:lnTo>
                    <a:pt x="40566" y="658242"/>
                  </a:lnTo>
                  <a:lnTo>
                    <a:pt x="48679" y="658242"/>
                  </a:lnTo>
                  <a:lnTo>
                    <a:pt x="55171" y="656619"/>
                  </a:lnTo>
                  <a:lnTo>
                    <a:pt x="61660" y="651742"/>
                  </a:lnTo>
                  <a:lnTo>
                    <a:pt x="126245" y="651742"/>
                  </a:lnTo>
                  <a:lnTo>
                    <a:pt x="81134" y="625737"/>
                  </a:lnTo>
                  <a:lnTo>
                    <a:pt x="81134" y="617614"/>
                  </a:lnTo>
                  <a:lnTo>
                    <a:pt x="79106" y="604889"/>
                  </a:lnTo>
                  <a:lnTo>
                    <a:pt x="73426" y="593842"/>
                  </a:lnTo>
                  <a:lnTo>
                    <a:pt x="64703" y="584928"/>
                  </a:lnTo>
                  <a:lnTo>
                    <a:pt x="53544" y="578603"/>
                  </a:lnTo>
                  <a:lnTo>
                    <a:pt x="53544" y="316944"/>
                  </a:lnTo>
                  <a:lnTo>
                    <a:pt x="64703" y="310621"/>
                  </a:lnTo>
                  <a:lnTo>
                    <a:pt x="73426" y="301707"/>
                  </a:lnTo>
                  <a:lnTo>
                    <a:pt x="79106" y="290658"/>
                  </a:lnTo>
                  <a:lnTo>
                    <a:pt x="81134" y="277933"/>
                  </a:lnTo>
                  <a:lnTo>
                    <a:pt x="81134" y="276288"/>
                  </a:lnTo>
                  <a:lnTo>
                    <a:pt x="79508" y="274697"/>
                  </a:lnTo>
                  <a:lnTo>
                    <a:pt x="79508" y="271461"/>
                  </a:lnTo>
                  <a:lnTo>
                    <a:pt x="130664" y="243815"/>
                  </a:lnTo>
                  <a:lnTo>
                    <a:pt x="61660" y="243815"/>
                  </a:lnTo>
                  <a:lnTo>
                    <a:pt x="48679" y="237288"/>
                  </a:lnTo>
                  <a:close/>
                </a:path>
                <a:path w="668654" h="829310">
                  <a:moveTo>
                    <a:pt x="648894" y="651742"/>
                  </a:moveTo>
                  <a:lnTo>
                    <a:pt x="605237" y="651742"/>
                  </a:lnTo>
                  <a:lnTo>
                    <a:pt x="611754" y="656619"/>
                  </a:lnTo>
                  <a:lnTo>
                    <a:pt x="619859" y="658242"/>
                  </a:lnTo>
                  <a:lnTo>
                    <a:pt x="627964" y="658242"/>
                  </a:lnTo>
                  <a:lnTo>
                    <a:pt x="643893" y="655094"/>
                  </a:lnTo>
                  <a:lnTo>
                    <a:pt x="648894" y="651742"/>
                  </a:lnTo>
                  <a:close/>
                </a:path>
                <a:path w="668654" h="829310">
                  <a:moveTo>
                    <a:pt x="186604" y="0"/>
                  </a:moveTo>
                  <a:lnTo>
                    <a:pt x="170682" y="3149"/>
                  </a:lnTo>
                  <a:lnTo>
                    <a:pt x="157801" y="11786"/>
                  </a:lnTo>
                  <a:lnTo>
                    <a:pt x="149179" y="24690"/>
                  </a:lnTo>
                  <a:lnTo>
                    <a:pt x="146035" y="40645"/>
                  </a:lnTo>
                  <a:lnTo>
                    <a:pt x="147785" y="52421"/>
                  </a:lnTo>
                  <a:lnTo>
                    <a:pt x="152729" y="62990"/>
                  </a:lnTo>
                  <a:lnTo>
                    <a:pt x="160412" y="71738"/>
                  </a:lnTo>
                  <a:lnTo>
                    <a:pt x="170378" y="78054"/>
                  </a:lnTo>
                  <a:lnTo>
                    <a:pt x="170378" y="185289"/>
                  </a:lnTo>
                  <a:lnTo>
                    <a:pt x="61660" y="243815"/>
                  </a:lnTo>
                  <a:lnTo>
                    <a:pt x="130664" y="243815"/>
                  </a:lnTo>
                  <a:lnTo>
                    <a:pt x="202831" y="204816"/>
                  </a:lnTo>
                  <a:lnTo>
                    <a:pt x="202831" y="78054"/>
                  </a:lnTo>
                  <a:lnTo>
                    <a:pt x="212795" y="71738"/>
                  </a:lnTo>
                  <a:lnTo>
                    <a:pt x="220476" y="62990"/>
                  </a:lnTo>
                  <a:lnTo>
                    <a:pt x="225419" y="52421"/>
                  </a:lnTo>
                  <a:lnTo>
                    <a:pt x="227168" y="40645"/>
                  </a:lnTo>
                  <a:lnTo>
                    <a:pt x="224024" y="24690"/>
                  </a:lnTo>
                  <a:lnTo>
                    <a:pt x="215405" y="11786"/>
                  </a:lnTo>
                  <a:lnTo>
                    <a:pt x="202526" y="3149"/>
                  </a:lnTo>
                  <a:lnTo>
                    <a:pt x="186604" y="0"/>
                  </a:lnTo>
                  <a:close/>
                </a:path>
                <a:path w="668654" h="829310">
                  <a:moveTo>
                    <a:pt x="627964" y="237288"/>
                  </a:moveTo>
                  <a:lnTo>
                    <a:pt x="619859" y="237288"/>
                  </a:lnTo>
                  <a:lnTo>
                    <a:pt x="611754" y="240579"/>
                  </a:lnTo>
                  <a:lnTo>
                    <a:pt x="605237" y="243815"/>
                  </a:lnTo>
                  <a:lnTo>
                    <a:pt x="648931" y="243815"/>
                  </a:lnTo>
                  <a:lnTo>
                    <a:pt x="643893" y="240438"/>
                  </a:lnTo>
                  <a:lnTo>
                    <a:pt x="627964" y="237288"/>
                  </a:lnTo>
                  <a:close/>
                </a:path>
              </a:pathLst>
            </a:custGeom>
            <a:solidFill>
              <a:srgbClr val="1D70B8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6" name="object 6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11164899" y="466804"/>
              <a:ext cx="115207" cy="115408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1195725" y="236043"/>
              <a:ext cx="79511" cy="79644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1293085" y="336806"/>
              <a:ext cx="95738" cy="95880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1150293" y="954381"/>
              <a:ext cx="193092" cy="203154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11054555" y="855264"/>
              <a:ext cx="386080" cy="388620"/>
            </a:xfrm>
            <a:custGeom>
              <a:avLst/>
              <a:gdLst/>
              <a:ahLst/>
              <a:cxnLst/>
              <a:rect l="l" t="t" r="r" b="b"/>
              <a:pathLst>
                <a:path w="386079" h="388619">
                  <a:moveTo>
                    <a:pt x="193097" y="0"/>
                  </a:moveTo>
                  <a:lnTo>
                    <a:pt x="148680" y="5173"/>
                  </a:lnTo>
                  <a:lnTo>
                    <a:pt x="107980" y="19896"/>
                  </a:lnTo>
                  <a:lnTo>
                    <a:pt x="72135" y="42977"/>
                  </a:lnTo>
                  <a:lnTo>
                    <a:pt x="42279" y="73222"/>
                  </a:lnTo>
                  <a:lnTo>
                    <a:pt x="19547" y="109438"/>
                  </a:lnTo>
                  <a:lnTo>
                    <a:pt x="5076" y="150431"/>
                  </a:lnTo>
                  <a:lnTo>
                    <a:pt x="0" y="195008"/>
                  </a:lnTo>
                  <a:lnTo>
                    <a:pt x="5076" y="238984"/>
                  </a:lnTo>
                  <a:lnTo>
                    <a:pt x="19547" y="279548"/>
                  </a:lnTo>
                  <a:lnTo>
                    <a:pt x="42279" y="315478"/>
                  </a:lnTo>
                  <a:lnTo>
                    <a:pt x="72135" y="345552"/>
                  </a:lnTo>
                  <a:lnTo>
                    <a:pt x="107980" y="368547"/>
                  </a:lnTo>
                  <a:lnTo>
                    <a:pt x="148680" y="383241"/>
                  </a:lnTo>
                  <a:lnTo>
                    <a:pt x="193097" y="388410"/>
                  </a:lnTo>
                  <a:lnTo>
                    <a:pt x="224080" y="385059"/>
                  </a:lnTo>
                  <a:lnTo>
                    <a:pt x="253541" y="377440"/>
                  </a:lnTo>
                  <a:lnTo>
                    <a:pt x="281175" y="365555"/>
                  </a:lnTo>
                  <a:lnTo>
                    <a:pt x="296414" y="355905"/>
                  </a:lnTo>
                  <a:lnTo>
                    <a:pt x="193097" y="355905"/>
                  </a:lnTo>
                  <a:lnTo>
                    <a:pt x="150090" y="350081"/>
                  </a:lnTo>
                  <a:lnTo>
                    <a:pt x="111365" y="333694"/>
                  </a:lnTo>
                  <a:lnTo>
                    <a:pt x="78498" y="308368"/>
                  </a:lnTo>
                  <a:lnTo>
                    <a:pt x="53069" y="275728"/>
                  </a:lnTo>
                  <a:lnTo>
                    <a:pt x="36654" y="237400"/>
                  </a:lnTo>
                  <a:lnTo>
                    <a:pt x="30832" y="195008"/>
                  </a:lnTo>
                  <a:lnTo>
                    <a:pt x="36654" y="151930"/>
                  </a:lnTo>
                  <a:lnTo>
                    <a:pt x="53069" y="113140"/>
                  </a:lnTo>
                  <a:lnTo>
                    <a:pt x="78498" y="80218"/>
                  </a:lnTo>
                  <a:lnTo>
                    <a:pt x="111365" y="54746"/>
                  </a:lnTo>
                  <a:lnTo>
                    <a:pt x="150090" y="38304"/>
                  </a:lnTo>
                  <a:lnTo>
                    <a:pt x="193097" y="32472"/>
                  </a:lnTo>
                  <a:lnTo>
                    <a:pt x="326658" y="32472"/>
                  </a:lnTo>
                  <a:lnTo>
                    <a:pt x="324531" y="30881"/>
                  </a:lnTo>
                  <a:lnTo>
                    <a:pt x="295325" y="30881"/>
                  </a:lnTo>
                  <a:lnTo>
                    <a:pt x="271365" y="17818"/>
                  </a:lnTo>
                  <a:lnTo>
                    <a:pt x="246035" y="8118"/>
                  </a:lnTo>
                  <a:lnTo>
                    <a:pt x="219794" y="2079"/>
                  </a:lnTo>
                  <a:lnTo>
                    <a:pt x="193097" y="0"/>
                  </a:lnTo>
                  <a:close/>
                </a:path>
                <a:path w="386079" h="388619">
                  <a:moveTo>
                    <a:pt x="376453" y="162503"/>
                  </a:moveTo>
                  <a:lnTo>
                    <a:pt x="363474" y="162503"/>
                  </a:lnTo>
                  <a:lnTo>
                    <a:pt x="353737" y="172256"/>
                  </a:lnTo>
                  <a:lnTo>
                    <a:pt x="353737" y="180379"/>
                  </a:lnTo>
                  <a:lnTo>
                    <a:pt x="354356" y="190562"/>
                  </a:lnTo>
                  <a:lnTo>
                    <a:pt x="354305" y="202930"/>
                  </a:lnTo>
                  <a:lnTo>
                    <a:pt x="340756" y="257985"/>
                  </a:lnTo>
                  <a:lnTo>
                    <a:pt x="318042" y="295771"/>
                  </a:lnTo>
                  <a:lnTo>
                    <a:pt x="270907" y="335338"/>
                  </a:lnTo>
                  <a:lnTo>
                    <a:pt x="220657" y="353518"/>
                  </a:lnTo>
                  <a:lnTo>
                    <a:pt x="193097" y="355905"/>
                  </a:lnTo>
                  <a:lnTo>
                    <a:pt x="296414" y="355905"/>
                  </a:lnTo>
                  <a:lnTo>
                    <a:pt x="334268" y="325023"/>
                  </a:lnTo>
                  <a:lnTo>
                    <a:pt x="367937" y="275658"/>
                  </a:lnTo>
                  <a:lnTo>
                    <a:pt x="384569" y="217761"/>
                  </a:lnTo>
                  <a:lnTo>
                    <a:pt x="385937" y="190562"/>
                  </a:lnTo>
                  <a:lnTo>
                    <a:pt x="384569" y="177127"/>
                  </a:lnTo>
                  <a:lnTo>
                    <a:pt x="384569" y="172256"/>
                  </a:lnTo>
                  <a:lnTo>
                    <a:pt x="382948" y="169003"/>
                  </a:lnTo>
                  <a:lnTo>
                    <a:pt x="376453" y="162503"/>
                  </a:lnTo>
                  <a:close/>
                </a:path>
                <a:path w="386079" h="388619">
                  <a:moveTo>
                    <a:pt x="326658" y="32472"/>
                  </a:moveTo>
                  <a:lnTo>
                    <a:pt x="193097" y="32472"/>
                  </a:lnTo>
                  <a:lnTo>
                    <a:pt x="214952" y="33998"/>
                  </a:lnTo>
                  <a:lnTo>
                    <a:pt x="236503" y="38573"/>
                  </a:lnTo>
                  <a:lnTo>
                    <a:pt x="257445" y="46196"/>
                  </a:lnTo>
                  <a:lnTo>
                    <a:pt x="277472" y="56864"/>
                  </a:lnTo>
                  <a:lnTo>
                    <a:pt x="277472" y="58488"/>
                  </a:lnTo>
                  <a:lnTo>
                    <a:pt x="279780" y="71108"/>
                  </a:lnTo>
                  <a:lnTo>
                    <a:pt x="286196" y="81444"/>
                  </a:lnTo>
                  <a:lnTo>
                    <a:pt x="295958" y="88428"/>
                  </a:lnTo>
                  <a:lnTo>
                    <a:pt x="308305" y="90993"/>
                  </a:lnTo>
                  <a:lnTo>
                    <a:pt x="320905" y="88428"/>
                  </a:lnTo>
                  <a:lnTo>
                    <a:pt x="331224" y="81444"/>
                  </a:lnTo>
                  <a:lnTo>
                    <a:pt x="338197" y="71108"/>
                  </a:lnTo>
                  <a:lnTo>
                    <a:pt x="340758" y="58488"/>
                  </a:lnTo>
                  <a:lnTo>
                    <a:pt x="340758" y="50359"/>
                  </a:lnTo>
                  <a:lnTo>
                    <a:pt x="337510" y="42235"/>
                  </a:lnTo>
                  <a:lnTo>
                    <a:pt x="331021" y="35735"/>
                  </a:lnTo>
                  <a:lnTo>
                    <a:pt x="326658" y="32472"/>
                  </a:lnTo>
                  <a:close/>
                </a:path>
                <a:path w="386079" h="388619">
                  <a:moveTo>
                    <a:pt x="316415" y="27590"/>
                  </a:moveTo>
                  <a:lnTo>
                    <a:pt x="298567" y="27590"/>
                  </a:lnTo>
                  <a:lnTo>
                    <a:pt x="295325" y="30881"/>
                  </a:lnTo>
                  <a:lnTo>
                    <a:pt x="324531" y="30881"/>
                  </a:lnTo>
                  <a:lnTo>
                    <a:pt x="316415" y="27590"/>
                  </a:lnTo>
                  <a:close/>
                </a:path>
              </a:pathLst>
            </a:custGeom>
            <a:solidFill>
              <a:srgbClr val="1D70B8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4" name="Номер слайда 13"/>
          <p:cNvSpPr>
            <a:spLocks noGrp="1"/>
          </p:cNvSpPr>
          <p:nvPr>
            <p:ph type="sldNum" sz="quarter" idx="12"/>
          </p:nvPr>
        </p:nvSpPr>
        <p:spPr>
          <a:xfrm>
            <a:off x="11240768" y="6397751"/>
            <a:ext cx="373931" cy="274955"/>
          </a:xfrm>
        </p:spPr>
        <p:txBody>
          <a:bodyPr/>
          <a:lstStyle/>
          <a:p>
            <a:pPr marL="38100">
              <a:lnSpc>
                <a:spcPts val="2145"/>
              </a:lnSpc>
            </a:pPr>
            <a:fld id="{81D60167-4931-47E6-BA6A-407CBD079E47}" type="slidenum">
              <a:rPr lang="ru-RU" sz="2400" b="0" smtClean="0"/>
            </a:fld>
            <a:endParaRPr lang="ru-RU" sz="2400" b="0" dirty="0"/>
          </a:p>
        </p:txBody>
      </p:sp>
      <p:sp>
        <p:nvSpPr>
          <p:cNvPr id="100" name="Заголовок"/>
          <p:cNvSpPr txBox="1"/>
          <p:nvPr/>
        </p:nvSpPr>
        <p:spPr>
          <a:xfrm>
            <a:off x="839470" y="431075"/>
            <a:ext cx="9658350" cy="540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ru-RU" alt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Важность изучения топоизомеразы II, кодируемого геном TOP2</a:t>
            </a:r>
          </a:p>
        </p:txBody>
      </p:sp>
      <p:sp>
        <p:nvSpPr>
          <p:cNvPr id="101" name="Текст важности 2"/>
          <p:cNvSpPr txBox="1"/>
          <p:nvPr/>
        </p:nvSpPr>
        <p:spPr>
          <a:xfrm>
            <a:off x="600000" y="1180000"/>
            <a:ext cx="5450000" cy="3500000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 algn="just">
              <a:spcBef>
                <a:spcPts val="0"/>
              </a:spcBef>
              <a:buNone/>
            </a:pPr>
            <a:r>
              <a:rPr lang="ru-RU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Топоизомераза II временно разрезает обе цепи ДНК, пропускает через разрыв другой участок двойной спирали и снова сшивает её. Так фермент снимает сверхскрученность и расцепляет дочерние молекулы ДНК при делении клетки.</a:t>
            </a:r>
          </a:p>
          <a:p>
            <a:pPr marL="0" indent="0" algn="just">
              <a:spcBef>
                <a:spcPts val="700"/>
              </a:spcBef>
              <a:buNone/>
            </a:pPr>
            <a:r>
              <a:rPr lang="ru-RU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Именно двойная спираль ДНК и работающая на ней топоизомераза II — та </a:t>
            </a:r>
            <a:r>
              <a:rPr lang="ru-RU" altLang="en-US" sz="1700" b="1" dirty="0">
                <a:solidFill>
                  <a:srgbClr val="C55A1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молекулярная мишень</a:t>
            </a:r>
            <a:r>
              <a:rPr lang="ru-RU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на которую направлены наши праймеры и противоопухолевые препараты.</a:t>
            </a:r>
          </a:p>
        </p:txBody>
      </p:sp>
      <p:sp>
        <p:nvSpPr>
          <p:cNvPr id="105" name="bridge"/>
          <p:cNvSpPr/>
          <p:nvPr/>
        </p:nvSpPr>
        <p:spPr>
          <a:xfrm>
            <a:off x="600000" y="5050000"/>
            <a:ext cx="5450000" cy="1150000"/>
          </a:xfrm>
          <a:prstGeom prst="roundRect">
            <a:avLst>
              <a:gd name="adj" fmla="val 10000"/>
            </a:avLst>
          </a:prstGeom>
          <a:solidFill>
            <a:srgbClr val="1F3864"/>
          </a:solidFill>
        </p:spPr>
        <p:txBody>
          <a:bodyPr wrap="square" anchor="ctr" lIns="91440" rIns="91440">
            <a:norm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altLang="en-US" sz="17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Именно поэтому целью моей работы стало изучение экспрессии гена TOP2 методом полимеразной цепной реакции.</a:t>
            </a:r>
          </a:p>
        </p:txBody>
      </p:sp>
      <p:sp>
        <p:nvSpPr>
          <p:cNvPr id="120" name="strand"/>
          <p:cNvSpPr/>
          <p:nvPr/>
        </p:nvSpPr>
        <p:spPr>
          <a:xfrm>
            <a:off x="6650000" y="1350000"/>
            <a:ext cx="1700000" cy="4350000"/>
          </a:xfrm>
          <a:custGeom>
            <a:avLst/>
            <a:gdLst/>
            <a:ahLst/>
            <a:cxnLst/>
            <a:rect l="l" t="t" r="r" b="b"/>
            <a:pathLst>
              <a:path w="1700000" h="4350000">
                <a:moveTo>
                  <a:pt x="850000" y="0"/>
                </a:moveTo>
                <a:lnTo>
                  <a:pt x="1041893" y="67968"/>
                </a:lnTo>
                <a:lnTo>
                  <a:pt x="1221352" y="135937"/>
                </a:lnTo>
                <a:lnTo>
                  <a:pt x="1376746" y="203906"/>
                </a:lnTo>
                <a:lnTo>
                  <a:pt x="1498006" y="271875"/>
                </a:lnTo>
                <a:lnTo>
                  <a:pt x="1577274" y="339843"/>
                </a:lnTo>
                <a:lnTo>
                  <a:pt x="1609414" y="407812"/>
                </a:lnTo>
                <a:lnTo>
                  <a:pt x="1592342" y="475781"/>
                </a:lnTo>
                <a:lnTo>
                  <a:pt x="1527164" y="543750"/>
                </a:lnTo>
                <a:lnTo>
                  <a:pt x="1418106" y="611718"/>
                </a:lnTo>
                <a:lnTo>
                  <a:pt x="1272233" y="679687"/>
                </a:lnTo>
                <a:lnTo>
                  <a:pt x="1098998" y="747656"/>
                </a:lnTo>
                <a:lnTo>
                  <a:pt x="909628" y="815625"/>
                </a:lnTo>
                <a:lnTo>
                  <a:pt x="716395" y="883593"/>
                </a:lnTo>
                <a:lnTo>
                  <a:pt x="531819" y="951562"/>
                </a:lnTo>
                <a:lnTo>
                  <a:pt x="367862" y="1019531"/>
                </a:lnTo>
                <a:lnTo>
                  <a:pt x="235148" y="1087500"/>
                </a:lnTo>
                <a:lnTo>
                  <a:pt x="142277" y="1155468"/>
                </a:lnTo>
                <a:lnTo>
                  <a:pt x="95268" y="1223437"/>
                </a:lnTo>
                <a:lnTo>
                  <a:pt x="97168" y="1291406"/>
                </a:lnTo>
                <a:lnTo>
                  <a:pt x="147852" y="1359375"/>
                </a:lnTo>
                <a:lnTo>
                  <a:pt x="244037" y="1427343"/>
                </a:lnTo>
                <a:lnTo>
                  <a:pt x="379489" y="1495312"/>
                </a:lnTo>
                <a:lnTo>
                  <a:pt x="545431" y="1563281"/>
                </a:lnTo>
                <a:lnTo>
                  <a:pt x="731110" y="1631250"/>
                </a:lnTo>
                <a:lnTo>
                  <a:pt x="924493" y="1699218"/>
                </a:lnTo>
                <a:lnTo>
                  <a:pt x="1113048" y="1767187"/>
                </a:lnTo>
                <a:lnTo>
                  <a:pt x="1284558" y="1835156"/>
                </a:lnTo>
                <a:lnTo>
                  <a:pt x="1427908" y="1903125"/>
                </a:lnTo>
                <a:lnTo>
                  <a:pt x="1533808" y="1971093"/>
                </a:lnTo>
                <a:lnTo>
                  <a:pt x="1595396" y="2039062"/>
                </a:lnTo>
                <a:lnTo>
                  <a:pt x="1608681" y="2107031"/>
                </a:lnTo>
                <a:lnTo>
                  <a:pt x="1572802" y="2175000"/>
                </a:lnTo>
                <a:lnTo>
                  <a:pt x="1490085" y="2242968"/>
                </a:lnTo>
                <a:lnTo>
                  <a:pt x="1365888" y="2310937"/>
                </a:lnTo>
                <a:lnTo>
                  <a:pt x="1208261" y="2378906"/>
                </a:lnTo>
                <a:lnTo>
                  <a:pt x="1027418" y="2446875"/>
                </a:lnTo>
                <a:lnTo>
                  <a:pt x="835079" y="2514843"/>
                </a:lnTo>
                <a:lnTo>
                  <a:pt x="643706" y="2582812"/>
                </a:lnTo>
                <a:lnTo>
                  <a:pt x="465701" y="2650781"/>
                </a:lnTo>
                <a:lnTo>
                  <a:pt x="312599" y="2718750"/>
                </a:lnTo>
                <a:lnTo>
                  <a:pt x="194322" y="2786718"/>
                </a:lnTo>
                <a:lnTo>
                  <a:pt x="118535" y="2854687"/>
                </a:lnTo>
                <a:lnTo>
                  <a:pt x="90147" y="2922656"/>
                </a:lnTo>
                <a:lnTo>
                  <a:pt x="110999" y="2990625"/>
                </a:lnTo>
                <a:lnTo>
                  <a:pt x="179740" y="3058593"/>
                </a:lnTo>
                <a:lnTo>
                  <a:pt x="291915" y="3126562"/>
                </a:lnTo>
                <a:lnTo>
                  <a:pt x="440255" y="3194531"/>
                </a:lnTo>
                <a:lnTo>
                  <a:pt x="615148" y="3262500"/>
                </a:lnTo>
                <a:lnTo>
                  <a:pt x="805259" y="3330468"/>
                </a:lnTo>
                <a:lnTo>
                  <a:pt x="998268" y="3398437"/>
                </a:lnTo>
                <a:lnTo>
                  <a:pt x="1181671" y="3466406"/>
                </a:lnTo>
                <a:lnTo>
                  <a:pt x="1343580" y="3534375"/>
                </a:lnTo>
                <a:lnTo>
                  <a:pt x="1473505" y="3602343"/>
                </a:lnTo>
                <a:lnTo>
                  <a:pt x="1563025" y="3670312"/>
                </a:lnTo>
                <a:lnTo>
                  <a:pt x="1606340" y="3738281"/>
                </a:lnTo>
                <a:lnTo>
                  <a:pt x="1600643" y="3806250"/>
                </a:lnTo>
                <a:lnTo>
                  <a:pt x="1546302" y="3874218"/>
                </a:lnTo>
                <a:lnTo>
                  <a:pt x="1446840" y="3942187"/>
                </a:lnTo>
                <a:lnTo>
                  <a:pt x="1308702" y="4010156"/>
                </a:lnTo>
                <a:lnTo>
                  <a:pt x="1140839" y="4078125"/>
                </a:lnTo>
                <a:lnTo>
                  <a:pt x="954129" y="4146093"/>
                </a:lnTo>
                <a:lnTo>
                  <a:pt x="760672" y="4214062"/>
                </a:lnTo>
                <a:lnTo>
                  <a:pt x="573003" y="4282031"/>
                </a:lnTo>
                <a:lnTo>
                  <a:pt x="403284" y="4350000"/>
                </a:lnTo>
              </a:path>
            </a:pathLst>
          </a:custGeom>
          <a:ln w="57150" cap="rnd">
            <a:solidFill>
              <a:srgbClr val="1F6FB2"/>
            </a:solidFill>
          </a:ln>
        </p:spPr>
        <p:txBody>
          <a:bodyPr/>
          <a:lstStyle/>
          <a:p/>
        </p:txBody>
      </p:sp>
      <p:sp>
        <p:nvSpPr>
          <p:cNvPr id="121" name="strand"/>
          <p:cNvSpPr/>
          <p:nvPr/>
        </p:nvSpPr>
        <p:spPr>
          <a:xfrm>
            <a:off x="6650000" y="1350000"/>
            <a:ext cx="1700000" cy="4350000"/>
          </a:xfrm>
          <a:custGeom>
            <a:avLst/>
            <a:gdLst/>
            <a:ahLst/>
            <a:cxnLst/>
            <a:rect l="l" t="t" r="r" b="b"/>
            <a:pathLst>
              <a:path w="1700000" h="4350000">
                <a:moveTo>
                  <a:pt x="850000" y="0"/>
                </a:moveTo>
                <a:lnTo>
                  <a:pt x="658107" y="67968"/>
                </a:lnTo>
                <a:lnTo>
                  <a:pt x="478648" y="135937"/>
                </a:lnTo>
                <a:lnTo>
                  <a:pt x="323254" y="203906"/>
                </a:lnTo>
                <a:lnTo>
                  <a:pt x="201994" y="271875"/>
                </a:lnTo>
                <a:lnTo>
                  <a:pt x="122726" y="339843"/>
                </a:lnTo>
                <a:lnTo>
                  <a:pt x="90586" y="407812"/>
                </a:lnTo>
                <a:lnTo>
                  <a:pt x="107658" y="475781"/>
                </a:lnTo>
                <a:lnTo>
                  <a:pt x="172836" y="543750"/>
                </a:lnTo>
                <a:lnTo>
                  <a:pt x="281894" y="611718"/>
                </a:lnTo>
                <a:lnTo>
                  <a:pt x="427767" y="679687"/>
                </a:lnTo>
                <a:lnTo>
                  <a:pt x="601002" y="747656"/>
                </a:lnTo>
                <a:lnTo>
                  <a:pt x="790372" y="815625"/>
                </a:lnTo>
                <a:lnTo>
                  <a:pt x="983605" y="883593"/>
                </a:lnTo>
                <a:lnTo>
                  <a:pt x="1168181" y="951562"/>
                </a:lnTo>
                <a:lnTo>
                  <a:pt x="1332138" y="1019531"/>
                </a:lnTo>
                <a:lnTo>
                  <a:pt x="1464852" y="1087500"/>
                </a:lnTo>
                <a:lnTo>
                  <a:pt x="1557723" y="1155468"/>
                </a:lnTo>
                <a:lnTo>
                  <a:pt x="1604732" y="1223437"/>
                </a:lnTo>
                <a:lnTo>
                  <a:pt x="1602832" y="1291406"/>
                </a:lnTo>
                <a:lnTo>
                  <a:pt x="1552148" y="1359375"/>
                </a:lnTo>
                <a:lnTo>
                  <a:pt x="1455963" y="1427343"/>
                </a:lnTo>
                <a:lnTo>
                  <a:pt x="1320511" y="1495312"/>
                </a:lnTo>
                <a:lnTo>
                  <a:pt x="1154569" y="1563281"/>
                </a:lnTo>
                <a:lnTo>
                  <a:pt x="968890" y="1631250"/>
                </a:lnTo>
                <a:lnTo>
                  <a:pt x="775507" y="1699218"/>
                </a:lnTo>
                <a:lnTo>
                  <a:pt x="586952" y="1767187"/>
                </a:lnTo>
                <a:lnTo>
                  <a:pt x="415442" y="1835156"/>
                </a:lnTo>
                <a:lnTo>
                  <a:pt x="272092" y="1903125"/>
                </a:lnTo>
                <a:lnTo>
                  <a:pt x="166192" y="1971093"/>
                </a:lnTo>
                <a:lnTo>
                  <a:pt x="104604" y="2039062"/>
                </a:lnTo>
                <a:lnTo>
                  <a:pt x="91319" y="2107031"/>
                </a:lnTo>
                <a:lnTo>
                  <a:pt x="127198" y="2175000"/>
                </a:lnTo>
                <a:lnTo>
                  <a:pt x="209915" y="2242968"/>
                </a:lnTo>
                <a:lnTo>
                  <a:pt x="334112" y="2310937"/>
                </a:lnTo>
                <a:lnTo>
                  <a:pt x="491739" y="2378906"/>
                </a:lnTo>
                <a:lnTo>
                  <a:pt x="672582" y="2446875"/>
                </a:lnTo>
                <a:lnTo>
                  <a:pt x="864921" y="2514843"/>
                </a:lnTo>
                <a:lnTo>
                  <a:pt x="1056294" y="2582812"/>
                </a:lnTo>
                <a:lnTo>
                  <a:pt x="1234299" y="2650781"/>
                </a:lnTo>
                <a:lnTo>
                  <a:pt x="1387401" y="2718750"/>
                </a:lnTo>
                <a:lnTo>
                  <a:pt x="1505678" y="2786718"/>
                </a:lnTo>
                <a:lnTo>
                  <a:pt x="1581465" y="2854687"/>
                </a:lnTo>
                <a:lnTo>
                  <a:pt x="1609853" y="2922656"/>
                </a:lnTo>
                <a:lnTo>
                  <a:pt x="1589001" y="2990625"/>
                </a:lnTo>
                <a:lnTo>
                  <a:pt x="1520260" y="3058593"/>
                </a:lnTo>
                <a:lnTo>
                  <a:pt x="1408085" y="3126562"/>
                </a:lnTo>
                <a:lnTo>
                  <a:pt x="1259745" y="3194531"/>
                </a:lnTo>
                <a:lnTo>
                  <a:pt x="1084852" y="3262500"/>
                </a:lnTo>
                <a:lnTo>
                  <a:pt x="894741" y="3330468"/>
                </a:lnTo>
                <a:lnTo>
                  <a:pt x="701732" y="3398437"/>
                </a:lnTo>
                <a:lnTo>
                  <a:pt x="518329" y="3466406"/>
                </a:lnTo>
                <a:lnTo>
                  <a:pt x="356420" y="3534375"/>
                </a:lnTo>
                <a:lnTo>
                  <a:pt x="226495" y="3602343"/>
                </a:lnTo>
                <a:lnTo>
                  <a:pt x="136975" y="3670312"/>
                </a:lnTo>
                <a:lnTo>
                  <a:pt x="93660" y="3738281"/>
                </a:lnTo>
                <a:lnTo>
                  <a:pt x="99357" y="3806250"/>
                </a:lnTo>
                <a:lnTo>
                  <a:pt x="153698" y="3874218"/>
                </a:lnTo>
                <a:lnTo>
                  <a:pt x="253160" y="3942187"/>
                </a:lnTo>
                <a:lnTo>
                  <a:pt x="391298" y="4010156"/>
                </a:lnTo>
                <a:lnTo>
                  <a:pt x="559161" y="4078125"/>
                </a:lnTo>
                <a:lnTo>
                  <a:pt x="745871" y="4146093"/>
                </a:lnTo>
                <a:lnTo>
                  <a:pt x="939328" y="4214062"/>
                </a:lnTo>
                <a:lnTo>
                  <a:pt x="1126997" y="4282031"/>
                </a:lnTo>
                <a:lnTo>
                  <a:pt x="1296716" y="4350000"/>
                </a:lnTo>
              </a:path>
            </a:pathLst>
          </a:custGeom>
          <a:ln w="57150" cap="rnd">
            <a:solidFill>
              <a:srgbClr val="2E9E8F"/>
            </a:solidFill>
          </a:ln>
        </p:spPr>
        <p:txBody>
          <a:bodyPr/>
          <a:lstStyle/>
          <a:p/>
        </p:txBody>
      </p:sp>
      <p:cxnSp>
        <p:nvCxnSpPr>
          <p:cNvPr id="130" name="rung"/>
          <p:cNvCxnSpPr/>
          <p:nvPr/>
        </p:nvCxnSpPr>
        <p:spPr>
          <a:xfrm flipH="1" flipV="0">
            <a:off x="6851994" y="1621875"/>
            <a:ext cx="1296012" cy="1"/>
          </a:xfrm>
          <a:prstGeom prst="line">
            <a:avLst/>
          </a:prstGeom>
          <a:ln w="28575">
            <a:solidFill>
              <a:srgbClr val="9DC3E6"/>
            </a:solidFill>
          </a:ln>
        </p:spPr>
      </p:cxnSp>
      <p:cxnSp>
        <p:nvCxnSpPr>
          <p:cNvPr id="131" name="rung"/>
          <p:cNvCxnSpPr/>
          <p:nvPr/>
        </p:nvCxnSpPr>
        <p:spPr>
          <a:xfrm flipH="1" flipV="0">
            <a:off x="7077767" y="2029687"/>
            <a:ext cx="844466" cy="1"/>
          </a:xfrm>
          <a:prstGeom prst="line">
            <a:avLst/>
          </a:prstGeom>
          <a:ln w="28575">
            <a:solidFill>
              <a:srgbClr val="9DC3E6"/>
            </a:solidFill>
          </a:ln>
        </p:spPr>
      </p:cxnSp>
      <p:cxnSp>
        <p:nvCxnSpPr>
          <p:cNvPr id="132" name="rung"/>
          <p:cNvCxnSpPr/>
          <p:nvPr/>
        </p:nvCxnSpPr>
        <p:spPr>
          <a:xfrm flipH="0" flipV="0">
            <a:off x="6885148" y="2437500"/>
            <a:ext cx="1229704" cy="1"/>
          </a:xfrm>
          <a:prstGeom prst="line">
            <a:avLst/>
          </a:prstGeom>
          <a:ln w="28575">
            <a:solidFill>
              <a:srgbClr val="9DC3E6"/>
            </a:solidFill>
          </a:ln>
        </p:spPr>
      </p:cxnSp>
      <p:cxnSp>
        <p:nvCxnSpPr>
          <p:cNvPr id="133" name="rung"/>
          <p:cNvCxnSpPr/>
          <p:nvPr/>
        </p:nvCxnSpPr>
        <p:spPr>
          <a:xfrm flipH="0" flipV="0">
            <a:off x="6894037" y="2777343"/>
            <a:ext cx="1211926" cy="1"/>
          </a:xfrm>
          <a:prstGeom prst="line">
            <a:avLst/>
          </a:prstGeom>
          <a:ln w="28575">
            <a:solidFill>
              <a:srgbClr val="9DC3E6"/>
            </a:solidFill>
          </a:ln>
        </p:spPr>
      </p:cxnSp>
      <p:cxnSp>
        <p:nvCxnSpPr>
          <p:cNvPr id="134" name="rung"/>
          <p:cNvCxnSpPr/>
          <p:nvPr/>
        </p:nvCxnSpPr>
        <p:spPr>
          <a:xfrm flipH="1" flipV="0">
            <a:off x="7065442" y="3185156"/>
            <a:ext cx="869116" cy="1"/>
          </a:xfrm>
          <a:prstGeom prst="line">
            <a:avLst/>
          </a:prstGeom>
          <a:ln w="28575">
            <a:solidFill>
              <a:srgbClr val="9DC3E6"/>
            </a:solidFill>
          </a:ln>
        </p:spPr>
      </p:cxnSp>
      <p:cxnSp>
        <p:nvCxnSpPr>
          <p:cNvPr id="135" name="rung"/>
          <p:cNvCxnSpPr/>
          <p:nvPr/>
        </p:nvCxnSpPr>
        <p:spPr>
          <a:xfrm flipH="1" flipV="0">
            <a:off x="6859915" y="3592968"/>
            <a:ext cx="1280170" cy="1"/>
          </a:xfrm>
          <a:prstGeom prst="line">
            <a:avLst/>
          </a:prstGeom>
          <a:ln w="28575">
            <a:solidFill>
              <a:srgbClr val="C55A11"/>
            </a:solidFill>
          </a:ln>
        </p:spPr>
      </p:cxnSp>
      <p:cxnSp>
        <p:nvCxnSpPr>
          <p:cNvPr id="136" name="rung"/>
          <p:cNvCxnSpPr/>
          <p:nvPr/>
        </p:nvCxnSpPr>
        <p:spPr>
          <a:xfrm flipH="0" flipV="0">
            <a:off x="7115701" y="4000781"/>
            <a:ext cx="768598" cy="1"/>
          </a:xfrm>
          <a:prstGeom prst="line">
            <a:avLst/>
          </a:prstGeom>
          <a:ln w="28575">
            <a:solidFill>
              <a:srgbClr val="9DC3E6"/>
            </a:solidFill>
          </a:ln>
        </p:spPr>
      </p:cxnSp>
      <p:cxnSp>
        <p:nvCxnSpPr>
          <p:cNvPr id="137" name="rung"/>
          <p:cNvCxnSpPr/>
          <p:nvPr/>
        </p:nvCxnSpPr>
        <p:spPr>
          <a:xfrm flipH="0" flipV="0">
            <a:off x="6760999" y="4340625"/>
            <a:ext cx="1478002" cy="1"/>
          </a:xfrm>
          <a:prstGeom prst="line">
            <a:avLst/>
          </a:prstGeom>
          <a:ln w="28575">
            <a:solidFill>
              <a:srgbClr val="9DC3E6"/>
            </a:solidFill>
          </a:ln>
        </p:spPr>
      </p:cxnSp>
      <p:cxnSp>
        <p:nvCxnSpPr>
          <p:cNvPr id="138" name="rung"/>
          <p:cNvCxnSpPr/>
          <p:nvPr/>
        </p:nvCxnSpPr>
        <p:spPr>
          <a:xfrm flipH="1" flipV="0">
            <a:off x="7351732" y="4748437"/>
            <a:ext cx="296536" cy="1"/>
          </a:xfrm>
          <a:prstGeom prst="line">
            <a:avLst/>
          </a:prstGeom>
          <a:ln w="28575">
            <a:solidFill>
              <a:srgbClr val="9DC3E6"/>
            </a:solidFill>
          </a:ln>
        </p:spPr>
      </p:cxnSp>
      <p:cxnSp>
        <p:nvCxnSpPr>
          <p:cNvPr id="139" name="rung"/>
          <p:cNvCxnSpPr/>
          <p:nvPr/>
        </p:nvCxnSpPr>
        <p:spPr>
          <a:xfrm flipH="1" flipV="0">
            <a:off x="6749357" y="5156250"/>
            <a:ext cx="1501286" cy="1"/>
          </a:xfrm>
          <a:prstGeom prst="line">
            <a:avLst/>
          </a:prstGeom>
          <a:ln w="28575">
            <a:solidFill>
              <a:srgbClr val="9DC3E6"/>
            </a:solidFill>
          </a:ln>
        </p:spPr>
      </p:cxnSp>
      <p:cxnSp>
        <p:nvCxnSpPr>
          <p:cNvPr id="140" name="rung"/>
          <p:cNvCxnSpPr/>
          <p:nvPr/>
        </p:nvCxnSpPr>
        <p:spPr>
          <a:xfrm flipH="1" flipV="0">
            <a:off x="7395871" y="5496093"/>
            <a:ext cx="208258" cy="1"/>
          </a:xfrm>
          <a:prstGeom prst="line">
            <a:avLst/>
          </a:prstGeom>
          <a:ln w="28575">
            <a:solidFill>
              <a:srgbClr val="9DC3E6"/>
            </a:solidFill>
          </a:ln>
        </p:spPr>
      </p:cxnSp>
      <p:sp>
        <p:nvSpPr>
          <p:cNvPr id="140" name="target"/>
          <p:cNvSpPr/>
          <p:nvPr/>
        </p:nvSpPr>
        <p:spPr>
          <a:xfrm>
            <a:off x="6880000" y="3122968"/>
            <a:ext cx="1240000" cy="940000"/>
          </a:xfrm>
          <a:prstGeom prst="ellipse">
            <a:avLst/>
          </a:prstGeom>
          <a:noFill/>
          <a:ln w="38100">
            <a:solidFill>
              <a:srgbClr val="C55A11"/>
            </a:solidFill>
            <a:prstDash val="dash"/>
          </a:ln>
        </p:spPr>
        <p:txBody>
          <a:bodyPr/>
          <a:lstStyle/>
          <a:p/>
        </p:txBody>
      </p:sp>
      <p:sp>
        <p:nvSpPr>
          <p:cNvPr id="141" name="метка мишени"/>
          <p:cNvSpPr txBox="1"/>
          <p:nvPr/>
        </p:nvSpPr>
        <p:spPr>
          <a:xfrm>
            <a:off x="6400000" y="4112968"/>
            <a:ext cx="2200000" cy="700000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altLang="en-US" sz="1300" b="1" dirty="0">
                <a:solidFill>
                  <a:srgbClr val="C55A1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Мишень: топоизомераза II</a:t>
            </a:r>
          </a:p>
        </p:txBody>
      </p:sp>
      <p:sp>
        <p:nvSpPr>
          <p:cNvPr id="142" name="метка ДНК"/>
          <p:cNvSpPr txBox="1"/>
          <p:nvPr/>
        </p:nvSpPr>
        <p:spPr>
          <a:xfrm>
            <a:off x="6400000" y="1100000"/>
            <a:ext cx="2200000" cy="360000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altLang="en-US" sz="1300" b="1" dirty="0">
                <a:solidFill>
                  <a:srgbClr val="1F386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Двойная спираль ДНК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493776" y="1043939"/>
            <a:ext cx="9946005" cy="0"/>
          </a:xfrm>
          <a:custGeom>
            <a:avLst/>
            <a:gdLst/>
            <a:ahLst/>
            <a:cxnLst/>
            <a:rect l="l" t="t" r="r" b="b"/>
            <a:pathLst>
              <a:path w="9946005">
                <a:moveTo>
                  <a:pt x="0" y="0"/>
                </a:moveTo>
                <a:lnTo>
                  <a:pt x="9946005" y="0"/>
                </a:lnTo>
              </a:path>
            </a:pathLst>
          </a:custGeom>
          <a:ln w="6096">
            <a:solidFill>
              <a:srgbClr val="5B9BD4"/>
            </a:solidFill>
          </a:ln>
        </p:spPr>
        <p:txBody>
          <a:bodyPr wrap="square" lIns="0" tIns="0" rIns="0" bIns="0" rtlCol="0"/>
          <a:lstStyle/>
          <a:p/>
        </p:txBody>
      </p:sp>
      <p:grpSp>
        <p:nvGrpSpPr>
          <p:cNvPr id="4" name="object 4"/>
          <p:cNvGrpSpPr/>
          <p:nvPr/>
        </p:nvGrpSpPr>
        <p:grpSpPr>
          <a:xfrm>
            <a:off x="10913388" y="236043"/>
            <a:ext cx="668655" cy="1195070"/>
            <a:chOff x="10913388" y="236043"/>
            <a:chExt cx="668655" cy="1195070"/>
          </a:xfrm>
        </p:grpSpPr>
        <p:sp>
          <p:nvSpPr>
            <p:cNvPr id="5" name="object 5"/>
            <p:cNvSpPr/>
            <p:nvPr/>
          </p:nvSpPr>
          <p:spPr>
            <a:xfrm>
              <a:off x="10913388" y="601685"/>
              <a:ext cx="668655" cy="829310"/>
            </a:xfrm>
            <a:custGeom>
              <a:avLst/>
              <a:gdLst/>
              <a:ahLst/>
              <a:cxnLst/>
              <a:rect l="l" t="t" r="r" b="b"/>
              <a:pathLst>
                <a:path w="668654" h="829310">
                  <a:moveTo>
                    <a:pt x="126245" y="651742"/>
                  </a:moveTo>
                  <a:lnTo>
                    <a:pt x="61660" y="651742"/>
                  </a:lnTo>
                  <a:lnTo>
                    <a:pt x="293695" y="785010"/>
                  </a:lnTo>
                  <a:lnTo>
                    <a:pt x="293695" y="788261"/>
                  </a:lnTo>
                  <a:lnTo>
                    <a:pt x="296840" y="803522"/>
                  </a:lnTo>
                  <a:lnTo>
                    <a:pt x="305461" y="816499"/>
                  </a:lnTo>
                  <a:lnTo>
                    <a:pt x="318342" y="825514"/>
                  </a:lnTo>
                  <a:lnTo>
                    <a:pt x="334264" y="828892"/>
                  </a:lnTo>
                  <a:lnTo>
                    <a:pt x="350186" y="825514"/>
                  </a:lnTo>
                  <a:lnTo>
                    <a:pt x="363065" y="816499"/>
                  </a:lnTo>
                  <a:lnTo>
                    <a:pt x="371685" y="803522"/>
                  </a:lnTo>
                  <a:lnTo>
                    <a:pt x="374828" y="788261"/>
                  </a:lnTo>
                  <a:lnTo>
                    <a:pt x="374828" y="785010"/>
                  </a:lnTo>
                  <a:lnTo>
                    <a:pt x="425403" y="755758"/>
                  </a:lnTo>
                  <a:lnTo>
                    <a:pt x="306680" y="755758"/>
                  </a:lnTo>
                  <a:lnTo>
                    <a:pt x="126245" y="651742"/>
                  </a:lnTo>
                  <a:close/>
                </a:path>
                <a:path w="668654" h="829310">
                  <a:moveTo>
                    <a:pt x="334061" y="747226"/>
                  </a:moveTo>
                  <a:lnTo>
                    <a:pt x="319838" y="749359"/>
                  </a:lnTo>
                  <a:lnTo>
                    <a:pt x="306680" y="755758"/>
                  </a:lnTo>
                  <a:lnTo>
                    <a:pt x="360223" y="755758"/>
                  </a:lnTo>
                  <a:lnTo>
                    <a:pt x="347979" y="749359"/>
                  </a:lnTo>
                  <a:lnTo>
                    <a:pt x="334061" y="747226"/>
                  </a:lnTo>
                  <a:close/>
                </a:path>
                <a:path w="668654" h="829310">
                  <a:moveTo>
                    <a:pt x="481925" y="0"/>
                  </a:moveTo>
                  <a:lnTo>
                    <a:pt x="466002" y="3149"/>
                  </a:lnTo>
                  <a:lnTo>
                    <a:pt x="453122" y="11786"/>
                  </a:lnTo>
                  <a:lnTo>
                    <a:pt x="444500" y="24690"/>
                  </a:lnTo>
                  <a:lnTo>
                    <a:pt x="441355" y="40645"/>
                  </a:lnTo>
                  <a:lnTo>
                    <a:pt x="443105" y="52421"/>
                  </a:lnTo>
                  <a:lnTo>
                    <a:pt x="448050" y="62990"/>
                  </a:lnTo>
                  <a:lnTo>
                    <a:pt x="455733" y="71738"/>
                  </a:lnTo>
                  <a:lnTo>
                    <a:pt x="465698" y="78054"/>
                  </a:lnTo>
                  <a:lnTo>
                    <a:pt x="465698" y="206407"/>
                  </a:lnTo>
                  <a:lnTo>
                    <a:pt x="587384" y="271461"/>
                  </a:lnTo>
                  <a:lnTo>
                    <a:pt x="587384" y="274697"/>
                  </a:lnTo>
                  <a:lnTo>
                    <a:pt x="585796" y="276288"/>
                  </a:lnTo>
                  <a:lnTo>
                    <a:pt x="585796" y="277933"/>
                  </a:lnTo>
                  <a:lnTo>
                    <a:pt x="587846" y="290887"/>
                  </a:lnTo>
                  <a:lnTo>
                    <a:pt x="593695" y="302316"/>
                  </a:lnTo>
                  <a:lnTo>
                    <a:pt x="602892" y="311306"/>
                  </a:lnTo>
                  <a:lnTo>
                    <a:pt x="614985" y="316944"/>
                  </a:lnTo>
                  <a:lnTo>
                    <a:pt x="614985" y="578603"/>
                  </a:lnTo>
                  <a:lnTo>
                    <a:pt x="602892" y="584928"/>
                  </a:lnTo>
                  <a:lnTo>
                    <a:pt x="593695" y="593842"/>
                  </a:lnTo>
                  <a:lnTo>
                    <a:pt x="587846" y="604889"/>
                  </a:lnTo>
                  <a:lnTo>
                    <a:pt x="585796" y="617614"/>
                  </a:lnTo>
                  <a:lnTo>
                    <a:pt x="585796" y="620861"/>
                  </a:lnTo>
                  <a:lnTo>
                    <a:pt x="587384" y="622484"/>
                  </a:lnTo>
                  <a:lnTo>
                    <a:pt x="587384" y="625737"/>
                  </a:lnTo>
                  <a:lnTo>
                    <a:pt x="360223" y="755758"/>
                  </a:lnTo>
                  <a:lnTo>
                    <a:pt x="425403" y="755758"/>
                  </a:lnTo>
                  <a:lnTo>
                    <a:pt x="605237" y="651742"/>
                  </a:lnTo>
                  <a:lnTo>
                    <a:pt x="648894" y="651742"/>
                  </a:lnTo>
                  <a:lnTo>
                    <a:pt x="656777" y="646460"/>
                  </a:lnTo>
                  <a:lnTo>
                    <a:pt x="665399" y="633561"/>
                  </a:lnTo>
                  <a:lnTo>
                    <a:pt x="668544" y="617614"/>
                  </a:lnTo>
                  <a:lnTo>
                    <a:pt x="667074" y="606997"/>
                  </a:lnTo>
                  <a:lnTo>
                    <a:pt x="662862" y="597295"/>
                  </a:lnTo>
                  <a:lnTo>
                    <a:pt x="656207" y="588813"/>
                  </a:lnTo>
                  <a:lnTo>
                    <a:pt x="647405" y="581856"/>
                  </a:lnTo>
                  <a:lnTo>
                    <a:pt x="647405" y="313691"/>
                  </a:lnTo>
                  <a:lnTo>
                    <a:pt x="656207" y="307648"/>
                  </a:lnTo>
                  <a:lnTo>
                    <a:pt x="662862" y="299471"/>
                  </a:lnTo>
                  <a:lnTo>
                    <a:pt x="667074" y="289465"/>
                  </a:lnTo>
                  <a:lnTo>
                    <a:pt x="668544" y="277933"/>
                  </a:lnTo>
                  <a:lnTo>
                    <a:pt x="665399" y="261979"/>
                  </a:lnTo>
                  <a:lnTo>
                    <a:pt x="656777" y="249074"/>
                  </a:lnTo>
                  <a:lnTo>
                    <a:pt x="648931" y="243815"/>
                  </a:lnTo>
                  <a:lnTo>
                    <a:pt x="605237" y="243815"/>
                  </a:lnTo>
                  <a:lnTo>
                    <a:pt x="498151" y="186934"/>
                  </a:lnTo>
                  <a:lnTo>
                    <a:pt x="498151" y="78054"/>
                  </a:lnTo>
                  <a:lnTo>
                    <a:pt x="508113" y="71738"/>
                  </a:lnTo>
                  <a:lnTo>
                    <a:pt x="515795" y="62990"/>
                  </a:lnTo>
                  <a:lnTo>
                    <a:pt x="520739" y="52421"/>
                  </a:lnTo>
                  <a:lnTo>
                    <a:pt x="522488" y="40645"/>
                  </a:lnTo>
                  <a:lnTo>
                    <a:pt x="519345" y="24690"/>
                  </a:lnTo>
                  <a:lnTo>
                    <a:pt x="510725" y="11786"/>
                  </a:lnTo>
                  <a:lnTo>
                    <a:pt x="497846" y="3149"/>
                  </a:lnTo>
                  <a:lnTo>
                    <a:pt x="481925" y="0"/>
                  </a:lnTo>
                  <a:close/>
                </a:path>
                <a:path w="668654" h="829310">
                  <a:moveTo>
                    <a:pt x="48679" y="237288"/>
                  </a:moveTo>
                  <a:lnTo>
                    <a:pt x="40566" y="237288"/>
                  </a:lnTo>
                  <a:lnTo>
                    <a:pt x="24644" y="240438"/>
                  </a:lnTo>
                  <a:lnTo>
                    <a:pt x="11764" y="249074"/>
                  </a:lnTo>
                  <a:lnTo>
                    <a:pt x="3143" y="261979"/>
                  </a:lnTo>
                  <a:lnTo>
                    <a:pt x="0" y="277933"/>
                  </a:lnTo>
                  <a:lnTo>
                    <a:pt x="1470" y="289491"/>
                  </a:lnTo>
                  <a:lnTo>
                    <a:pt x="5679" y="299674"/>
                  </a:lnTo>
                  <a:lnTo>
                    <a:pt x="12322" y="308333"/>
                  </a:lnTo>
                  <a:lnTo>
                    <a:pt x="21095" y="315315"/>
                  </a:lnTo>
                  <a:lnTo>
                    <a:pt x="21095" y="581856"/>
                  </a:lnTo>
                  <a:lnTo>
                    <a:pt x="12322" y="588128"/>
                  </a:lnTo>
                  <a:lnTo>
                    <a:pt x="5679" y="596686"/>
                  </a:lnTo>
                  <a:lnTo>
                    <a:pt x="1470" y="606769"/>
                  </a:lnTo>
                  <a:lnTo>
                    <a:pt x="0" y="617614"/>
                  </a:lnTo>
                  <a:lnTo>
                    <a:pt x="3143" y="633561"/>
                  </a:lnTo>
                  <a:lnTo>
                    <a:pt x="11764" y="646460"/>
                  </a:lnTo>
                  <a:lnTo>
                    <a:pt x="24644" y="655094"/>
                  </a:lnTo>
                  <a:lnTo>
                    <a:pt x="40566" y="658242"/>
                  </a:lnTo>
                  <a:lnTo>
                    <a:pt x="48679" y="658242"/>
                  </a:lnTo>
                  <a:lnTo>
                    <a:pt x="55171" y="656619"/>
                  </a:lnTo>
                  <a:lnTo>
                    <a:pt x="61660" y="651742"/>
                  </a:lnTo>
                  <a:lnTo>
                    <a:pt x="126245" y="651742"/>
                  </a:lnTo>
                  <a:lnTo>
                    <a:pt x="81134" y="625737"/>
                  </a:lnTo>
                  <a:lnTo>
                    <a:pt x="81134" y="617614"/>
                  </a:lnTo>
                  <a:lnTo>
                    <a:pt x="79106" y="604889"/>
                  </a:lnTo>
                  <a:lnTo>
                    <a:pt x="73426" y="593842"/>
                  </a:lnTo>
                  <a:lnTo>
                    <a:pt x="64703" y="584928"/>
                  </a:lnTo>
                  <a:lnTo>
                    <a:pt x="53544" y="578603"/>
                  </a:lnTo>
                  <a:lnTo>
                    <a:pt x="53544" y="316944"/>
                  </a:lnTo>
                  <a:lnTo>
                    <a:pt x="64703" y="310621"/>
                  </a:lnTo>
                  <a:lnTo>
                    <a:pt x="73426" y="301707"/>
                  </a:lnTo>
                  <a:lnTo>
                    <a:pt x="79106" y="290658"/>
                  </a:lnTo>
                  <a:lnTo>
                    <a:pt x="81134" y="277933"/>
                  </a:lnTo>
                  <a:lnTo>
                    <a:pt x="81134" y="276288"/>
                  </a:lnTo>
                  <a:lnTo>
                    <a:pt x="79508" y="274697"/>
                  </a:lnTo>
                  <a:lnTo>
                    <a:pt x="79508" y="271461"/>
                  </a:lnTo>
                  <a:lnTo>
                    <a:pt x="130664" y="243815"/>
                  </a:lnTo>
                  <a:lnTo>
                    <a:pt x="61660" y="243815"/>
                  </a:lnTo>
                  <a:lnTo>
                    <a:pt x="48679" y="237288"/>
                  </a:lnTo>
                  <a:close/>
                </a:path>
                <a:path w="668654" h="829310">
                  <a:moveTo>
                    <a:pt x="648894" y="651742"/>
                  </a:moveTo>
                  <a:lnTo>
                    <a:pt x="605237" y="651742"/>
                  </a:lnTo>
                  <a:lnTo>
                    <a:pt x="611754" y="656619"/>
                  </a:lnTo>
                  <a:lnTo>
                    <a:pt x="619859" y="658242"/>
                  </a:lnTo>
                  <a:lnTo>
                    <a:pt x="627964" y="658242"/>
                  </a:lnTo>
                  <a:lnTo>
                    <a:pt x="643893" y="655094"/>
                  </a:lnTo>
                  <a:lnTo>
                    <a:pt x="648894" y="651742"/>
                  </a:lnTo>
                  <a:close/>
                </a:path>
                <a:path w="668654" h="829310">
                  <a:moveTo>
                    <a:pt x="186604" y="0"/>
                  </a:moveTo>
                  <a:lnTo>
                    <a:pt x="170682" y="3149"/>
                  </a:lnTo>
                  <a:lnTo>
                    <a:pt x="157801" y="11786"/>
                  </a:lnTo>
                  <a:lnTo>
                    <a:pt x="149179" y="24690"/>
                  </a:lnTo>
                  <a:lnTo>
                    <a:pt x="146035" y="40645"/>
                  </a:lnTo>
                  <a:lnTo>
                    <a:pt x="147785" y="52421"/>
                  </a:lnTo>
                  <a:lnTo>
                    <a:pt x="152729" y="62990"/>
                  </a:lnTo>
                  <a:lnTo>
                    <a:pt x="160412" y="71738"/>
                  </a:lnTo>
                  <a:lnTo>
                    <a:pt x="170378" y="78054"/>
                  </a:lnTo>
                  <a:lnTo>
                    <a:pt x="170378" y="185289"/>
                  </a:lnTo>
                  <a:lnTo>
                    <a:pt x="61660" y="243815"/>
                  </a:lnTo>
                  <a:lnTo>
                    <a:pt x="130664" y="243815"/>
                  </a:lnTo>
                  <a:lnTo>
                    <a:pt x="202831" y="204816"/>
                  </a:lnTo>
                  <a:lnTo>
                    <a:pt x="202831" y="78054"/>
                  </a:lnTo>
                  <a:lnTo>
                    <a:pt x="212795" y="71738"/>
                  </a:lnTo>
                  <a:lnTo>
                    <a:pt x="220476" y="62990"/>
                  </a:lnTo>
                  <a:lnTo>
                    <a:pt x="225419" y="52421"/>
                  </a:lnTo>
                  <a:lnTo>
                    <a:pt x="227168" y="40645"/>
                  </a:lnTo>
                  <a:lnTo>
                    <a:pt x="224024" y="24690"/>
                  </a:lnTo>
                  <a:lnTo>
                    <a:pt x="215405" y="11786"/>
                  </a:lnTo>
                  <a:lnTo>
                    <a:pt x="202526" y="3149"/>
                  </a:lnTo>
                  <a:lnTo>
                    <a:pt x="186604" y="0"/>
                  </a:lnTo>
                  <a:close/>
                </a:path>
                <a:path w="668654" h="829310">
                  <a:moveTo>
                    <a:pt x="627964" y="237288"/>
                  </a:moveTo>
                  <a:lnTo>
                    <a:pt x="619859" y="237288"/>
                  </a:lnTo>
                  <a:lnTo>
                    <a:pt x="611754" y="240579"/>
                  </a:lnTo>
                  <a:lnTo>
                    <a:pt x="605237" y="243815"/>
                  </a:lnTo>
                  <a:lnTo>
                    <a:pt x="648931" y="243815"/>
                  </a:lnTo>
                  <a:lnTo>
                    <a:pt x="643893" y="240438"/>
                  </a:lnTo>
                  <a:lnTo>
                    <a:pt x="627964" y="237288"/>
                  </a:lnTo>
                  <a:close/>
                </a:path>
              </a:pathLst>
            </a:custGeom>
            <a:solidFill>
              <a:srgbClr val="1D70B8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6" name="object 6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11164899" y="466804"/>
              <a:ext cx="115207" cy="115408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1195725" y="236043"/>
              <a:ext cx="79511" cy="79644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1293085" y="336806"/>
              <a:ext cx="95738" cy="95880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1150293" y="954381"/>
              <a:ext cx="193092" cy="203154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11054555" y="855264"/>
              <a:ext cx="386080" cy="388620"/>
            </a:xfrm>
            <a:custGeom>
              <a:avLst/>
              <a:gdLst/>
              <a:ahLst/>
              <a:cxnLst/>
              <a:rect l="l" t="t" r="r" b="b"/>
              <a:pathLst>
                <a:path w="386079" h="388619">
                  <a:moveTo>
                    <a:pt x="193097" y="0"/>
                  </a:moveTo>
                  <a:lnTo>
                    <a:pt x="148680" y="5173"/>
                  </a:lnTo>
                  <a:lnTo>
                    <a:pt x="107980" y="19896"/>
                  </a:lnTo>
                  <a:lnTo>
                    <a:pt x="72135" y="42977"/>
                  </a:lnTo>
                  <a:lnTo>
                    <a:pt x="42279" y="73222"/>
                  </a:lnTo>
                  <a:lnTo>
                    <a:pt x="19547" y="109438"/>
                  </a:lnTo>
                  <a:lnTo>
                    <a:pt x="5076" y="150431"/>
                  </a:lnTo>
                  <a:lnTo>
                    <a:pt x="0" y="195008"/>
                  </a:lnTo>
                  <a:lnTo>
                    <a:pt x="5076" y="238984"/>
                  </a:lnTo>
                  <a:lnTo>
                    <a:pt x="19547" y="279548"/>
                  </a:lnTo>
                  <a:lnTo>
                    <a:pt x="42279" y="315478"/>
                  </a:lnTo>
                  <a:lnTo>
                    <a:pt x="72135" y="345552"/>
                  </a:lnTo>
                  <a:lnTo>
                    <a:pt x="107980" y="368547"/>
                  </a:lnTo>
                  <a:lnTo>
                    <a:pt x="148680" y="383241"/>
                  </a:lnTo>
                  <a:lnTo>
                    <a:pt x="193097" y="388410"/>
                  </a:lnTo>
                  <a:lnTo>
                    <a:pt x="224080" y="385059"/>
                  </a:lnTo>
                  <a:lnTo>
                    <a:pt x="253541" y="377440"/>
                  </a:lnTo>
                  <a:lnTo>
                    <a:pt x="281175" y="365555"/>
                  </a:lnTo>
                  <a:lnTo>
                    <a:pt x="296414" y="355905"/>
                  </a:lnTo>
                  <a:lnTo>
                    <a:pt x="193097" y="355905"/>
                  </a:lnTo>
                  <a:lnTo>
                    <a:pt x="150090" y="350081"/>
                  </a:lnTo>
                  <a:lnTo>
                    <a:pt x="111365" y="333694"/>
                  </a:lnTo>
                  <a:lnTo>
                    <a:pt x="78498" y="308368"/>
                  </a:lnTo>
                  <a:lnTo>
                    <a:pt x="53069" y="275728"/>
                  </a:lnTo>
                  <a:lnTo>
                    <a:pt x="36654" y="237400"/>
                  </a:lnTo>
                  <a:lnTo>
                    <a:pt x="30832" y="195008"/>
                  </a:lnTo>
                  <a:lnTo>
                    <a:pt x="36654" y="151930"/>
                  </a:lnTo>
                  <a:lnTo>
                    <a:pt x="53069" y="113140"/>
                  </a:lnTo>
                  <a:lnTo>
                    <a:pt x="78498" y="80218"/>
                  </a:lnTo>
                  <a:lnTo>
                    <a:pt x="111365" y="54746"/>
                  </a:lnTo>
                  <a:lnTo>
                    <a:pt x="150090" y="38304"/>
                  </a:lnTo>
                  <a:lnTo>
                    <a:pt x="193097" y="32472"/>
                  </a:lnTo>
                  <a:lnTo>
                    <a:pt x="326658" y="32472"/>
                  </a:lnTo>
                  <a:lnTo>
                    <a:pt x="324531" y="30881"/>
                  </a:lnTo>
                  <a:lnTo>
                    <a:pt x="295325" y="30881"/>
                  </a:lnTo>
                  <a:lnTo>
                    <a:pt x="271365" y="17818"/>
                  </a:lnTo>
                  <a:lnTo>
                    <a:pt x="246035" y="8118"/>
                  </a:lnTo>
                  <a:lnTo>
                    <a:pt x="219794" y="2079"/>
                  </a:lnTo>
                  <a:lnTo>
                    <a:pt x="193097" y="0"/>
                  </a:lnTo>
                  <a:close/>
                </a:path>
                <a:path w="386079" h="388619">
                  <a:moveTo>
                    <a:pt x="376453" y="162503"/>
                  </a:moveTo>
                  <a:lnTo>
                    <a:pt x="363474" y="162503"/>
                  </a:lnTo>
                  <a:lnTo>
                    <a:pt x="353737" y="172256"/>
                  </a:lnTo>
                  <a:lnTo>
                    <a:pt x="353737" y="180379"/>
                  </a:lnTo>
                  <a:lnTo>
                    <a:pt x="354356" y="190562"/>
                  </a:lnTo>
                  <a:lnTo>
                    <a:pt x="354305" y="202930"/>
                  </a:lnTo>
                  <a:lnTo>
                    <a:pt x="340756" y="257985"/>
                  </a:lnTo>
                  <a:lnTo>
                    <a:pt x="318042" y="295771"/>
                  </a:lnTo>
                  <a:lnTo>
                    <a:pt x="270907" y="335338"/>
                  </a:lnTo>
                  <a:lnTo>
                    <a:pt x="220657" y="353518"/>
                  </a:lnTo>
                  <a:lnTo>
                    <a:pt x="193097" y="355905"/>
                  </a:lnTo>
                  <a:lnTo>
                    <a:pt x="296414" y="355905"/>
                  </a:lnTo>
                  <a:lnTo>
                    <a:pt x="334268" y="325023"/>
                  </a:lnTo>
                  <a:lnTo>
                    <a:pt x="367937" y="275658"/>
                  </a:lnTo>
                  <a:lnTo>
                    <a:pt x="384569" y="217761"/>
                  </a:lnTo>
                  <a:lnTo>
                    <a:pt x="385937" y="190562"/>
                  </a:lnTo>
                  <a:lnTo>
                    <a:pt x="384569" y="177127"/>
                  </a:lnTo>
                  <a:lnTo>
                    <a:pt x="384569" y="172256"/>
                  </a:lnTo>
                  <a:lnTo>
                    <a:pt x="382948" y="169003"/>
                  </a:lnTo>
                  <a:lnTo>
                    <a:pt x="376453" y="162503"/>
                  </a:lnTo>
                  <a:close/>
                </a:path>
                <a:path w="386079" h="388619">
                  <a:moveTo>
                    <a:pt x="326658" y="32472"/>
                  </a:moveTo>
                  <a:lnTo>
                    <a:pt x="193097" y="32472"/>
                  </a:lnTo>
                  <a:lnTo>
                    <a:pt x="214952" y="33998"/>
                  </a:lnTo>
                  <a:lnTo>
                    <a:pt x="236503" y="38573"/>
                  </a:lnTo>
                  <a:lnTo>
                    <a:pt x="257445" y="46196"/>
                  </a:lnTo>
                  <a:lnTo>
                    <a:pt x="277472" y="56864"/>
                  </a:lnTo>
                  <a:lnTo>
                    <a:pt x="277472" y="58488"/>
                  </a:lnTo>
                  <a:lnTo>
                    <a:pt x="279780" y="71108"/>
                  </a:lnTo>
                  <a:lnTo>
                    <a:pt x="286196" y="81444"/>
                  </a:lnTo>
                  <a:lnTo>
                    <a:pt x="295958" y="88428"/>
                  </a:lnTo>
                  <a:lnTo>
                    <a:pt x="308305" y="90993"/>
                  </a:lnTo>
                  <a:lnTo>
                    <a:pt x="320905" y="88428"/>
                  </a:lnTo>
                  <a:lnTo>
                    <a:pt x="331224" y="81444"/>
                  </a:lnTo>
                  <a:lnTo>
                    <a:pt x="338197" y="71108"/>
                  </a:lnTo>
                  <a:lnTo>
                    <a:pt x="340758" y="58488"/>
                  </a:lnTo>
                  <a:lnTo>
                    <a:pt x="340758" y="50359"/>
                  </a:lnTo>
                  <a:lnTo>
                    <a:pt x="337510" y="42235"/>
                  </a:lnTo>
                  <a:lnTo>
                    <a:pt x="331021" y="35735"/>
                  </a:lnTo>
                  <a:lnTo>
                    <a:pt x="326658" y="32472"/>
                  </a:lnTo>
                  <a:close/>
                </a:path>
                <a:path w="386079" h="388619">
                  <a:moveTo>
                    <a:pt x="316415" y="27590"/>
                  </a:moveTo>
                  <a:lnTo>
                    <a:pt x="298567" y="27590"/>
                  </a:lnTo>
                  <a:lnTo>
                    <a:pt x="295325" y="30881"/>
                  </a:lnTo>
                  <a:lnTo>
                    <a:pt x="324531" y="30881"/>
                  </a:lnTo>
                  <a:lnTo>
                    <a:pt x="316415" y="27590"/>
                  </a:lnTo>
                  <a:close/>
                </a:path>
              </a:pathLst>
            </a:custGeom>
            <a:solidFill>
              <a:srgbClr val="1D70B8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4" name="Номер слайда 13"/>
          <p:cNvSpPr>
            <a:spLocks noGrp="1"/>
          </p:cNvSpPr>
          <p:nvPr>
            <p:ph type="sldNum" sz="quarter" idx="12"/>
          </p:nvPr>
        </p:nvSpPr>
        <p:spPr>
          <a:xfrm>
            <a:off x="11240768" y="6397751"/>
            <a:ext cx="373931" cy="274955"/>
          </a:xfrm>
        </p:spPr>
        <p:txBody>
          <a:bodyPr/>
          <a:lstStyle/>
          <a:p>
            <a:pPr marL="38100">
              <a:lnSpc>
                <a:spcPts val="2145"/>
              </a:lnSpc>
            </a:pPr>
            <a:fld id="{81D60167-4931-47E6-BA6A-407CBD079E47}" type="slidenum">
              <a:rPr lang="ru-RU" sz="2400" b="0" smtClean="0"/>
            </a:fld>
            <a:endParaRPr lang="ru-RU" sz="2400" b="0" dirty="0"/>
          </a:p>
        </p:txBody>
      </p:sp>
      <p:sp>
        <p:nvSpPr>
          <p:cNvPr id="100" name="Заголовок"/>
          <p:cNvSpPr txBox="1"/>
          <p:nvPr/>
        </p:nvSpPr>
        <p:spPr>
          <a:xfrm>
            <a:off x="839470" y="431075"/>
            <a:ext cx="9658350" cy="540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ru-RU" alt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Контроль качества: электрофорез продуктов ПЦР</a:t>
            </a:r>
          </a:p>
        </p:txBody>
      </p:sp>
      <p:pic>
        <p:nvPicPr>
          <p:cNvPr id="150" name="Рисунок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000" y="1678125"/>
            <a:ext cx="5750000" cy="3593750"/>
          </a:xfrm>
          <a:prstGeom prst="rect">
            <a:avLst/>
          </a:prstGeom>
          <a:ln w="12700">
            <a:solidFill>
              <a:srgbClr val="BFBFBF"/>
            </a:solidFill>
          </a:ln>
        </p:spPr>
      </p:pic>
      <p:sp>
        <p:nvSpPr>
          <p:cNvPr id="151" name="подпись"/>
          <p:cNvSpPr txBox="1"/>
          <p:nvPr/>
        </p:nvSpPr>
        <p:spPr>
          <a:xfrm>
            <a:off x="650000" y="5690000"/>
            <a:ext cx="5750000" cy="520000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altLang="en-US" sz="1300" i="1" dirty="0">
                <a:solidFill>
                  <a:srgbClr val="59595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Рисунок — электрофореграмма продуктов ПЦР (агарозный гель)</a:t>
            </a:r>
          </a:p>
        </p:txBody>
      </p:sp>
      <p:sp>
        <p:nvSpPr>
          <p:cNvPr id="152" name="текст"/>
          <p:cNvSpPr txBox="1"/>
          <p:nvPr/>
        </p:nvSpPr>
        <p:spPr>
          <a:xfrm>
            <a:off x="6650000" y="1320000"/>
            <a:ext cx="4900000" cy="4600000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 algn="just">
              <a:spcBef>
                <a:spcPts val="300"/>
              </a:spcBef>
              <a:buNone/>
            </a:pPr>
            <a:r>
              <a:rPr lang="ru-RU" altLang="en-US" sz="1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Подтверждение специфичности и качества синтезированных праймеров.</a:t>
            </a:r>
          </a:p>
          <a:p>
            <a:pPr marL="342900" indent="-342900" algn="just">
              <a:spcBef>
                <a:spcPts val="200"/>
              </a:spcBef>
              <a:buFont typeface="Arial" panose="020B0604020202020204" pitchFamily="34" charset="0"/>
              <a:buChar char="•"/>
            </a:pPr>
            <a:r>
              <a:rPr lang="ru-RU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 электрофореграмме виден единственный чёткий продукт ожидаемого размера (~150 п.н.) — без неспецифических полос и праймер-димеров.</a:t>
            </a:r>
          </a:p>
          <a:p>
            <a:pPr marL="342900" indent="-342900" algn="just">
              <a:spcBef>
                <a:spcPts val="200"/>
              </a:spcBef>
              <a:buFont typeface="Arial" panose="020B0604020202020204" pitchFamily="34" charset="0"/>
              <a:buChar char="•"/>
            </a:pPr>
            <a:r>
              <a:rPr lang="ru-RU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Размер ампликона соответствует расчётному для экзонного стыка гена TOP2A.</a:t>
            </a:r>
          </a:p>
          <a:p>
            <a:pPr marL="342900" indent="-342900" algn="just">
              <a:spcBef>
                <a:spcPts val="200"/>
              </a:spcBef>
              <a:buFont typeface="Arial" panose="020B0604020202020204" pitchFamily="34" charset="0"/>
              <a:buChar char="•"/>
            </a:pPr>
            <a:r>
              <a:rPr lang="ru-RU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 подтверждает корректность подбора, синтеза и очистки олигонуклеотидов.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493776" y="1043939"/>
            <a:ext cx="9946005" cy="0"/>
          </a:xfrm>
          <a:custGeom>
            <a:avLst/>
            <a:gdLst/>
            <a:ahLst/>
            <a:cxnLst/>
            <a:rect l="l" t="t" r="r" b="b"/>
            <a:pathLst>
              <a:path w="9946005">
                <a:moveTo>
                  <a:pt x="0" y="0"/>
                </a:moveTo>
                <a:lnTo>
                  <a:pt x="9946005" y="0"/>
                </a:lnTo>
              </a:path>
            </a:pathLst>
          </a:custGeom>
          <a:ln w="6096">
            <a:solidFill>
              <a:srgbClr val="5B9BD4"/>
            </a:solidFill>
          </a:ln>
        </p:spPr>
        <p:txBody>
          <a:bodyPr wrap="square" lIns="0" tIns="0" rIns="0" bIns="0" rtlCol="0"/>
          <a:lstStyle/>
          <a:p/>
        </p:txBody>
      </p:sp>
      <p:grpSp>
        <p:nvGrpSpPr>
          <p:cNvPr id="4" name="object 4"/>
          <p:cNvGrpSpPr/>
          <p:nvPr/>
        </p:nvGrpSpPr>
        <p:grpSpPr>
          <a:xfrm>
            <a:off x="10913388" y="236043"/>
            <a:ext cx="668655" cy="1195070"/>
            <a:chOff x="10913388" y="236043"/>
            <a:chExt cx="668655" cy="1195070"/>
          </a:xfrm>
        </p:grpSpPr>
        <p:sp>
          <p:nvSpPr>
            <p:cNvPr id="5" name="object 5"/>
            <p:cNvSpPr/>
            <p:nvPr/>
          </p:nvSpPr>
          <p:spPr>
            <a:xfrm>
              <a:off x="10913388" y="601685"/>
              <a:ext cx="668655" cy="829310"/>
            </a:xfrm>
            <a:custGeom>
              <a:avLst/>
              <a:gdLst/>
              <a:ahLst/>
              <a:cxnLst/>
              <a:rect l="l" t="t" r="r" b="b"/>
              <a:pathLst>
                <a:path w="668654" h="829310">
                  <a:moveTo>
                    <a:pt x="126245" y="651742"/>
                  </a:moveTo>
                  <a:lnTo>
                    <a:pt x="61660" y="651742"/>
                  </a:lnTo>
                  <a:lnTo>
                    <a:pt x="293695" y="785010"/>
                  </a:lnTo>
                  <a:lnTo>
                    <a:pt x="293695" y="788261"/>
                  </a:lnTo>
                  <a:lnTo>
                    <a:pt x="296840" y="803522"/>
                  </a:lnTo>
                  <a:lnTo>
                    <a:pt x="305461" y="816499"/>
                  </a:lnTo>
                  <a:lnTo>
                    <a:pt x="318342" y="825514"/>
                  </a:lnTo>
                  <a:lnTo>
                    <a:pt x="334264" y="828892"/>
                  </a:lnTo>
                  <a:lnTo>
                    <a:pt x="350186" y="825514"/>
                  </a:lnTo>
                  <a:lnTo>
                    <a:pt x="363065" y="816499"/>
                  </a:lnTo>
                  <a:lnTo>
                    <a:pt x="371685" y="803522"/>
                  </a:lnTo>
                  <a:lnTo>
                    <a:pt x="374828" y="788261"/>
                  </a:lnTo>
                  <a:lnTo>
                    <a:pt x="374828" y="785010"/>
                  </a:lnTo>
                  <a:lnTo>
                    <a:pt x="425403" y="755758"/>
                  </a:lnTo>
                  <a:lnTo>
                    <a:pt x="306680" y="755758"/>
                  </a:lnTo>
                  <a:lnTo>
                    <a:pt x="126245" y="651742"/>
                  </a:lnTo>
                  <a:close/>
                </a:path>
                <a:path w="668654" h="829310">
                  <a:moveTo>
                    <a:pt x="334061" y="747226"/>
                  </a:moveTo>
                  <a:lnTo>
                    <a:pt x="319838" y="749359"/>
                  </a:lnTo>
                  <a:lnTo>
                    <a:pt x="306680" y="755758"/>
                  </a:lnTo>
                  <a:lnTo>
                    <a:pt x="360223" y="755758"/>
                  </a:lnTo>
                  <a:lnTo>
                    <a:pt x="347979" y="749359"/>
                  </a:lnTo>
                  <a:lnTo>
                    <a:pt x="334061" y="747226"/>
                  </a:lnTo>
                  <a:close/>
                </a:path>
                <a:path w="668654" h="829310">
                  <a:moveTo>
                    <a:pt x="481925" y="0"/>
                  </a:moveTo>
                  <a:lnTo>
                    <a:pt x="466002" y="3149"/>
                  </a:lnTo>
                  <a:lnTo>
                    <a:pt x="453122" y="11786"/>
                  </a:lnTo>
                  <a:lnTo>
                    <a:pt x="444500" y="24690"/>
                  </a:lnTo>
                  <a:lnTo>
                    <a:pt x="441355" y="40645"/>
                  </a:lnTo>
                  <a:lnTo>
                    <a:pt x="443105" y="52421"/>
                  </a:lnTo>
                  <a:lnTo>
                    <a:pt x="448050" y="62990"/>
                  </a:lnTo>
                  <a:lnTo>
                    <a:pt x="455733" y="71738"/>
                  </a:lnTo>
                  <a:lnTo>
                    <a:pt x="465698" y="78054"/>
                  </a:lnTo>
                  <a:lnTo>
                    <a:pt x="465698" y="206407"/>
                  </a:lnTo>
                  <a:lnTo>
                    <a:pt x="587384" y="271461"/>
                  </a:lnTo>
                  <a:lnTo>
                    <a:pt x="587384" y="274697"/>
                  </a:lnTo>
                  <a:lnTo>
                    <a:pt x="585796" y="276288"/>
                  </a:lnTo>
                  <a:lnTo>
                    <a:pt x="585796" y="277933"/>
                  </a:lnTo>
                  <a:lnTo>
                    <a:pt x="587846" y="290887"/>
                  </a:lnTo>
                  <a:lnTo>
                    <a:pt x="593695" y="302316"/>
                  </a:lnTo>
                  <a:lnTo>
                    <a:pt x="602892" y="311306"/>
                  </a:lnTo>
                  <a:lnTo>
                    <a:pt x="614985" y="316944"/>
                  </a:lnTo>
                  <a:lnTo>
                    <a:pt x="614985" y="578603"/>
                  </a:lnTo>
                  <a:lnTo>
                    <a:pt x="602892" y="584928"/>
                  </a:lnTo>
                  <a:lnTo>
                    <a:pt x="593695" y="593842"/>
                  </a:lnTo>
                  <a:lnTo>
                    <a:pt x="587846" y="604889"/>
                  </a:lnTo>
                  <a:lnTo>
                    <a:pt x="585796" y="617614"/>
                  </a:lnTo>
                  <a:lnTo>
                    <a:pt x="585796" y="620861"/>
                  </a:lnTo>
                  <a:lnTo>
                    <a:pt x="587384" y="622484"/>
                  </a:lnTo>
                  <a:lnTo>
                    <a:pt x="587384" y="625737"/>
                  </a:lnTo>
                  <a:lnTo>
                    <a:pt x="360223" y="755758"/>
                  </a:lnTo>
                  <a:lnTo>
                    <a:pt x="425403" y="755758"/>
                  </a:lnTo>
                  <a:lnTo>
                    <a:pt x="605237" y="651742"/>
                  </a:lnTo>
                  <a:lnTo>
                    <a:pt x="648894" y="651742"/>
                  </a:lnTo>
                  <a:lnTo>
                    <a:pt x="656777" y="646460"/>
                  </a:lnTo>
                  <a:lnTo>
                    <a:pt x="665399" y="633561"/>
                  </a:lnTo>
                  <a:lnTo>
                    <a:pt x="668544" y="617614"/>
                  </a:lnTo>
                  <a:lnTo>
                    <a:pt x="667074" y="606997"/>
                  </a:lnTo>
                  <a:lnTo>
                    <a:pt x="662862" y="597295"/>
                  </a:lnTo>
                  <a:lnTo>
                    <a:pt x="656207" y="588813"/>
                  </a:lnTo>
                  <a:lnTo>
                    <a:pt x="647405" y="581856"/>
                  </a:lnTo>
                  <a:lnTo>
                    <a:pt x="647405" y="313691"/>
                  </a:lnTo>
                  <a:lnTo>
                    <a:pt x="656207" y="307648"/>
                  </a:lnTo>
                  <a:lnTo>
                    <a:pt x="662862" y="299471"/>
                  </a:lnTo>
                  <a:lnTo>
                    <a:pt x="667074" y="289465"/>
                  </a:lnTo>
                  <a:lnTo>
                    <a:pt x="668544" y="277933"/>
                  </a:lnTo>
                  <a:lnTo>
                    <a:pt x="665399" y="261979"/>
                  </a:lnTo>
                  <a:lnTo>
                    <a:pt x="656777" y="249074"/>
                  </a:lnTo>
                  <a:lnTo>
                    <a:pt x="648931" y="243815"/>
                  </a:lnTo>
                  <a:lnTo>
                    <a:pt x="605237" y="243815"/>
                  </a:lnTo>
                  <a:lnTo>
                    <a:pt x="498151" y="186934"/>
                  </a:lnTo>
                  <a:lnTo>
                    <a:pt x="498151" y="78054"/>
                  </a:lnTo>
                  <a:lnTo>
                    <a:pt x="508113" y="71738"/>
                  </a:lnTo>
                  <a:lnTo>
                    <a:pt x="515795" y="62990"/>
                  </a:lnTo>
                  <a:lnTo>
                    <a:pt x="520739" y="52421"/>
                  </a:lnTo>
                  <a:lnTo>
                    <a:pt x="522488" y="40645"/>
                  </a:lnTo>
                  <a:lnTo>
                    <a:pt x="519345" y="24690"/>
                  </a:lnTo>
                  <a:lnTo>
                    <a:pt x="510725" y="11786"/>
                  </a:lnTo>
                  <a:lnTo>
                    <a:pt x="497846" y="3149"/>
                  </a:lnTo>
                  <a:lnTo>
                    <a:pt x="481925" y="0"/>
                  </a:lnTo>
                  <a:close/>
                </a:path>
                <a:path w="668654" h="829310">
                  <a:moveTo>
                    <a:pt x="48679" y="237288"/>
                  </a:moveTo>
                  <a:lnTo>
                    <a:pt x="40566" y="237288"/>
                  </a:lnTo>
                  <a:lnTo>
                    <a:pt x="24644" y="240438"/>
                  </a:lnTo>
                  <a:lnTo>
                    <a:pt x="11764" y="249074"/>
                  </a:lnTo>
                  <a:lnTo>
                    <a:pt x="3143" y="261979"/>
                  </a:lnTo>
                  <a:lnTo>
                    <a:pt x="0" y="277933"/>
                  </a:lnTo>
                  <a:lnTo>
                    <a:pt x="1470" y="289491"/>
                  </a:lnTo>
                  <a:lnTo>
                    <a:pt x="5679" y="299674"/>
                  </a:lnTo>
                  <a:lnTo>
                    <a:pt x="12322" y="308333"/>
                  </a:lnTo>
                  <a:lnTo>
                    <a:pt x="21095" y="315315"/>
                  </a:lnTo>
                  <a:lnTo>
                    <a:pt x="21095" y="581856"/>
                  </a:lnTo>
                  <a:lnTo>
                    <a:pt x="12322" y="588128"/>
                  </a:lnTo>
                  <a:lnTo>
                    <a:pt x="5679" y="596686"/>
                  </a:lnTo>
                  <a:lnTo>
                    <a:pt x="1470" y="606769"/>
                  </a:lnTo>
                  <a:lnTo>
                    <a:pt x="0" y="617614"/>
                  </a:lnTo>
                  <a:lnTo>
                    <a:pt x="3143" y="633561"/>
                  </a:lnTo>
                  <a:lnTo>
                    <a:pt x="11764" y="646460"/>
                  </a:lnTo>
                  <a:lnTo>
                    <a:pt x="24644" y="655094"/>
                  </a:lnTo>
                  <a:lnTo>
                    <a:pt x="40566" y="658242"/>
                  </a:lnTo>
                  <a:lnTo>
                    <a:pt x="48679" y="658242"/>
                  </a:lnTo>
                  <a:lnTo>
                    <a:pt x="55171" y="656619"/>
                  </a:lnTo>
                  <a:lnTo>
                    <a:pt x="61660" y="651742"/>
                  </a:lnTo>
                  <a:lnTo>
                    <a:pt x="126245" y="651742"/>
                  </a:lnTo>
                  <a:lnTo>
                    <a:pt x="81134" y="625737"/>
                  </a:lnTo>
                  <a:lnTo>
                    <a:pt x="81134" y="617614"/>
                  </a:lnTo>
                  <a:lnTo>
                    <a:pt x="79106" y="604889"/>
                  </a:lnTo>
                  <a:lnTo>
                    <a:pt x="73426" y="593842"/>
                  </a:lnTo>
                  <a:lnTo>
                    <a:pt x="64703" y="584928"/>
                  </a:lnTo>
                  <a:lnTo>
                    <a:pt x="53544" y="578603"/>
                  </a:lnTo>
                  <a:lnTo>
                    <a:pt x="53544" y="316944"/>
                  </a:lnTo>
                  <a:lnTo>
                    <a:pt x="64703" y="310621"/>
                  </a:lnTo>
                  <a:lnTo>
                    <a:pt x="73426" y="301707"/>
                  </a:lnTo>
                  <a:lnTo>
                    <a:pt x="79106" y="290658"/>
                  </a:lnTo>
                  <a:lnTo>
                    <a:pt x="81134" y="277933"/>
                  </a:lnTo>
                  <a:lnTo>
                    <a:pt x="81134" y="276288"/>
                  </a:lnTo>
                  <a:lnTo>
                    <a:pt x="79508" y="274697"/>
                  </a:lnTo>
                  <a:lnTo>
                    <a:pt x="79508" y="271461"/>
                  </a:lnTo>
                  <a:lnTo>
                    <a:pt x="130664" y="243815"/>
                  </a:lnTo>
                  <a:lnTo>
                    <a:pt x="61660" y="243815"/>
                  </a:lnTo>
                  <a:lnTo>
                    <a:pt x="48679" y="237288"/>
                  </a:lnTo>
                  <a:close/>
                </a:path>
                <a:path w="668654" h="829310">
                  <a:moveTo>
                    <a:pt x="648894" y="651742"/>
                  </a:moveTo>
                  <a:lnTo>
                    <a:pt x="605237" y="651742"/>
                  </a:lnTo>
                  <a:lnTo>
                    <a:pt x="611754" y="656619"/>
                  </a:lnTo>
                  <a:lnTo>
                    <a:pt x="619859" y="658242"/>
                  </a:lnTo>
                  <a:lnTo>
                    <a:pt x="627964" y="658242"/>
                  </a:lnTo>
                  <a:lnTo>
                    <a:pt x="643893" y="655094"/>
                  </a:lnTo>
                  <a:lnTo>
                    <a:pt x="648894" y="651742"/>
                  </a:lnTo>
                  <a:close/>
                </a:path>
                <a:path w="668654" h="829310">
                  <a:moveTo>
                    <a:pt x="186604" y="0"/>
                  </a:moveTo>
                  <a:lnTo>
                    <a:pt x="170682" y="3149"/>
                  </a:lnTo>
                  <a:lnTo>
                    <a:pt x="157801" y="11786"/>
                  </a:lnTo>
                  <a:lnTo>
                    <a:pt x="149179" y="24690"/>
                  </a:lnTo>
                  <a:lnTo>
                    <a:pt x="146035" y="40645"/>
                  </a:lnTo>
                  <a:lnTo>
                    <a:pt x="147785" y="52421"/>
                  </a:lnTo>
                  <a:lnTo>
                    <a:pt x="152729" y="62990"/>
                  </a:lnTo>
                  <a:lnTo>
                    <a:pt x="160412" y="71738"/>
                  </a:lnTo>
                  <a:lnTo>
                    <a:pt x="170378" y="78054"/>
                  </a:lnTo>
                  <a:lnTo>
                    <a:pt x="170378" y="185289"/>
                  </a:lnTo>
                  <a:lnTo>
                    <a:pt x="61660" y="243815"/>
                  </a:lnTo>
                  <a:lnTo>
                    <a:pt x="130664" y="243815"/>
                  </a:lnTo>
                  <a:lnTo>
                    <a:pt x="202831" y="204816"/>
                  </a:lnTo>
                  <a:lnTo>
                    <a:pt x="202831" y="78054"/>
                  </a:lnTo>
                  <a:lnTo>
                    <a:pt x="212795" y="71738"/>
                  </a:lnTo>
                  <a:lnTo>
                    <a:pt x="220476" y="62990"/>
                  </a:lnTo>
                  <a:lnTo>
                    <a:pt x="225419" y="52421"/>
                  </a:lnTo>
                  <a:lnTo>
                    <a:pt x="227168" y="40645"/>
                  </a:lnTo>
                  <a:lnTo>
                    <a:pt x="224024" y="24690"/>
                  </a:lnTo>
                  <a:lnTo>
                    <a:pt x="215405" y="11786"/>
                  </a:lnTo>
                  <a:lnTo>
                    <a:pt x="202526" y="3149"/>
                  </a:lnTo>
                  <a:lnTo>
                    <a:pt x="186604" y="0"/>
                  </a:lnTo>
                  <a:close/>
                </a:path>
                <a:path w="668654" h="829310">
                  <a:moveTo>
                    <a:pt x="627964" y="237288"/>
                  </a:moveTo>
                  <a:lnTo>
                    <a:pt x="619859" y="237288"/>
                  </a:lnTo>
                  <a:lnTo>
                    <a:pt x="611754" y="240579"/>
                  </a:lnTo>
                  <a:lnTo>
                    <a:pt x="605237" y="243815"/>
                  </a:lnTo>
                  <a:lnTo>
                    <a:pt x="648931" y="243815"/>
                  </a:lnTo>
                  <a:lnTo>
                    <a:pt x="643893" y="240438"/>
                  </a:lnTo>
                  <a:lnTo>
                    <a:pt x="627964" y="237288"/>
                  </a:lnTo>
                  <a:close/>
                </a:path>
              </a:pathLst>
            </a:custGeom>
            <a:solidFill>
              <a:srgbClr val="1D70B8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6" name="object 6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11164899" y="466804"/>
              <a:ext cx="115207" cy="115408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1195725" y="236043"/>
              <a:ext cx="79511" cy="79644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1293085" y="336806"/>
              <a:ext cx="95738" cy="95880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1150293" y="954381"/>
              <a:ext cx="193092" cy="203154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11054555" y="855264"/>
              <a:ext cx="386080" cy="388620"/>
            </a:xfrm>
            <a:custGeom>
              <a:avLst/>
              <a:gdLst/>
              <a:ahLst/>
              <a:cxnLst/>
              <a:rect l="l" t="t" r="r" b="b"/>
              <a:pathLst>
                <a:path w="386079" h="388619">
                  <a:moveTo>
                    <a:pt x="193097" y="0"/>
                  </a:moveTo>
                  <a:lnTo>
                    <a:pt x="148680" y="5173"/>
                  </a:lnTo>
                  <a:lnTo>
                    <a:pt x="107980" y="19896"/>
                  </a:lnTo>
                  <a:lnTo>
                    <a:pt x="72135" y="42977"/>
                  </a:lnTo>
                  <a:lnTo>
                    <a:pt x="42279" y="73222"/>
                  </a:lnTo>
                  <a:lnTo>
                    <a:pt x="19547" y="109438"/>
                  </a:lnTo>
                  <a:lnTo>
                    <a:pt x="5076" y="150431"/>
                  </a:lnTo>
                  <a:lnTo>
                    <a:pt x="0" y="195008"/>
                  </a:lnTo>
                  <a:lnTo>
                    <a:pt x="5076" y="238984"/>
                  </a:lnTo>
                  <a:lnTo>
                    <a:pt x="19547" y="279548"/>
                  </a:lnTo>
                  <a:lnTo>
                    <a:pt x="42279" y="315478"/>
                  </a:lnTo>
                  <a:lnTo>
                    <a:pt x="72135" y="345552"/>
                  </a:lnTo>
                  <a:lnTo>
                    <a:pt x="107980" y="368547"/>
                  </a:lnTo>
                  <a:lnTo>
                    <a:pt x="148680" y="383241"/>
                  </a:lnTo>
                  <a:lnTo>
                    <a:pt x="193097" y="388410"/>
                  </a:lnTo>
                  <a:lnTo>
                    <a:pt x="224080" y="385059"/>
                  </a:lnTo>
                  <a:lnTo>
                    <a:pt x="253541" y="377440"/>
                  </a:lnTo>
                  <a:lnTo>
                    <a:pt x="281175" y="365555"/>
                  </a:lnTo>
                  <a:lnTo>
                    <a:pt x="296414" y="355905"/>
                  </a:lnTo>
                  <a:lnTo>
                    <a:pt x="193097" y="355905"/>
                  </a:lnTo>
                  <a:lnTo>
                    <a:pt x="150090" y="350081"/>
                  </a:lnTo>
                  <a:lnTo>
                    <a:pt x="111365" y="333694"/>
                  </a:lnTo>
                  <a:lnTo>
                    <a:pt x="78498" y="308368"/>
                  </a:lnTo>
                  <a:lnTo>
                    <a:pt x="53069" y="275728"/>
                  </a:lnTo>
                  <a:lnTo>
                    <a:pt x="36654" y="237400"/>
                  </a:lnTo>
                  <a:lnTo>
                    <a:pt x="30832" y="195008"/>
                  </a:lnTo>
                  <a:lnTo>
                    <a:pt x="36654" y="151930"/>
                  </a:lnTo>
                  <a:lnTo>
                    <a:pt x="53069" y="113140"/>
                  </a:lnTo>
                  <a:lnTo>
                    <a:pt x="78498" y="80218"/>
                  </a:lnTo>
                  <a:lnTo>
                    <a:pt x="111365" y="54746"/>
                  </a:lnTo>
                  <a:lnTo>
                    <a:pt x="150090" y="38304"/>
                  </a:lnTo>
                  <a:lnTo>
                    <a:pt x="193097" y="32472"/>
                  </a:lnTo>
                  <a:lnTo>
                    <a:pt x="326658" y="32472"/>
                  </a:lnTo>
                  <a:lnTo>
                    <a:pt x="324531" y="30881"/>
                  </a:lnTo>
                  <a:lnTo>
                    <a:pt x="295325" y="30881"/>
                  </a:lnTo>
                  <a:lnTo>
                    <a:pt x="271365" y="17818"/>
                  </a:lnTo>
                  <a:lnTo>
                    <a:pt x="246035" y="8118"/>
                  </a:lnTo>
                  <a:lnTo>
                    <a:pt x="219794" y="2079"/>
                  </a:lnTo>
                  <a:lnTo>
                    <a:pt x="193097" y="0"/>
                  </a:lnTo>
                  <a:close/>
                </a:path>
                <a:path w="386079" h="388619">
                  <a:moveTo>
                    <a:pt x="376453" y="162503"/>
                  </a:moveTo>
                  <a:lnTo>
                    <a:pt x="363474" y="162503"/>
                  </a:lnTo>
                  <a:lnTo>
                    <a:pt x="353737" y="172256"/>
                  </a:lnTo>
                  <a:lnTo>
                    <a:pt x="353737" y="180379"/>
                  </a:lnTo>
                  <a:lnTo>
                    <a:pt x="354356" y="190562"/>
                  </a:lnTo>
                  <a:lnTo>
                    <a:pt x="354305" y="202930"/>
                  </a:lnTo>
                  <a:lnTo>
                    <a:pt x="340756" y="257985"/>
                  </a:lnTo>
                  <a:lnTo>
                    <a:pt x="318042" y="295771"/>
                  </a:lnTo>
                  <a:lnTo>
                    <a:pt x="270907" y="335338"/>
                  </a:lnTo>
                  <a:lnTo>
                    <a:pt x="220657" y="353518"/>
                  </a:lnTo>
                  <a:lnTo>
                    <a:pt x="193097" y="355905"/>
                  </a:lnTo>
                  <a:lnTo>
                    <a:pt x="296414" y="355905"/>
                  </a:lnTo>
                  <a:lnTo>
                    <a:pt x="334268" y="325023"/>
                  </a:lnTo>
                  <a:lnTo>
                    <a:pt x="367937" y="275658"/>
                  </a:lnTo>
                  <a:lnTo>
                    <a:pt x="384569" y="217761"/>
                  </a:lnTo>
                  <a:lnTo>
                    <a:pt x="385937" y="190562"/>
                  </a:lnTo>
                  <a:lnTo>
                    <a:pt x="384569" y="177127"/>
                  </a:lnTo>
                  <a:lnTo>
                    <a:pt x="384569" y="172256"/>
                  </a:lnTo>
                  <a:lnTo>
                    <a:pt x="382948" y="169003"/>
                  </a:lnTo>
                  <a:lnTo>
                    <a:pt x="376453" y="162503"/>
                  </a:lnTo>
                  <a:close/>
                </a:path>
                <a:path w="386079" h="388619">
                  <a:moveTo>
                    <a:pt x="326658" y="32472"/>
                  </a:moveTo>
                  <a:lnTo>
                    <a:pt x="193097" y="32472"/>
                  </a:lnTo>
                  <a:lnTo>
                    <a:pt x="214952" y="33998"/>
                  </a:lnTo>
                  <a:lnTo>
                    <a:pt x="236503" y="38573"/>
                  </a:lnTo>
                  <a:lnTo>
                    <a:pt x="257445" y="46196"/>
                  </a:lnTo>
                  <a:lnTo>
                    <a:pt x="277472" y="56864"/>
                  </a:lnTo>
                  <a:lnTo>
                    <a:pt x="277472" y="58488"/>
                  </a:lnTo>
                  <a:lnTo>
                    <a:pt x="279780" y="71108"/>
                  </a:lnTo>
                  <a:lnTo>
                    <a:pt x="286196" y="81444"/>
                  </a:lnTo>
                  <a:lnTo>
                    <a:pt x="295958" y="88428"/>
                  </a:lnTo>
                  <a:lnTo>
                    <a:pt x="308305" y="90993"/>
                  </a:lnTo>
                  <a:lnTo>
                    <a:pt x="320905" y="88428"/>
                  </a:lnTo>
                  <a:lnTo>
                    <a:pt x="331224" y="81444"/>
                  </a:lnTo>
                  <a:lnTo>
                    <a:pt x="338197" y="71108"/>
                  </a:lnTo>
                  <a:lnTo>
                    <a:pt x="340758" y="58488"/>
                  </a:lnTo>
                  <a:lnTo>
                    <a:pt x="340758" y="50359"/>
                  </a:lnTo>
                  <a:lnTo>
                    <a:pt x="337510" y="42235"/>
                  </a:lnTo>
                  <a:lnTo>
                    <a:pt x="331021" y="35735"/>
                  </a:lnTo>
                  <a:lnTo>
                    <a:pt x="326658" y="32472"/>
                  </a:lnTo>
                  <a:close/>
                </a:path>
                <a:path w="386079" h="388619">
                  <a:moveTo>
                    <a:pt x="316415" y="27590"/>
                  </a:moveTo>
                  <a:lnTo>
                    <a:pt x="298567" y="27590"/>
                  </a:lnTo>
                  <a:lnTo>
                    <a:pt x="295325" y="30881"/>
                  </a:lnTo>
                  <a:lnTo>
                    <a:pt x="324531" y="30881"/>
                  </a:lnTo>
                  <a:lnTo>
                    <a:pt x="316415" y="27590"/>
                  </a:lnTo>
                  <a:close/>
                </a:path>
              </a:pathLst>
            </a:custGeom>
            <a:solidFill>
              <a:srgbClr val="1D70B8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4" name="Номер слайда 13"/>
          <p:cNvSpPr>
            <a:spLocks noGrp="1"/>
          </p:cNvSpPr>
          <p:nvPr>
            <p:ph type="sldNum" sz="quarter" idx="12"/>
          </p:nvPr>
        </p:nvSpPr>
        <p:spPr>
          <a:xfrm>
            <a:off x="11240768" y="6397751"/>
            <a:ext cx="373931" cy="274955"/>
          </a:xfrm>
        </p:spPr>
        <p:txBody>
          <a:bodyPr/>
          <a:lstStyle/>
          <a:p>
            <a:pPr marL="38100">
              <a:lnSpc>
                <a:spcPts val="2145"/>
              </a:lnSpc>
            </a:pPr>
            <a:fld id="{81D60167-4931-47E6-BA6A-407CBD079E47}" type="slidenum">
              <a:rPr lang="ru-RU" sz="2400" b="0" smtClean="0"/>
            </a:fld>
            <a:endParaRPr lang="ru-RU" sz="2400" b="0" dirty="0"/>
          </a:p>
        </p:txBody>
      </p:sp>
      <p:sp>
        <p:nvSpPr>
          <p:cNvPr id="100" name="Заголовок"/>
          <p:cNvSpPr txBox="1"/>
          <p:nvPr/>
        </p:nvSpPr>
        <p:spPr>
          <a:xfrm>
            <a:off x="839470" y="431075"/>
            <a:ext cx="9658350" cy="540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ru-RU" alt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Результаты ПЦР: детекция ампликона гена TOP2A</a:t>
            </a:r>
          </a:p>
        </p:txBody>
      </p:sp>
      <p:pic>
        <p:nvPicPr>
          <p:cNvPr id="150" name="Рисунок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000" y="1678125"/>
            <a:ext cx="5750000" cy="3593750"/>
          </a:xfrm>
          <a:prstGeom prst="rect">
            <a:avLst/>
          </a:prstGeom>
          <a:ln w="12700">
            <a:solidFill>
              <a:srgbClr val="BFBFBF"/>
            </a:solidFill>
          </a:ln>
        </p:spPr>
      </p:pic>
      <p:sp>
        <p:nvSpPr>
          <p:cNvPr id="151" name="подпись"/>
          <p:cNvSpPr txBox="1"/>
          <p:nvPr/>
        </p:nvSpPr>
        <p:spPr>
          <a:xfrm>
            <a:off x="650000" y="5690000"/>
            <a:ext cx="5750000" cy="520000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altLang="en-US" sz="1300" i="1" dirty="0">
                <a:solidFill>
                  <a:srgbClr val="59595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Рисунок — электрофореграмма ПЦР-продукта гена TOP2A</a:t>
            </a:r>
          </a:p>
        </p:txBody>
      </p:sp>
      <p:sp>
        <p:nvSpPr>
          <p:cNvPr id="152" name="текст"/>
          <p:cNvSpPr txBox="1"/>
          <p:nvPr/>
        </p:nvSpPr>
        <p:spPr>
          <a:xfrm>
            <a:off x="6650000" y="1320000"/>
            <a:ext cx="4900000" cy="4600000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 algn="just">
              <a:spcBef>
                <a:spcPts val="300"/>
              </a:spcBef>
              <a:buNone/>
            </a:pPr>
            <a:r>
              <a:rPr lang="ru-RU" altLang="en-US" sz="1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Амплификация целевого фрагмента гена TOP2A.</a:t>
            </a:r>
          </a:p>
          <a:p>
            <a:pPr marL="342900" indent="-342900" algn="just">
              <a:spcBef>
                <a:spcPts val="200"/>
              </a:spcBef>
              <a:buFont typeface="Arial" panose="020B0604020202020204" pitchFamily="34" charset="0"/>
              <a:buChar char="•"/>
            </a:pPr>
            <a:r>
              <a:rPr lang="ru-RU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дорожках с матрицей (кДНК) наблюдается специфический ампликон; в отрицательном контроле полоса отсутствует.</a:t>
            </a:r>
          </a:p>
          <a:p>
            <a:pPr marL="342900" indent="-342900" algn="just">
              <a:spcBef>
                <a:spcPts val="200"/>
              </a:spcBef>
              <a:buFont typeface="Arial" panose="020B0604020202020204" pitchFamily="34" charset="0"/>
              <a:buChar char="•"/>
            </a:pPr>
            <a:r>
              <a:rPr lang="ru-RU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Положение полосы относительно маркера длин соответствует ожидаемому размеру продукта.</a:t>
            </a:r>
          </a:p>
          <a:p>
            <a:pPr marL="342900" indent="-342900" algn="just">
              <a:spcBef>
                <a:spcPts val="200"/>
              </a:spcBef>
              <a:buFont typeface="Arial" panose="020B0604020202020204" pitchFamily="34" charset="0"/>
              <a:buChar char="•"/>
            </a:pPr>
            <a:r>
              <a:rPr lang="ru-RU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Сконструированные праймеры пригодны для анализа экспрессии гена TOP2A методом ПЦР.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493776" y="1043939"/>
            <a:ext cx="9946005" cy="0"/>
          </a:xfrm>
          <a:custGeom>
            <a:avLst/>
            <a:gdLst/>
            <a:ahLst/>
            <a:cxnLst/>
            <a:rect l="l" t="t" r="r" b="b"/>
            <a:pathLst>
              <a:path w="9946005">
                <a:moveTo>
                  <a:pt x="0" y="0"/>
                </a:moveTo>
                <a:lnTo>
                  <a:pt x="9946005" y="0"/>
                </a:lnTo>
              </a:path>
            </a:pathLst>
          </a:custGeom>
          <a:ln w="6096">
            <a:solidFill>
              <a:srgbClr val="5B9BD4"/>
            </a:solidFill>
          </a:ln>
        </p:spPr>
        <p:txBody>
          <a:bodyPr wrap="square" lIns="0" tIns="0" rIns="0" bIns="0" rtlCol="0"/>
          <a:lstStyle/>
          <a:p/>
        </p:txBody>
      </p:sp>
      <p:grpSp>
        <p:nvGrpSpPr>
          <p:cNvPr id="4" name="object 4"/>
          <p:cNvGrpSpPr/>
          <p:nvPr/>
        </p:nvGrpSpPr>
        <p:grpSpPr>
          <a:xfrm>
            <a:off x="10913388" y="236043"/>
            <a:ext cx="668655" cy="1195070"/>
            <a:chOff x="10913388" y="236043"/>
            <a:chExt cx="668655" cy="1195070"/>
          </a:xfrm>
        </p:grpSpPr>
        <p:sp>
          <p:nvSpPr>
            <p:cNvPr id="5" name="object 5"/>
            <p:cNvSpPr/>
            <p:nvPr/>
          </p:nvSpPr>
          <p:spPr>
            <a:xfrm>
              <a:off x="10913388" y="601685"/>
              <a:ext cx="668655" cy="829310"/>
            </a:xfrm>
            <a:custGeom>
              <a:avLst/>
              <a:gdLst/>
              <a:ahLst/>
              <a:cxnLst/>
              <a:rect l="l" t="t" r="r" b="b"/>
              <a:pathLst>
                <a:path w="668654" h="829310">
                  <a:moveTo>
                    <a:pt x="126245" y="651742"/>
                  </a:moveTo>
                  <a:lnTo>
                    <a:pt x="61660" y="651742"/>
                  </a:lnTo>
                  <a:lnTo>
                    <a:pt x="293695" y="785010"/>
                  </a:lnTo>
                  <a:lnTo>
                    <a:pt x="293695" y="788261"/>
                  </a:lnTo>
                  <a:lnTo>
                    <a:pt x="296840" y="803522"/>
                  </a:lnTo>
                  <a:lnTo>
                    <a:pt x="305461" y="816499"/>
                  </a:lnTo>
                  <a:lnTo>
                    <a:pt x="318342" y="825514"/>
                  </a:lnTo>
                  <a:lnTo>
                    <a:pt x="334264" y="828892"/>
                  </a:lnTo>
                  <a:lnTo>
                    <a:pt x="350186" y="825514"/>
                  </a:lnTo>
                  <a:lnTo>
                    <a:pt x="363065" y="816499"/>
                  </a:lnTo>
                  <a:lnTo>
                    <a:pt x="371685" y="803522"/>
                  </a:lnTo>
                  <a:lnTo>
                    <a:pt x="374828" y="788261"/>
                  </a:lnTo>
                  <a:lnTo>
                    <a:pt x="374828" y="785010"/>
                  </a:lnTo>
                  <a:lnTo>
                    <a:pt x="425403" y="755758"/>
                  </a:lnTo>
                  <a:lnTo>
                    <a:pt x="306680" y="755758"/>
                  </a:lnTo>
                  <a:lnTo>
                    <a:pt x="126245" y="651742"/>
                  </a:lnTo>
                  <a:close/>
                </a:path>
                <a:path w="668654" h="829310">
                  <a:moveTo>
                    <a:pt x="334061" y="747226"/>
                  </a:moveTo>
                  <a:lnTo>
                    <a:pt x="319838" y="749359"/>
                  </a:lnTo>
                  <a:lnTo>
                    <a:pt x="306680" y="755758"/>
                  </a:lnTo>
                  <a:lnTo>
                    <a:pt x="360223" y="755758"/>
                  </a:lnTo>
                  <a:lnTo>
                    <a:pt x="347979" y="749359"/>
                  </a:lnTo>
                  <a:lnTo>
                    <a:pt x="334061" y="747226"/>
                  </a:lnTo>
                  <a:close/>
                </a:path>
                <a:path w="668654" h="829310">
                  <a:moveTo>
                    <a:pt x="481925" y="0"/>
                  </a:moveTo>
                  <a:lnTo>
                    <a:pt x="466002" y="3149"/>
                  </a:lnTo>
                  <a:lnTo>
                    <a:pt x="453122" y="11786"/>
                  </a:lnTo>
                  <a:lnTo>
                    <a:pt x="444500" y="24690"/>
                  </a:lnTo>
                  <a:lnTo>
                    <a:pt x="441355" y="40645"/>
                  </a:lnTo>
                  <a:lnTo>
                    <a:pt x="443105" y="52421"/>
                  </a:lnTo>
                  <a:lnTo>
                    <a:pt x="448050" y="62990"/>
                  </a:lnTo>
                  <a:lnTo>
                    <a:pt x="455733" y="71738"/>
                  </a:lnTo>
                  <a:lnTo>
                    <a:pt x="465698" y="78054"/>
                  </a:lnTo>
                  <a:lnTo>
                    <a:pt x="465698" y="206407"/>
                  </a:lnTo>
                  <a:lnTo>
                    <a:pt x="587384" y="271461"/>
                  </a:lnTo>
                  <a:lnTo>
                    <a:pt x="587384" y="274697"/>
                  </a:lnTo>
                  <a:lnTo>
                    <a:pt x="585796" y="276288"/>
                  </a:lnTo>
                  <a:lnTo>
                    <a:pt x="585796" y="277933"/>
                  </a:lnTo>
                  <a:lnTo>
                    <a:pt x="587846" y="290887"/>
                  </a:lnTo>
                  <a:lnTo>
                    <a:pt x="593695" y="302316"/>
                  </a:lnTo>
                  <a:lnTo>
                    <a:pt x="602892" y="311306"/>
                  </a:lnTo>
                  <a:lnTo>
                    <a:pt x="614985" y="316944"/>
                  </a:lnTo>
                  <a:lnTo>
                    <a:pt x="614985" y="578603"/>
                  </a:lnTo>
                  <a:lnTo>
                    <a:pt x="602892" y="584928"/>
                  </a:lnTo>
                  <a:lnTo>
                    <a:pt x="593695" y="593842"/>
                  </a:lnTo>
                  <a:lnTo>
                    <a:pt x="587846" y="604889"/>
                  </a:lnTo>
                  <a:lnTo>
                    <a:pt x="585796" y="617614"/>
                  </a:lnTo>
                  <a:lnTo>
                    <a:pt x="585796" y="620861"/>
                  </a:lnTo>
                  <a:lnTo>
                    <a:pt x="587384" y="622484"/>
                  </a:lnTo>
                  <a:lnTo>
                    <a:pt x="587384" y="625737"/>
                  </a:lnTo>
                  <a:lnTo>
                    <a:pt x="360223" y="755758"/>
                  </a:lnTo>
                  <a:lnTo>
                    <a:pt x="425403" y="755758"/>
                  </a:lnTo>
                  <a:lnTo>
                    <a:pt x="605237" y="651742"/>
                  </a:lnTo>
                  <a:lnTo>
                    <a:pt x="648894" y="651742"/>
                  </a:lnTo>
                  <a:lnTo>
                    <a:pt x="656777" y="646460"/>
                  </a:lnTo>
                  <a:lnTo>
                    <a:pt x="665399" y="633561"/>
                  </a:lnTo>
                  <a:lnTo>
                    <a:pt x="668544" y="617614"/>
                  </a:lnTo>
                  <a:lnTo>
                    <a:pt x="667074" y="606997"/>
                  </a:lnTo>
                  <a:lnTo>
                    <a:pt x="662862" y="597295"/>
                  </a:lnTo>
                  <a:lnTo>
                    <a:pt x="656207" y="588813"/>
                  </a:lnTo>
                  <a:lnTo>
                    <a:pt x="647405" y="581856"/>
                  </a:lnTo>
                  <a:lnTo>
                    <a:pt x="647405" y="313691"/>
                  </a:lnTo>
                  <a:lnTo>
                    <a:pt x="656207" y="307648"/>
                  </a:lnTo>
                  <a:lnTo>
                    <a:pt x="662862" y="299471"/>
                  </a:lnTo>
                  <a:lnTo>
                    <a:pt x="667074" y="289465"/>
                  </a:lnTo>
                  <a:lnTo>
                    <a:pt x="668544" y="277933"/>
                  </a:lnTo>
                  <a:lnTo>
                    <a:pt x="665399" y="261979"/>
                  </a:lnTo>
                  <a:lnTo>
                    <a:pt x="656777" y="249074"/>
                  </a:lnTo>
                  <a:lnTo>
                    <a:pt x="648931" y="243815"/>
                  </a:lnTo>
                  <a:lnTo>
                    <a:pt x="605237" y="243815"/>
                  </a:lnTo>
                  <a:lnTo>
                    <a:pt x="498151" y="186934"/>
                  </a:lnTo>
                  <a:lnTo>
                    <a:pt x="498151" y="78054"/>
                  </a:lnTo>
                  <a:lnTo>
                    <a:pt x="508113" y="71738"/>
                  </a:lnTo>
                  <a:lnTo>
                    <a:pt x="515795" y="62990"/>
                  </a:lnTo>
                  <a:lnTo>
                    <a:pt x="520739" y="52421"/>
                  </a:lnTo>
                  <a:lnTo>
                    <a:pt x="522488" y="40645"/>
                  </a:lnTo>
                  <a:lnTo>
                    <a:pt x="519345" y="24690"/>
                  </a:lnTo>
                  <a:lnTo>
                    <a:pt x="510725" y="11786"/>
                  </a:lnTo>
                  <a:lnTo>
                    <a:pt x="497846" y="3149"/>
                  </a:lnTo>
                  <a:lnTo>
                    <a:pt x="481925" y="0"/>
                  </a:lnTo>
                  <a:close/>
                </a:path>
                <a:path w="668654" h="829310">
                  <a:moveTo>
                    <a:pt x="48679" y="237288"/>
                  </a:moveTo>
                  <a:lnTo>
                    <a:pt x="40566" y="237288"/>
                  </a:lnTo>
                  <a:lnTo>
                    <a:pt x="24644" y="240438"/>
                  </a:lnTo>
                  <a:lnTo>
                    <a:pt x="11764" y="249074"/>
                  </a:lnTo>
                  <a:lnTo>
                    <a:pt x="3143" y="261979"/>
                  </a:lnTo>
                  <a:lnTo>
                    <a:pt x="0" y="277933"/>
                  </a:lnTo>
                  <a:lnTo>
                    <a:pt x="1470" y="289491"/>
                  </a:lnTo>
                  <a:lnTo>
                    <a:pt x="5679" y="299674"/>
                  </a:lnTo>
                  <a:lnTo>
                    <a:pt x="12322" y="308333"/>
                  </a:lnTo>
                  <a:lnTo>
                    <a:pt x="21095" y="315315"/>
                  </a:lnTo>
                  <a:lnTo>
                    <a:pt x="21095" y="581856"/>
                  </a:lnTo>
                  <a:lnTo>
                    <a:pt x="12322" y="588128"/>
                  </a:lnTo>
                  <a:lnTo>
                    <a:pt x="5679" y="596686"/>
                  </a:lnTo>
                  <a:lnTo>
                    <a:pt x="1470" y="606769"/>
                  </a:lnTo>
                  <a:lnTo>
                    <a:pt x="0" y="617614"/>
                  </a:lnTo>
                  <a:lnTo>
                    <a:pt x="3143" y="633561"/>
                  </a:lnTo>
                  <a:lnTo>
                    <a:pt x="11764" y="646460"/>
                  </a:lnTo>
                  <a:lnTo>
                    <a:pt x="24644" y="655094"/>
                  </a:lnTo>
                  <a:lnTo>
                    <a:pt x="40566" y="658242"/>
                  </a:lnTo>
                  <a:lnTo>
                    <a:pt x="48679" y="658242"/>
                  </a:lnTo>
                  <a:lnTo>
                    <a:pt x="55171" y="656619"/>
                  </a:lnTo>
                  <a:lnTo>
                    <a:pt x="61660" y="651742"/>
                  </a:lnTo>
                  <a:lnTo>
                    <a:pt x="126245" y="651742"/>
                  </a:lnTo>
                  <a:lnTo>
                    <a:pt x="81134" y="625737"/>
                  </a:lnTo>
                  <a:lnTo>
                    <a:pt x="81134" y="617614"/>
                  </a:lnTo>
                  <a:lnTo>
                    <a:pt x="79106" y="604889"/>
                  </a:lnTo>
                  <a:lnTo>
                    <a:pt x="73426" y="593842"/>
                  </a:lnTo>
                  <a:lnTo>
                    <a:pt x="64703" y="584928"/>
                  </a:lnTo>
                  <a:lnTo>
                    <a:pt x="53544" y="578603"/>
                  </a:lnTo>
                  <a:lnTo>
                    <a:pt x="53544" y="316944"/>
                  </a:lnTo>
                  <a:lnTo>
                    <a:pt x="64703" y="310621"/>
                  </a:lnTo>
                  <a:lnTo>
                    <a:pt x="73426" y="301707"/>
                  </a:lnTo>
                  <a:lnTo>
                    <a:pt x="79106" y="290658"/>
                  </a:lnTo>
                  <a:lnTo>
                    <a:pt x="81134" y="277933"/>
                  </a:lnTo>
                  <a:lnTo>
                    <a:pt x="81134" y="276288"/>
                  </a:lnTo>
                  <a:lnTo>
                    <a:pt x="79508" y="274697"/>
                  </a:lnTo>
                  <a:lnTo>
                    <a:pt x="79508" y="271461"/>
                  </a:lnTo>
                  <a:lnTo>
                    <a:pt x="130664" y="243815"/>
                  </a:lnTo>
                  <a:lnTo>
                    <a:pt x="61660" y="243815"/>
                  </a:lnTo>
                  <a:lnTo>
                    <a:pt x="48679" y="237288"/>
                  </a:lnTo>
                  <a:close/>
                </a:path>
                <a:path w="668654" h="829310">
                  <a:moveTo>
                    <a:pt x="648894" y="651742"/>
                  </a:moveTo>
                  <a:lnTo>
                    <a:pt x="605237" y="651742"/>
                  </a:lnTo>
                  <a:lnTo>
                    <a:pt x="611754" y="656619"/>
                  </a:lnTo>
                  <a:lnTo>
                    <a:pt x="619859" y="658242"/>
                  </a:lnTo>
                  <a:lnTo>
                    <a:pt x="627964" y="658242"/>
                  </a:lnTo>
                  <a:lnTo>
                    <a:pt x="643893" y="655094"/>
                  </a:lnTo>
                  <a:lnTo>
                    <a:pt x="648894" y="651742"/>
                  </a:lnTo>
                  <a:close/>
                </a:path>
                <a:path w="668654" h="829310">
                  <a:moveTo>
                    <a:pt x="186604" y="0"/>
                  </a:moveTo>
                  <a:lnTo>
                    <a:pt x="170682" y="3149"/>
                  </a:lnTo>
                  <a:lnTo>
                    <a:pt x="157801" y="11786"/>
                  </a:lnTo>
                  <a:lnTo>
                    <a:pt x="149179" y="24690"/>
                  </a:lnTo>
                  <a:lnTo>
                    <a:pt x="146035" y="40645"/>
                  </a:lnTo>
                  <a:lnTo>
                    <a:pt x="147785" y="52421"/>
                  </a:lnTo>
                  <a:lnTo>
                    <a:pt x="152729" y="62990"/>
                  </a:lnTo>
                  <a:lnTo>
                    <a:pt x="160412" y="71738"/>
                  </a:lnTo>
                  <a:lnTo>
                    <a:pt x="170378" y="78054"/>
                  </a:lnTo>
                  <a:lnTo>
                    <a:pt x="170378" y="185289"/>
                  </a:lnTo>
                  <a:lnTo>
                    <a:pt x="61660" y="243815"/>
                  </a:lnTo>
                  <a:lnTo>
                    <a:pt x="130664" y="243815"/>
                  </a:lnTo>
                  <a:lnTo>
                    <a:pt x="202831" y="204816"/>
                  </a:lnTo>
                  <a:lnTo>
                    <a:pt x="202831" y="78054"/>
                  </a:lnTo>
                  <a:lnTo>
                    <a:pt x="212795" y="71738"/>
                  </a:lnTo>
                  <a:lnTo>
                    <a:pt x="220476" y="62990"/>
                  </a:lnTo>
                  <a:lnTo>
                    <a:pt x="225419" y="52421"/>
                  </a:lnTo>
                  <a:lnTo>
                    <a:pt x="227168" y="40645"/>
                  </a:lnTo>
                  <a:lnTo>
                    <a:pt x="224024" y="24690"/>
                  </a:lnTo>
                  <a:lnTo>
                    <a:pt x="215405" y="11786"/>
                  </a:lnTo>
                  <a:lnTo>
                    <a:pt x="202526" y="3149"/>
                  </a:lnTo>
                  <a:lnTo>
                    <a:pt x="186604" y="0"/>
                  </a:lnTo>
                  <a:close/>
                </a:path>
                <a:path w="668654" h="829310">
                  <a:moveTo>
                    <a:pt x="627964" y="237288"/>
                  </a:moveTo>
                  <a:lnTo>
                    <a:pt x="619859" y="237288"/>
                  </a:lnTo>
                  <a:lnTo>
                    <a:pt x="611754" y="240579"/>
                  </a:lnTo>
                  <a:lnTo>
                    <a:pt x="605237" y="243815"/>
                  </a:lnTo>
                  <a:lnTo>
                    <a:pt x="648931" y="243815"/>
                  </a:lnTo>
                  <a:lnTo>
                    <a:pt x="643893" y="240438"/>
                  </a:lnTo>
                  <a:lnTo>
                    <a:pt x="627964" y="237288"/>
                  </a:lnTo>
                  <a:close/>
                </a:path>
              </a:pathLst>
            </a:custGeom>
            <a:solidFill>
              <a:srgbClr val="1D70B8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6" name="object 6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11164899" y="466804"/>
              <a:ext cx="115207" cy="115408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1195725" y="236043"/>
              <a:ext cx="79511" cy="79644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1293085" y="336806"/>
              <a:ext cx="95738" cy="95880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1150293" y="954381"/>
              <a:ext cx="193092" cy="203154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11054555" y="855264"/>
              <a:ext cx="386080" cy="388620"/>
            </a:xfrm>
            <a:custGeom>
              <a:avLst/>
              <a:gdLst/>
              <a:ahLst/>
              <a:cxnLst/>
              <a:rect l="l" t="t" r="r" b="b"/>
              <a:pathLst>
                <a:path w="386079" h="388619">
                  <a:moveTo>
                    <a:pt x="193097" y="0"/>
                  </a:moveTo>
                  <a:lnTo>
                    <a:pt x="148680" y="5173"/>
                  </a:lnTo>
                  <a:lnTo>
                    <a:pt x="107980" y="19896"/>
                  </a:lnTo>
                  <a:lnTo>
                    <a:pt x="72135" y="42977"/>
                  </a:lnTo>
                  <a:lnTo>
                    <a:pt x="42279" y="73222"/>
                  </a:lnTo>
                  <a:lnTo>
                    <a:pt x="19547" y="109438"/>
                  </a:lnTo>
                  <a:lnTo>
                    <a:pt x="5076" y="150431"/>
                  </a:lnTo>
                  <a:lnTo>
                    <a:pt x="0" y="195008"/>
                  </a:lnTo>
                  <a:lnTo>
                    <a:pt x="5076" y="238984"/>
                  </a:lnTo>
                  <a:lnTo>
                    <a:pt x="19547" y="279548"/>
                  </a:lnTo>
                  <a:lnTo>
                    <a:pt x="42279" y="315478"/>
                  </a:lnTo>
                  <a:lnTo>
                    <a:pt x="72135" y="345552"/>
                  </a:lnTo>
                  <a:lnTo>
                    <a:pt x="107980" y="368547"/>
                  </a:lnTo>
                  <a:lnTo>
                    <a:pt x="148680" y="383241"/>
                  </a:lnTo>
                  <a:lnTo>
                    <a:pt x="193097" y="388410"/>
                  </a:lnTo>
                  <a:lnTo>
                    <a:pt x="224080" y="385059"/>
                  </a:lnTo>
                  <a:lnTo>
                    <a:pt x="253541" y="377440"/>
                  </a:lnTo>
                  <a:lnTo>
                    <a:pt x="281175" y="365555"/>
                  </a:lnTo>
                  <a:lnTo>
                    <a:pt x="296414" y="355905"/>
                  </a:lnTo>
                  <a:lnTo>
                    <a:pt x="193097" y="355905"/>
                  </a:lnTo>
                  <a:lnTo>
                    <a:pt x="150090" y="350081"/>
                  </a:lnTo>
                  <a:lnTo>
                    <a:pt x="111365" y="333694"/>
                  </a:lnTo>
                  <a:lnTo>
                    <a:pt x="78498" y="308368"/>
                  </a:lnTo>
                  <a:lnTo>
                    <a:pt x="53069" y="275728"/>
                  </a:lnTo>
                  <a:lnTo>
                    <a:pt x="36654" y="237400"/>
                  </a:lnTo>
                  <a:lnTo>
                    <a:pt x="30832" y="195008"/>
                  </a:lnTo>
                  <a:lnTo>
                    <a:pt x="36654" y="151930"/>
                  </a:lnTo>
                  <a:lnTo>
                    <a:pt x="53069" y="113140"/>
                  </a:lnTo>
                  <a:lnTo>
                    <a:pt x="78498" y="80218"/>
                  </a:lnTo>
                  <a:lnTo>
                    <a:pt x="111365" y="54746"/>
                  </a:lnTo>
                  <a:lnTo>
                    <a:pt x="150090" y="38304"/>
                  </a:lnTo>
                  <a:lnTo>
                    <a:pt x="193097" y="32472"/>
                  </a:lnTo>
                  <a:lnTo>
                    <a:pt x="326658" y="32472"/>
                  </a:lnTo>
                  <a:lnTo>
                    <a:pt x="324531" y="30881"/>
                  </a:lnTo>
                  <a:lnTo>
                    <a:pt x="295325" y="30881"/>
                  </a:lnTo>
                  <a:lnTo>
                    <a:pt x="271365" y="17818"/>
                  </a:lnTo>
                  <a:lnTo>
                    <a:pt x="246035" y="8118"/>
                  </a:lnTo>
                  <a:lnTo>
                    <a:pt x="219794" y="2079"/>
                  </a:lnTo>
                  <a:lnTo>
                    <a:pt x="193097" y="0"/>
                  </a:lnTo>
                  <a:close/>
                </a:path>
                <a:path w="386079" h="388619">
                  <a:moveTo>
                    <a:pt x="376453" y="162503"/>
                  </a:moveTo>
                  <a:lnTo>
                    <a:pt x="363474" y="162503"/>
                  </a:lnTo>
                  <a:lnTo>
                    <a:pt x="353737" y="172256"/>
                  </a:lnTo>
                  <a:lnTo>
                    <a:pt x="353737" y="180379"/>
                  </a:lnTo>
                  <a:lnTo>
                    <a:pt x="354356" y="190562"/>
                  </a:lnTo>
                  <a:lnTo>
                    <a:pt x="354305" y="202930"/>
                  </a:lnTo>
                  <a:lnTo>
                    <a:pt x="340756" y="257985"/>
                  </a:lnTo>
                  <a:lnTo>
                    <a:pt x="318042" y="295771"/>
                  </a:lnTo>
                  <a:lnTo>
                    <a:pt x="270907" y="335338"/>
                  </a:lnTo>
                  <a:lnTo>
                    <a:pt x="220657" y="353518"/>
                  </a:lnTo>
                  <a:lnTo>
                    <a:pt x="193097" y="355905"/>
                  </a:lnTo>
                  <a:lnTo>
                    <a:pt x="296414" y="355905"/>
                  </a:lnTo>
                  <a:lnTo>
                    <a:pt x="334268" y="325023"/>
                  </a:lnTo>
                  <a:lnTo>
                    <a:pt x="367937" y="275658"/>
                  </a:lnTo>
                  <a:lnTo>
                    <a:pt x="384569" y="217761"/>
                  </a:lnTo>
                  <a:lnTo>
                    <a:pt x="385937" y="190562"/>
                  </a:lnTo>
                  <a:lnTo>
                    <a:pt x="384569" y="177127"/>
                  </a:lnTo>
                  <a:lnTo>
                    <a:pt x="384569" y="172256"/>
                  </a:lnTo>
                  <a:lnTo>
                    <a:pt x="382948" y="169003"/>
                  </a:lnTo>
                  <a:lnTo>
                    <a:pt x="376453" y="162503"/>
                  </a:lnTo>
                  <a:close/>
                </a:path>
                <a:path w="386079" h="388619">
                  <a:moveTo>
                    <a:pt x="326658" y="32472"/>
                  </a:moveTo>
                  <a:lnTo>
                    <a:pt x="193097" y="32472"/>
                  </a:lnTo>
                  <a:lnTo>
                    <a:pt x="214952" y="33998"/>
                  </a:lnTo>
                  <a:lnTo>
                    <a:pt x="236503" y="38573"/>
                  </a:lnTo>
                  <a:lnTo>
                    <a:pt x="257445" y="46196"/>
                  </a:lnTo>
                  <a:lnTo>
                    <a:pt x="277472" y="56864"/>
                  </a:lnTo>
                  <a:lnTo>
                    <a:pt x="277472" y="58488"/>
                  </a:lnTo>
                  <a:lnTo>
                    <a:pt x="279780" y="71108"/>
                  </a:lnTo>
                  <a:lnTo>
                    <a:pt x="286196" y="81444"/>
                  </a:lnTo>
                  <a:lnTo>
                    <a:pt x="295958" y="88428"/>
                  </a:lnTo>
                  <a:lnTo>
                    <a:pt x="308305" y="90993"/>
                  </a:lnTo>
                  <a:lnTo>
                    <a:pt x="320905" y="88428"/>
                  </a:lnTo>
                  <a:lnTo>
                    <a:pt x="331224" y="81444"/>
                  </a:lnTo>
                  <a:lnTo>
                    <a:pt x="338197" y="71108"/>
                  </a:lnTo>
                  <a:lnTo>
                    <a:pt x="340758" y="58488"/>
                  </a:lnTo>
                  <a:lnTo>
                    <a:pt x="340758" y="50359"/>
                  </a:lnTo>
                  <a:lnTo>
                    <a:pt x="337510" y="42235"/>
                  </a:lnTo>
                  <a:lnTo>
                    <a:pt x="331021" y="35735"/>
                  </a:lnTo>
                  <a:lnTo>
                    <a:pt x="326658" y="32472"/>
                  </a:lnTo>
                  <a:close/>
                </a:path>
                <a:path w="386079" h="388619">
                  <a:moveTo>
                    <a:pt x="316415" y="27590"/>
                  </a:moveTo>
                  <a:lnTo>
                    <a:pt x="298567" y="27590"/>
                  </a:lnTo>
                  <a:lnTo>
                    <a:pt x="295325" y="30881"/>
                  </a:lnTo>
                  <a:lnTo>
                    <a:pt x="324531" y="30881"/>
                  </a:lnTo>
                  <a:lnTo>
                    <a:pt x="316415" y="27590"/>
                  </a:lnTo>
                  <a:close/>
                </a:path>
              </a:pathLst>
            </a:custGeom>
            <a:solidFill>
              <a:srgbClr val="1D70B8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4" name="Номер слайда 13"/>
          <p:cNvSpPr>
            <a:spLocks noGrp="1"/>
          </p:cNvSpPr>
          <p:nvPr>
            <p:ph type="sldNum" sz="quarter" idx="12"/>
          </p:nvPr>
        </p:nvSpPr>
        <p:spPr>
          <a:xfrm>
            <a:off x="11240768" y="6397751"/>
            <a:ext cx="373931" cy="274955"/>
          </a:xfrm>
        </p:spPr>
        <p:txBody>
          <a:bodyPr/>
          <a:lstStyle/>
          <a:p>
            <a:pPr marL="38100">
              <a:lnSpc>
                <a:spcPts val="2145"/>
              </a:lnSpc>
            </a:pPr>
            <a:fld id="{81D60167-4931-47E6-BA6A-407CBD079E47}" type="slidenum">
              <a:rPr lang="ru-RU" sz="2400" b="0" smtClean="0"/>
            </a:fld>
            <a:endParaRPr lang="ru-RU" sz="2400" b="0" dirty="0"/>
          </a:p>
        </p:txBody>
      </p:sp>
      <p:sp>
        <p:nvSpPr>
          <p:cNvPr id="100" name="Заголовок"/>
          <p:cNvSpPr txBox="1"/>
          <p:nvPr/>
        </p:nvSpPr>
        <p:spPr>
          <a:xfrm>
            <a:off x="839470" y="431075"/>
            <a:ext cx="9658350" cy="540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ru-RU" alt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ПЦР в реальном времени: кривая плавления и выводы</a:t>
            </a:r>
          </a:p>
        </p:txBody>
      </p:sp>
      <p:pic>
        <p:nvPicPr>
          <p:cNvPr id="150" name="Рисунок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000" y="1678125"/>
            <a:ext cx="5750000" cy="3593750"/>
          </a:xfrm>
          <a:prstGeom prst="rect">
            <a:avLst/>
          </a:prstGeom>
          <a:ln w="12700">
            <a:solidFill>
              <a:srgbClr val="BFBFBF"/>
            </a:solidFill>
          </a:ln>
        </p:spPr>
      </p:pic>
      <p:sp>
        <p:nvSpPr>
          <p:cNvPr id="151" name="подпись"/>
          <p:cNvSpPr txBox="1"/>
          <p:nvPr/>
        </p:nvSpPr>
        <p:spPr>
          <a:xfrm>
            <a:off x="650000" y="5690000"/>
            <a:ext cx="5750000" cy="520000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altLang="en-US" sz="1300" i="1" dirty="0">
                <a:solidFill>
                  <a:srgbClr val="59595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Рисунок — кривая плавления продукта ПЦР в реальном времени</a:t>
            </a:r>
          </a:p>
        </p:txBody>
      </p:sp>
      <p:sp>
        <p:nvSpPr>
          <p:cNvPr id="152" name="текст"/>
          <p:cNvSpPr txBox="1"/>
          <p:nvPr/>
        </p:nvSpPr>
        <p:spPr>
          <a:xfrm>
            <a:off x="6650000" y="1320000"/>
            <a:ext cx="4900000" cy="4600000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 algn="just">
              <a:spcBef>
                <a:spcPts val="300"/>
              </a:spcBef>
              <a:buNone/>
            </a:pPr>
            <a:r>
              <a:rPr lang="ru-RU" altLang="en-US" sz="1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кривой плавления продукта ПЦР-РВ.</a:t>
            </a:r>
          </a:p>
          <a:p>
            <a:pPr marL="342900" indent="-342900" algn="just">
              <a:spcBef>
                <a:spcPts val="200"/>
              </a:spcBef>
              <a:buFont typeface="Arial" panose="020B0604020202020204" pitchFamily="34" charset="0"/>
              <a:buChar char="•"/>
            </a:pPr>
            <a:r>
              <a:rPr lang="ru-RU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Единственный пик плавления подтверждает образование одного специфического продукта без побочных структур.</a:t>
            </a:r>
          </a:p>
          <a:p>
            <a:pPr marL="0" indent="0" algn="l">
              <a:spcBef>
                <a:spcPts val="200"/>
              </a:spcBef>
              <a:buNone/>
            </a:pPr>
            <a:r>
              <a:rPr lang="ru-RU" altLang="en-US" sz="1700" b="1" dirty="0">
                <a:solidFill>
                  <a:srgbClr val="1F386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Выводы:</a:t>
            </a:r>
          </a:p>
          <a:p>
            <a:pPr marL="342900" indent="-342900" algn="just">
              <a:spcBef>
                <a:spcPts val="160"/>
              </a:spcBef>
              <a:buFont typeface="Arial" panose="020B0604020202020204" pitchFamily="34" charset="0"/>
              <a:buChar char="•"/>
            </a:pPr>
            <a:r>
              <a:rPr lang="ru-RU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подобраны и синтезированы специфичные праймеры к гену TOP2;</a:t>
            </a:r>
          </a:p>
          <a:p>
            <a:pPr marL="342900" indent="-342900" algn="just">
              <a:spcBef>
                <a:spcPts val="160"/>
              </a:spcBef>
              <a:buFont typeface="Arial" panose="020B0604020202020204" pitchFamily="34" charset="0"/>
              <a:buChar char="•"/>
            </a:pPr>
            <a:r>
              <a:rPr lang="ru-RU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их пригодность подтверждена электрофорезом и кривой плавления;</a:t>
            </a:r>
          </a:p>
          <a:p>
            <a:pPr marL="342900" indent="-342900" algn="just">
              <a:spcBef>
                <a:spcPts val="160"/>
              </a:spcBef>
              <a:buFont typeface="Arial" panose="020B0604020202020204" pitchFamily="34" charset="0"/>
              <a:buChar char="•"/>
            </a:pPr>
            <a:r>
              <a:rPr lang="ru-RU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отработан алгоритм анализа экспрессии гена TOP2 методом ПЦР.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46773" y="455526"/>
            <a:ext cx="9293860" cy="9361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ru-RU" sz="3000" dirty="0">
                <a:solidFill>
                  <a:srgbClr val="00206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Результаты и выводы</a:t>
            </a:r>
            <a:br>
              <a:rPr lang="ru-RU" sz="30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</a:br>
            <a:endParaRPr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Номер слайда 13"/>
          <p:cNvSpPr>
            <a:spLocks noGrp="1"/>
          </p:cNvSpPr>
          <p:nvPr>
            <p:ph type="sldNum" sz="quarter" idx="12"/>
          </p:nvPr>
        </p:nvSpPr>
        <p:spPr>
          <a:xfrm>
            <a:off x="11240768" y="6397751"/>
            <a:ext cx="373931" cy="274955"/>
          </a:xfrm>
        </p:spPr>
        <p:txBody>
          <a:bodyPr/>
          <a:lstStyle/>
          <a:p>
            <a:pPr marL="38100">
              <a:lnSpc>
                <a:spcPts val="2145"/>
              </a:lnSpc>
            </a:pPr>
            <a:fld id="{81D60167-4931-47E6-BA6A-407CBD079E47}" type="slidenum">
              <a:rPr lang="ru-RU" sz="2400" b="0" smtClean="0"/>
            </a:fld>
            <a:endParaRPr lang="ru-RU" sz="2400" b="0" dirty="0"/>
          </a:p>
        </p:txBody>
      </p:sp>
      <p:sp>
        <p:nvSpPr>
          <p:cNvPr id="3" name="object 3"/>
          <p:cNvSpPr/>
          <p:nvPr/>
        </p:nvSpPr>
        <p:spPr>
          <a:xfrm>
            <a:off x="493776" y="1043939"/>
            <a:ext cx="9946005" cy="0"/>
          </a:xfrm>
          <a:custGeom>
            <a:avLst/>
            <a:gdLst/>
            <a:ahLst/>
            <a:cxnLst/>
            <a:rect l="l" t="t" r="r" b="b"/>
            <a:pathLst>
              <a:path w="9946005">
                <a:moveTo>
                  <a:pt x="0" y="0"/>
                </a:moveTo>
                <a:lnTo>
                  <a:pt x="9946005" y="0"/>
                </a:lnTo>
              </a:path>
            </a:pathLst>
          </a:custGeom>
          <a:ln w="6096">
            <a:solidFill>
              <a:srgbClr val="5B9BD4"/>
            </a:solidFill>
          </a:ln>
        </p:spPr>
        <p:txBody>
          <a:bodyPr wrap="square" lIns="0" tIns="0" rIns="0" bIns="0" rtlCol="0"/>
          <a:lstStyle/>
          <a:p/>
        </p:txBody>
      </p:sp>
      <p:grpSp>
        <p:nvGrpSpPr>
          <p:cNvPr id="4" name="object 4"/>
          <p:cNvGrpSpPr/>
          <p:nvPr/>
        </p:nvGrpSpPr>
        <p:grpSpPr>
          <a:xfrm>
            <a:off x="10913388" y="236043"/>
            <a:ext cx="668655" cy="1195070"/>
            <a:chOff x="10913388" y="236043"/>
            <a:chExt cx="668655" cy="1195070"/>
          </a:xfrm>
        </p:grpSpPr>
        <p:sp>
          <p:nvSpPr>
            <p:cNvPr id="5" name="object 5"/>
            <p:cNvSpPr/>
            <p:nvPr/>
          </p:nvSpPr>
          <p:spPr>
            <a:xfrm>
              <a:off x="10913388" y="601685"/>
              <a:ext cx="668655" cy="829310"/>
            </a:xfrm>
            <a:custGeom>
              <a:avLst/>
              <a:gdLst/>
              <a:ahLst/>
              <a:cxnLst/>
              <a:rect l="l" t="t" r="r" b="b"/>
              <a:pathLst>
                <a:path w="668654" h="829310">
                  <a:moveTo>
                    <a:pt x="126245" y="651742"/>
                  </a:moveTo>
                  <a:lnTo>
                    <a:pt x="61660" y="651742"/>
                  </a:lnTo>
                  <a:lnTo>
                    <a:pt x="293695" y="785010"/>
                  </a:lnTo>
                  <a:lnTo>
                    <a:pt x="293695" y="788261"/>
                  </a:lnTo>
                  <a:lnTo>
                    <a:pt x="296840" y="803522"/>
                  </a:lnTo>
                  <a:lnTo>
                    <a:pt x="305461" y="816499"/>
                  </a:lnTo>
                  <a:lnTo>
                    <a:pt x="318342" y="825514"/>
                  </a:lnTo>
                  <a:lnTo>
                    <a:pt x="334264" y="828892"/>
                  </a:lnTo>
                  <a:lnTo>
                    <a:pt x="350186" y="825514"/>
                  </a:lnTo>
                  <a:lnTo>
                    <a:pt x="363065" y="816499"/>
                  </a:lnTo>
                  <a:lnTo>
                    <a:pt x="371685" y="803522"/>
                  </a:lnTo>
                  <a:lnTo>
                    <a:pt x="374828" y="788261"/>
                  </a:lnTo>
                  <a:lnTo>
                    <a:pt x="374828" y="785010"/>
                  </a:lnTo>
                  <a:lnTo>
                    <a:pt x="425403" y="755758"/>
                  </a:lnTo>
                  <a:lnTo>
                    <a:pt x="306680" y="755758"/>
                  </a:lnTo>
                  <a:lnTo>
                    <a:pt x="126245" y="651742"/>
                  </a:lnTo>
                  <a:close/>
                </a:path>
                <a:path w="668654" h="829310">
                  <a:moveTo>
                    <a:pt x="334061" y="747226"/>
                  </a:moveTo>
                  <a:lnTo>
                    <a:pt x="319838" y="749359"/>
                  </a:lnTo>
                  <a:lnTo>
                    <a:pt x="306680" y="755758"/>
                  </a:lnTo>
                  <a:lnTo>
                    <a:pt x="360223" y="755758"/>
                  </a:lnTo>
                  <a:lnTo>
                    <a:pt x="347979" y="749359"/>
                  </a:lnTo>
                  <a:lnTo>
                    <a:pt x="334061" y="747226"/>
                  </a:lnTo>
                  <a:close/>
                </a:path>
                <a:path w="668654" h="829310">
                  <a:moveTo>
                    <a:pt x="481925" y="0"/>
                  </a:moveTo>
                  <a:lnTo>
                    <a:pt x="466002" y="3149"/>
                  </a:lnTo>
                  <a:lnTo>
                    <a:pt x="453122" y="11786"/>
                  </a:lnTo>
                  <a:lnTo>
                    <a:pt x="444500" y="24690"/>
                  </a:lnTo>
                  <a:lnTo>
                    <a:pt x="441355" y="40645"/>
                  </a:lnTo>
                  <a:lnTo>
                    <a:pt x="443105" y="52421"/>
                  </a:lnTo>
                  <a:lnTo>
                    <a:pt x="448050" y="62990"/>
                  </a:lnTo>
                  <a:lnTo>
                    <a:pt x="455733" y="71738"/>
                  </a:lnTo>
                  <a:lnTo>
                    <a:pt x="465698" y="78054"/>
                  </a:lnTo>
                  <a:lnTo>
                    <a:pt x="465698" y="206407"/>
                  </a:lnTo>
                  <a:lnTo>
                    <a:pt x="587384" y="271461"/>
                  </a:lnTo>
                  <a:lnTo>
                    <a:pt x="587384" y="274697"/>
                  </a:lnTo>
                  <a:lnTo>
                    <a:pt x="585796" y="276288"/>
                  </a:lnTo>
                  <a:lnTo>
                    <a:pt x="585796" y="277933"/>
                  </a:lnTo>
                  <a:lnTo>
                    <a:pt x="587846" y="290887"/>
                  </a:lnTo>
                  <a:lnTo>
                    <a:pt x="593695" y="302316"/>
                  </a:lnTo>
                  <a:lnTo>
                    <a:pt x="602892" y="311306"/>
                  </a:lnTo>
                  <a:lnTo>
                    <a:pt x="614985" y="316944"/>
                  </a:lnTo>
                  <a:lnTo>
                    <a:pt x="614985" y="578603"/>
                  </a:lnTo>
                  <a:lnTo>
                    <a:pt x="602892" y="584928"/>
                  </a:lnTo>
                  <a:lnTo>
                    <a:pt x="593695" y="593842"/>
                  </a:lnTo>
                  <a:lnTo>
                    <a:pt x="587846" y="604889"/>
                  </a:lnTo>
                  <a:lnTo>
                    <a:pt x="585796" y="617614"/>
                  </a:lnTo>
                  <a:lnTo>
                    <a:pt x="585796" y="620861"/>
                  </a:lnTo>
                  <a:lnTo>
                    <a:pt x="587384" y="622484"/>
                  </a:lnTo>
                  <a:lnTo>
                    <a:pt x="587384" y="625737"/>
                  </a:lnTo>
                  <a:lnTo>
                    <a:pt x="360223" y="755758"/>
                  </a:lnTo>
                  <a:lnTo>
                    <a:pt x="425403" y="755758"/>
                  </a:lnTo>
                  <a:lnTo>
                    <a:pt x="605237" y="651742"/>
                  </a:lnTo>
                  <a:lnTo>
                    <a:pt x="648894" y="651742"/>
                  </a:lnTo>
                  <a:lnTo>
                    <a:pt x="656777" y="646460"/>
                  </a:lnTo>
                  <a:lnTo>
                    <a:pt x="665399" y="633561"/>
                  </a:lnTo>
                  <a:lnTo>
                    <a:pt x="668544" y="617614"/>
                  </a:lnTo>
                  <a:lnTo>
                    <a:pt x="667074" y="606997"/>
                  </a:lnTo>
                  <a:lnTo>
                    <a:pt x="662862" y="597295"/>
                  </a:lnTo>
                  <a:lnTo>
                    <a:pt x="656207" y="588813"/>
                  </a:lnTo>
                  <a:lnTo>
                    <a:pt x="647405" y="581856"/>
                  </a:lnTo>
                  <a:lnTo>
                    <a:pt x="647405" y="313691"/>
                  </a:lnTo>
                  <a:lnTo>
                    <a:pt x="656207" y="307648"/>
                  </a:lnTo>
                  <a:lnTo>
                    <a:pt x="662862" y="299471"/>
                  </a:lnTo>
                  <a:lnTo>
                    <a:pt x="667074" y="289465"/>
                  </a:lnTo>
                  <a:lnTo>
                    <a:pt x="668544" y="277933"/>
                  </a:lnTo>
                  <a:lnTo>
                    <a:pt x="665399" y="261979"/>
                  </a:lnTo>
                  <a:lnTo>
                    <a:pt x="656777" y="249074"/>
                  </a:lnTo>
                  <a:lnTo>
                    <a:pt x="648931" y="243815"/>
                  </a:lnTo>
                  <a:lnTo>
                    <a:pt x="605237" y="243815"/>
                  </a:lnTo>
                  <a:lnTo>
                    <a:pt x="498151" y="186934"/>
                  </a:lnTo>
                  <a:lnTo>
                    <a:pt x="498151" y="78054"/>
                  </a:lnTo>
                  <a:lnTo>
                    <a:pt x="508113" y="71738"/>
                  </a:lnTo>
                  <a:lnTo>
                    <a:pt x="515795" y="62990"/>
                  </a:lnTo>
                  <a:lnTo>
                    <a:pt x="520739" y="52421"/>
                  </a:lnTo>
                  <a:lnTo>
                    <a:pt x="522488" y="40645"/>
                  </a:lnTo>
                  <a:lnTo>
                    <a:pt x="519345" y="24690"/>
                  </a:lnTo>
                  <a:lnTo>
                    <a:pt x="510725" y="11786"/>
                  </a:lnTo>
                  <a:lnTo>
                    <a:pt x="497846" y="3149"/>
                  </a:lnTo>
                  <a:lnTo>
                    <a:pt x="481925" y="0"/>
                  </a:lnTo>
                  <a:close/>
                </a:path>
                <a:path w="668654" h="829310">
                  <a:moveTo>
                    <a:pt x="48679" y="237288"/>
                  </a:moveTo>
                  <a:lnTo>
                    <a:pt x="40566" y="237288"/>
                  </a:lnTo>
                  <a:lnTo>
                    <a:pt x="24644" y="240438"/>
                  </a:lnTo>
                  <a:lnTo>
                    <a:pt x="11764" y="249074"/>
                  </a:lnTo>
                  <a:lnTo>
                    <a:pt x="3143" y="261979"/>
                  </a:lnTo>
                  <a:lnTo>
                    <a:pt x="0" y="277933"/>
                  </a:lnTo>
                  <a:lnTo>
                    <a:pt x="1470" y="289491"/>
                  </a:lnTo>
                  <a:lnTo>
                    <a:pt x="5679" y="299674"/>
                  </a:lnTo>
                  <a:lnTo>
                    <a:pt x="12322" y="308333"/>
                  </a:lnTo>
                  <a:lnTo>
                    <a:pt x="21095" y="315315"/>
                  </a:lnTo>
                  <a:lnTo>
                    <a:pt x="21095" y="581856"/>
                  </a:lnTo>
                  <a:lnTo>
                    <a:pt x="12322" y="588128"/>
                  </a:lnTo>
                  <a:lnTo>
                    <a:pt x="5679" y="596686"/>
                  </a:lnTo>
                  <a:lnTo>
                    <a:pt x="1470" y="606769"/>
                  </a:lnTo>
                  <a:lnTo>
                    <a:pt x="0" y="617614"/>
                  </a:lnTo>
                  <a:lnTo>
                    <a:pt x="3143" y="633561"/>
                  </a:lnTo>
                  <a:lnTo>
                    <a:pt x="11764" y="646460"/>
                  </a:lnTo>
                  <a:lnTo>
                    <a:pt x="24644" y="655094"/>
                  </a:lnTo>
                  <a:lnTo>
                    <a:pt x="40566" y="658242"/>
                  </a:lnTo>
                  <a:lnTo>
                    <a:pt x="48679" y="658242"/>
                  </a:lnTo>
                  <a:lnTo>
                    <a:pt x="55171" y="656619"/>
                  </a:lnTo>
                  <a:lnTo>
                    <a:pt x="61660" y="651742"/>
                  </a:lnTo>
                  <a:lnTo>
                    <a:pt x="126245" y="651742"/>
                  </a:lnTo>
                  <a:lnTo>
                    <a:pt x="81134" y="625737"/>
                  </a:lnTo>
                  <a:lnTo>
                    <a:pt x="81134" y="617614"/>
                  </a:lnTo>
                  <a:lnTo>
                    <a:pt x="79106" y="604889"/>
                  </a:lnTo>
                  <a:lnTo>
                    <a:pt x="73426" y="593842"/>
                  </a:lnTo>
                  <a:lnTo>
                    <a:pt x="64703" y="584928"/>
                  </a:lnTo>
                  <a:lnTo>
                    <a:pt x="53544" y="578603"/>
                  </a:lnTo>
                  <a:lnTo>
                    <a:pt x="53544" y="316944"/>
                  </a:lnTo>
                  <a:lnTo>
                    <a:pt x="64703" y="310621"/>
                  </a:lnTo>
                  <a:lnTo>
                    <a:pt x="73426" y="301707"/>
                  </a:lnTo>
                  <a:lnTo>
                    <a:pt x="79106" y="290658"/>
                  </a:lnTo>
                  <a:lnTo>
                    <a:pt x="81134" y="277933"/>
                  </a:lnTo>
                  <a:lnTo>
                    <a:pt x="81134" y="276288"/>
                  </a:lnTo>
                  <a:lnTo>
                    <a:pt x="79508" y="274697"/>
                  </a:lnTo>
                  <a:lnTo>
                    <a:pt x="79508" y="271461"/>
                  </a:lnTo>
                  <a:lnTo>
                    <a:pt x="130664" y="243815"/>
                  </a:lnTo>
                  <a:lnTo>
                    <a:pt x="61660" y="243815"/>
                  </a:lnTo>
                  <a:lnTo>
                    <a:pt x="48679" y="237288"/>
                  </a:lnTo>
                  <a:close/>
                </a:path>
                <a:path w="668654" h="829310">
                  <a:moveTo>
                    <a:pt x="648894" y="651742"/>
                  </a:moveTo>
                  <a:lnTo>
                    <a:pt x="605237" y="651742"/>
                  </a:lnTo>
                  <a:lnTo>
                    <a:pt x="611754" y="656619"/>
                  </a:lnTo>
                  <a:lnTo>
                    <a:pt x="619859" y="658242"/>
                  </a:lnTo>
                  <a:lnTo>
                    <a:pt x="627964" y="658242"/>
                  </a:lnTo>
                  <a:lnTo>
                    <a:pt x="643893" y="655094"/>
                  </a:lnTo>
                  <a:lnTo>
                    <a:pt x="648894" y="651742"/>
                  </a:lnTo>
                  <a:close/>
                </a:path>
                <a:path w="668654" h="829310">
                  <a:moveTo>
                    <a:pt x="186604" y="0"/>
                  </a:moveTo>
                  <a:lnTo>
                    <a:pt x="170682" y="3149"/>
                  </a:lnTo>
                  <a:lnTo>
                    <a:pt x="157801" y="11786"/>
                  </a:lnTo>
                  <a:lnTo>
                    <a:pt x="149179" y="24690"/>
                  </a:lnTo>
                  <a:lnTo>
                    <a:pt x="146035" y="40645"/>
                  </a:lnTo>
                  <a:lnTo>
                    <a:pt x="147785" y="52421"/>
                  </a:lnTo>
                  <a:lnTo>
                    <a:pt x="152729" y="62990"/>
                  </a:lnTo>
                  <a:lnTo>
                    <a:pt x="160412" y="71738"/>
                  </a:lnTo>
                  <a:lnTo>
                    <a:pt x="170378" y="78054"/>
                  </a:lnTo>
                  <a:lnTo>
                    <a:pt x="170378" y="185289"/>
                  </a:lnTo>
                  <a:lnTo>
                    <a:pt x="61660" y="243815"/>
                  </a:lnTo>
                  <a:lnTo>
                    <a:pt x="130664" y="243815"/>
                  </a:lnTo>
                  <a:lnTo>
                    <a:pt x="202831" y="204816"/>
                  </a:lnTo>
                  <a:lnTo>
                    <a:pt x="202831" y="78054"/>
                  </a:lnTo>
                  <a:lnTo>
                    <a:pt x="212795" y="71738"/>
                  </a:lnTo>
                  <a:lnTo>
                    <a:pt x="220476" y="62990"/>
                  </a:lnTo>
                  <a:lnTo>
                    <a:pt x="225419" y="52421"/>
                  </a:lnTo>
                  <a:lnTo>
                    <a:pt x="227168" y="40645"/>
                  </a:lnTo>
                  <a:lnTo>
                    <a:pt x="224024" y="24690"/>
                  </a:lnTo>
                  <a:lnTo>
                    <a:pt x="215405" y="11786"/>
                  </a:lnTo>
                  <a:lnTo>
                    <a:pt x="202526" y="3149"/>
                  </a:lnTo>
                  <a:lnTo>
                    <a:pt x="186604" y="0"/>
                  </a:lnTo>
                  <a:close/>
                </a:path>
                <a:path w="668654" h="829310">
                  <a:moveTo>
                    <a:pt x="627964" y="237288"/>
                  </a:moveTo>
                  <a:lnTo>
                    <a:pt x="619859" y="237288"/>
                  </a:lnTo>
                  <a:lnTo>
                    <a:pt x="611754" y="240579"/>
                  </a:lnTo>
                  <a:lnTo>
                    <a:pt x="605237" y="243815"/>
                  </a:lnTo>
                  <a:lnTo>
                    <a:pt x="648931" y="243815"/>
                  </a:lnTo>
                  <a:lnTo>
                    <a:pt x="643893" y="240438"/>
                  </a:lnTo>
                  <a:lnTo>
                    <a:pt x="627964" y="237288"/>
                  </a:lnTo>
                  <a:close/>
                </a:path>
              </a:pathLst>
            </a:custGeom>
            <a:solidFill>
              <a:srgbClr val="1D70B8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6" name="object 6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11164899" y="466804"/>
              <a:ext cx="115207" cy="115408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1195725" y="236043"/>
              <a:ext cx="79511" cy="79644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1293085" y="336806"/>
              <a:ext cx="95738" cy="95880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1150293" y="954381"/>
              <a:ext cx="193092" cy="203154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11054555" y="855264"/>
              <a:ext cx="386080" cy="388620"/>
            </a:xfrm>
            <a:custGeom>
              <a:avLst/>
              <a:gdLst/>
              <a:ahLst/>
              <a:cxnLst/>
              <a:rect l="l" t="t" r="r" b="b"/>
              <a:pathLst>
                <a:path w="386079" h="388619">
                  <a:moveTo>
                    <a:pt x="193097" y="0"/>
                  </a:moveTo>
                  <a:lnTo>
                    <a:pt x="148680" y="5173"/>
                  </a:lnTo>
                  <a:lnTo>
                    <a:pt x="107980" y="19896"/>
                  </a:lnTo>
                  <a:lnTo>
                    <a:pt x="72135" y="42977"/>
                  </a:lnTo>
                  <a:lnTo>
                    <a:pt x="42279" y="73222"/>
                  </a:lnTo>
                  <a:lnTo>
                    <a:pt x="19547" y="109438"/>
                  </a:lnTo>
                  <a:lnTo>
                    <a:pt x="5076" y="150431"/>
                  </a:lnTo>
                  <a:lnTo>
                    <a:pt x="0" y="195008"/>
                  </a:lnTo>
                  <a:lnTo>
                    <a:pt x="5076" y="238984"/>
                  </a:lnTo>
                  <a:lnTo>
                    <a:pt x="19547" y="279548"/>
                  </a:lnTo>
                  <a:lnTo>
                    <a:pt x="42279" y="315478"/>
                  </a:lnTo>
                  <a:lnTo>
                    <a:pt x="72135" y="345552"/>
                  </a:lnTo>
                  <a:lnTo>
                    <a:pt x="107980" y="368547"/>
                  </a:lnTo>
                  <a:lnTo>
                    <a:pt x="148680" y="383241"/>
                  </a:lnTo>
                  <a:lnTo>
                    <a:pt x="193097" y="388410"/>
                  </a:lnTo>
                  <a:lnTo>
                    <a:pt x="224080" y="385059"/>
                  </a:lnTo>
                  <a:lnTo>
                    <a:pt x="253541" y="377440"/>
                  </a:lnTo>
                  <a:lnTo>
                    <a:pt x="281175" y="365555"/>
                  </a:lnTo>
                  <a:lnTo>
                    <a:pt x="296414" y="355905"/>
                  </a:lnTo>
                  <a:lnTo>
                    <a:pt x="193097" y="355905"/>
                  </a:lnTo>
                  <a:lnTo>
                    <a:pt x="150090" y="350081"/>
                  </a:lnTo>
                  <a:lnTo>
                    <a:pt x="111365" y="333694"/>
                  </a:lnTo>
                  <a:lnTo>
                    <a:pt x="78498" y="308368"/>
                  </a:lnTo>
                  <a:lnTo>
                    <a:pt x="53069" y="275728"/>
                  </a:lnTo>
                  <a:lnTo>
                    <a:pt x="36654" y="237400"/>
                  </a:lnTo>
                  <a:lnTo>
                    <a:pt x="30832" y="195008"/>
                  </a:lnTo>
                  <a:lnTo>
                    <a:pt x="36654" y="151930"/>
                  </a:lnTo>
                  <a:lnTo>
                    <a:pt x="53069" y="113140"/>
                  </a:lnTo>
                  <a:lnTo>
                    <a:pt x="78498" y="80218"/>
                  </a:lnTo>
                  <a:lnTo>
                    <a:pt x="111365" y="54746"/>
                  </a:lnTo>
                  <a:lnTo>
                    <a:pt x="150090" y="38304"/>
                  </a:lnTo>
                  <a:lnTo>
                    <a:pt x="193097" y="32472"/>
                  </a:lnTo>
                  <a:lnTo>
                    <a:pt x="326658" y="32472"/>
                  </a:lnTo>
                  <a:lnTo>
                    <a:pt x="324531" y="30881"/>
                  </a:lnTo>
                  <a:lnTo>
                    <a:pt x="295325" y="30881"/>
                  </a:lnTo>
                  <a:lnTo>
                    <a:pt x="271365" y="17818"/>
                  </a:lnTo>
                  <a:lnTo>
                    <a:pt x="246035" y="8118"/>
                  </a:lnTo>
                  <a:lnTo>
                    <a:pt x="219794" y="2079"/>
                  </a:lnTo>
                  <a:lnTo>
                    <a:pt x="193097" y="0"/>
                  </a:lnTo>
                  <a:close/>
                </a:path>
                <a:path w="386079" h="388619">
                  <a:moveTo>
                    <a:pt x="376453" y="162503"/>
                  </a:moveTo>
                  <a:lnTo>
                    <a:pt x="363474" y="162503"/>
                  </a:lnTo>
                  <a:lnTo>
                    <a:pt x="353737" y="172256"/>
                  </a:lnTo>
                  <a:lnTo>
                    <a:pt x="353737" y="180379"/>
                  </a:lnTo>
                  <a:lnTo>
                    <a:pt x="354356" y="190562"/>
                  </a:lnTo>
                  <a:lnTo>
                    <a:pt x="354305" y="202930"/>
                  </a:lnTo>
                  <a:lnTo>
                    <a:pt x="340756" y="257985"/>
                  </a:lnTo>
                  <a:lnTo>
                    <a:pt x="318042" y="295771"/>
                  </a:lnTo>
                  <a:lnTo>
                    <a:pt x="270907" y="335338"/>
                  </a:lnTo>
                  <a:lnTo>
                    <a:pt x="220657" y="353518"/>
                  </a:lnTo>
                  <a:lnTo>
                    <a:pt x="193097" y="355905"/>
                  </a:lnTo>
                  <a:lnTo>
                    <a:pt x="296414" y="355905"/>
                  </a:lnTo>
                  <a:lnTo>
                    <a:pt x="334268" y="325023"/>
                  </a:lnTo>
                  <a:lnTo>
                    <a:pt x="367937" y="275658"/>
                  </a:lnTo>
                  <a:lnTo>
                    <a:pt x="384569" y="217761"/>
                  </a:lnTo>
                  <a:lnTo>
                    <a:pt x="385937" y="190562"/>
                  </a:lnTo>
                  <a:lnTo>
                    <a:pt x="384569" y="177127"/>
                  </a:lnTo>
                  <a:lnTo>
                    <a:pt x="384569" y="172256"/>
                  </a:lnTo>
                  <a:lnTo>
                    <a:pt x="382948" y="169003"/>
                  </a:lnTo>
                  <a:lnTo>
                    <a:pt x="376453" y="162503"/>
                  </a:lnTo>
                  <a:close/>
                </a:path>
                <a:path w="386079" h="388619">
                  <a:moveTo>
                    <a:pt x="326658" y="32472"/>
                  </a:moveTo>
                  <a:lnTo>
                    <a:pt x="193097" y="32472"/>
                  </a:lnTo>
                  <a:lnTo>
                    <a:pt x="214952" y="33998"/>
                  </a:lnTo>
                  <a:lnTo>
                    <a:pt x="236503" y="38573"/>
                  </a:lnTo>
                  <a:lnTo>
                    <a:pt x="257445" y="46196"/>
                  </a:lnTo>
                  <a:lnTo>
                    <a:pt x="277472" y="56864"/>
                  </a:lnTo>
                  <a:lnTo>
                    <a:pt x="277472" y="58488"/>
                  </a:lnTo>
                  <a:lnTo>
                    <a:pt x="279780" y="71108"/>
                  </a:lnTo>
                  <a:lnTo>
                    <a:pt x="286196" y="81444"/>
                  </a:lnTo>
                  <a:lnTo>
                    <a:pt x="295958" y="88428"/>
                  </a:lnTo>
                  <a:lnTo>
                    <a:pt x="308305" y="90993"/>
                  </a:lnTo>
                  <a:lnTo>
                    <a:pt x="320905" y="88428"/>
                  </a:lnTo>
                  <a:lnTo>
                    <a:pt x="331224" y="81444"/>
                  </a:lnTo>
                  <a:lnTo>
                    <a:pt x="338197" y="71108"/>
                  </a:lnTo>
                  <a:lnTo>
                    <a:pt x="340758" y="58488"/>
                  </a:lnTo>
                  <a:lnTo>
                    <a:pt x="340758" y="50359"/>
                  </a:lnTo>
                  <a:lnTo>
                    <a:pt x="337510" y="42235"/>
                  </a:lnTo>
                  <a:lnTo>
                    <a:pt x="331021" y="35735"/>
                  </a:lnTo>
                  <a:lnTo>
                    <a:pt x="326658" y="32472"/>
                  </a:lnTo>
                  <a:close/>
                </a:path>
                <a:path w="386079" h="388619">
                  <a:moveTo>
                    <a:pt x="316415" y="27590"/>
                  </a:moveTo>
                  <a:lnTo>
                    <a:pt x="298567" y="27590"/>
                  </a:lnTo>
                  <a:lnTo>
                    <a:pt x="295325" y="30881"/>
                  </a:lnTo>
                  <a:lnTo>
                    <a:pt x="324531" y="30881"/>
                  </a:lnTo>
                  <a:lnTo>
                    <a:pt x="316415" y="27590"/>
                  </a:lnTo>
                  <a:close/>
                </a:path>
              </a:pathLst>
            </a:custGeom>
            <a:solidFill>
              <a:srgbClr val="1D70B8"/>
            </a:solidFill>
          </p:spPr>
          <p:txBody>
            <a:bodyPr wrap="square" lIns="0" tIns="0" rIns="0" bIns="0" rtlCol="0"/>
            <a:lstStyle/>
            <a:p/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944851" y="2922319"/>
            <a:ext cx="48841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Спасибо за внимание!</a:t>
            </a:r>
            <a:endParaRPr lang="ru-RU" sz="3600" b="1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5301</Words>
  <Application>WPS Presentation</Application>
  <PresentationFormat>Широкоэкранный</PresentationFormat>
  <Paragraphs>187</Paragraphs>
  <Slides>17</Slides>
  <Notes>14</Notes>
  <HiddenSlides>0</HiddenSlides>
  <MMClips>0</MMClips>
  <ScaleCrop>false</ScaleCrop>
  <HeadingPairs>
    <vt:vector size="6" baseType="variant">
      <vt:variant>
        <vt:lpstr>已用的字体</vt:lpstr>
      </vt:variant>
      <vt:variant>
        <vt:i4>24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17</vt:i4>
      </vt:variant>
    </vt:vector>
  </HeadingPairs>
  <TitlesOfParts>
    <vt:vector size="43" baseType="lpstr">
      <vt:lpstr>Arial</vt:lpstr>
      <vt:lpstr>SimSun</vt:lpstr>
      <vt:lpstr>Wingdings</vt:lpstr>
      <vt:lpstr>Times New Roman</vt:lpstr>
      <vt:lpstr>Times New Roman</vt:lpstr>
      <vt:lpstr>Calibri</vt:lpstr>
      <vt:lpstr>Calibri Light</vt:lpstr>
      <vt:lpstr>Microsoft YaHei</vt:lpstr>
      <vt:lpstr>Arial Unicode MS</vt:lpstr>
      <vt:lpstr>Arial Narrow</vt:lpstr>
      <vt:lpstr>Bahnschrift Light</vt:lpstr>
      <vt:lpstr>Bahnschrift SemiBold SemiCondensed</vt:lpstr>
      <vt:lpstr>Showcard Gothic</vt:lpstr>
      <vt:lpstr>Segoe UI Symbol</vt:lpstr>
      <vt:lpstr>SimSun-ExtB</vt:lpstr>
      <vt:lpstr>Tw Cen MT Condensed</vt:lpstr>
      <vt:lpstr>Tw Cen MT</vt:lpstr>
      <vt:lpstr>Tempus Sans ITC</vt:lpstr>
      <vt:lpstr>Snap ITC</vt:lpstr>
      <vt:lpstr>Symbol</vt:lpstr>
      <vt:lpstr>Google Sans Text</vt:lpstr>
      <vt:lpstr>Segoe Print</vt:lpstr>
      <vt:lpstr>Merriweather</vt:lpstr>
      <vt:lpstr>DM Sans</vt:lpstr>
      <vt:lpstr>Тема Office</vt:lpstr>
      <vt:lpstr>1_Тема Office</vt:lpstr>
      <vt:lpstr>Филиал ФГБОУ ВО «Российский химико-технологический университет  имени Д. И. Менделеева» в г. Ташкенте (Республика Узбекистан) Кафедра технологии органических веществ </vt:lpstr>
      <vt:lpstr>PowerPoint 演示文稿</vt:lpstr>
      <vt:lpstr>Цели и задачи работы</vt:lpstr>
      <vt:lpstr>Ген CASP3</vt:lpstr>
      <vt:lpstr>Проектирование и термодинамический анализ праймеров</vt:lpstr>
      <vt:lpstr>Проектирование и термодинамический анализ праймеров </vt:lpstr>
      <vt:lpstr>PowerPoint 演示文稿</vt:lpstr>
      <vt:lpstr>PowerPoint 演示文稿</vt:lpstr>
      <vt:lpstr>PowerPoint 演示文稿</vt:lpstr>
      <vt:lpstr>Постсинтетическая обработка праймеров</vt:lpstr>
      <vt:lpstr>PowerPoint 演示文稿</vt:lpstr>
      <vt:lpstr>PowerPoint 演示文稿</vt:lpstr>
      <vt:lpstr>Контроль качества синтеза</vt:lpstr>
      <vt:lpstr>PowerPoint 演示文稿</vt:lpstr>
      <vt:lpstr>PowerPoint 演示文稿</vt:lpstr>
      <vt:lpstr>Результаты и выводы 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Пользователь Windows</dc:creator>
  <cp:lastModifiedBy>My_ASUS</cp:lastModifiedBy>
  <cp:revision>175</cp:revision>
  <dcterms:created xsi:type="dcterms:W3CDTF">2023-04-07T08:58:00Z</dcterms:created>
  <dcterms:modified xsi:type="dcterms:W3CDTF">2026-05-19T07:39:29Z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2022-06-29T20:00:00Z</vt:filetime>
  </property>
  <property fmtid="{D5CDD505-2E9C-101B-9397-08002B2CF9AE}" pid="3" name="Creator">
    <vt:lpwstr>Microsoft® PowerPoint® 2016</vt:lpwstr>
  </property>
  <property fmtid="{D5CDD505-2E9C-101B-9397-08002B2CF9AE}" pid="4" name="LastSaved">
    <vt:filetime>2023-04-07T20:00:00Z</vt:filetime>
  </property>
  <property fmtid="{D5CDD505-2E9C-101B-9397-08002B2CF9AE}" pid="5" name="ICV">
    <vt:lpwstr>AFCFEC5F4B51486DA8735485E1041B71_13</vt:lpwstr>
  </property>
  <property fmtid="{D5CDD505-2E9C-101B-9397-08002B2CF9AE}" pid="6" name="KSOProductBuildVer">
    <vt:lpwstr>1049-12.1.0.26372</vt:lpwstr>
  </property>
</Properties>
</file>